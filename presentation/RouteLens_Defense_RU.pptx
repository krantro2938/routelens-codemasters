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b858757a38a46cc" /><Relationship Type="http://schemas.openxmlformats.org/officeDocument/2006/relationships/extended-properties" Target="/docProps/app.xml" Id="Rf241ce3ea05c4efb" /><Relationship Type="http://schemas.openxmlformats.org/officeDocument/2006/relationships/officeDocument" Target="/ppt/presentation.xml" Id="R3fa0ed55064240d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c2c8e8ec1844d1"/>
  </p:sldMasterIdLst>
  <p:notesMasterIdLst>
    <p:notesMasterId xmlns:r="http://schemas.openxmlformats.org/officeDocument/2006/relationships" r:id="R4dc16d2d11c1441e"/>
  </p:notesMasterIdLst>
  <p:sldIdLst>
    <p:sldId xmlns:r="http://schemas.openxmlformats.org/officeDocument/2006/relationships" id="256" r:id="Rd8eca323ea594b05"/>
    <p:sldId xmlns:r="http://schemas.openxmlformats.org/officeDocument/2006/relationships" id="257" r:id="R7d8f1d2b630a481b"/>
    <p:sldId xmlns:r="http://schemas.openxmlformats.org/officeDocument/2006/relationships" id="258" r:id="R57cf83fe4ad54833"/>
    <p:sldId xmlns:r="http://schemas.openxmlformats.org/officeDocument/2006/relationships" id="259" r:id="R96c9f78c69f74158"/>
    <p:sldId xmlns:r="http://schemas.openxmlformats.org/officeDocument/2006/relationships" id="260" r:id="R970344a5f0624b6c"/>
    <p:sldId xmlns:r="http://schemas.openxmlformats.org/officeDocument/2006/relationships" id="261" r:id="R2cc11ffd80a2441b"/>
    <p:sldId xmlns:r="http://schemas.openxmlformats.org/officeDocument/2006/relationships" id="262" r:id="R4a03092a185e424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eae38dd6c7642d7" /><Relationship Type="http://schemas.openxmlformats.org/officeDocument/2006/relationships/slideMaster" Target="/ppt/slideMasters/slideMaster1.xml" Id="Rbac2c8e8ec1844d1" /><Relationship Type="http://schemas.openxmlformats.org/officeDocument/2006/relationships/notesMaster" Target="/ppt/notesMasters/notesMaster1.xml" Id="R4dc16d2d11c1441e" /><Relationship Type="http://schemas.openxmlformats.org/officeDocument/2006/relationships/presProps" Target="/ppt/presProps.xml" Id="R8ba7afe356d04b49" /><Relationship Type="http://schemas.openxmlformats.org/officeDocument/2006/relationships/tableStyles" Target="/ppt/tableStyles.xml" Id="R001425244cd14457" /><Relationship Type="http://schemas.openxmlformats.org/officeDocument/2006/relationships/slide" Target="/ppt/slides/slide1.xml" Id="Rd8eca323ea594b05" /><Relationship Type="http://schemas.openxmlformats.org/officeDocument/2006/relationships/slide" Target="/ppt/slides/slide2.xml" Id="R7d8f1d2b630a481b" /><Relationship Type="http://schemas.openxmlformats.org/officeDocument/2006/relationships/slide" Target="/ppt/slides/slide3.xml" Id="R57cf83fe4ad54833" /><Relationship Type="http://schemas.openxmlformats.org/officeDocument/2006/relationships/slide" Target="/ppt/slides/slide4.xml" Id="R96c9f78c69f74158" /><Relationship Type="http://schemas.openxmlformats.org/officeDocument/2006/relationships/slide" Target="/ppt/slides/slide5.xml" Id="R970344a5f0624b6c" /><Relationship Type="http://schemas.openxmlformats.org/officeDocument/2006/relationships/slide" Target="/ppt/slides/slide6.xml" Id="R2cc11ffd80a2441b" /><Relationship Type="http://schemas.openxmlformats.org/officeDocument/2006/relationships/slide" Target="/ppt/slides/slide7.xml" Id="R4a03092a185e424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d097155922c4a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9831fa2c8bf412d" /><Relationship Type="http://schemas.openxmlformats.org/officeDocument/2006/relationships/notesMaster" Target="/ppt/notesMasters/notesMaster1.xml" Id="R2f4cbc07bdf049a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09ad8f56ba24078" /><Relationship Type="http://schemas.openxmlformats.org/officeDocument/2006/relationships/notesMaster" Target="/ppt/notesMasters/notesMaster1.xml" Id="Rff152a84f96e448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a278b20d0da49b2" /><Relationship Type="http://schemas.openxmlformats.org/officeDocument/2006/relationships/notesMaster" Target="/ppt/notesMasters/notesMaster1.xml" Id="Rd0b23dcfdcb141a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70a2b229dba4897" /><Relationship Type="http://schemas.openxmlformats.org/officeDocument/2006/relationships/notesMaster" Target="/ppt/notesMasters/notesMaster1.xml" Id="R9091787b462a483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f2b0ce7438943b4" /><Relationship Type="http://schemas.openxmlformats.org/officeDocument/2006/relationships/notesMaster" Target="/ppt/notesMasters/notesMaster1.xml" Id="R6372e8218fbd4c0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475445fc0fc4a10" /><Relationship Type="http://schemas.openxmlformats.org/officeDocument/2006/relationships/notesMaster" Target="/ppt/notesMasters/notesMaster1.xml" Id="R0b1164879bd441a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033bcbc4b7243a6" /><Relationship Type="http://schemas.openxmlformats.org/officeDocument/2006/relationships/notesMaster" Target="/ppt/notesMasters/notesMaster1.xml" Id="Rec16a25442b448d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README.md</a:t>
            </a:r>
          </a:p>
          <a:p xmlns:a="http://schemas.openxmlformats.org/drawingml/2006/main">
            <a:r>
              <a:t>RouteLens выбирает лучший допустимый маршрут и сохраняет доказательство каждого решения.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lib/route_lens/eligibility/rules.rb, lib/route_lens/scoring/policy.rb, config/routing.yml</a:t>
            </a:r>
          </a:p>
          <a:p xmlns:a="http://schemas.openxmlformats.org/drawingml/2006/main">
            <a:r>
              <a:t>Положительный traffic_percentage является мягкой целью количества. Ноль отключает обычный внешний маршрут.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lib/route_lens/router.rb, lib/route_lens/provider_state.rb</a:t>
            </a:r>
          </a:p>
          <a:p xmlns:a="http://schemas.openxmlformats.org/drawingml/2006/main">
            <a:r>
              <a:t>После rejected или expired рейтинг не переиспользуется. Оставшиеся кандидаты проходят новый eligibility и новый scoring.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routing_decisions.json, операция op_109</a:t>
            </a:r>
          </a:p>
          <a:p xmlns:a="http://schemas.openxmlformats.org/drawingml/2006/main">
            <a:r>
              <a:t>Выбран Vipay: 3.4732. Альтернатива Quickpay: -2.746254.</a:t>
            </a:r>
          </a:p>
          <a:p xmlns:a="http://schemas.openxmlformats.org/drawingml/2006/main">
            <a:r>
              <a:t>Показаны суммы вкладов из score_breakdown. Итоговые scores берутся из артефакта решения.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demo/resilience_decisions.json, demo/resilience_report.json</a:t>
            </a:r>
          </a:p>
          <a:p xmlns:a="http://schemas.openxmlformats.org/drawingml/2006/main">
            <a:r>
              <a:t>op_101: Vipay expired  ·  Payflow approved. Итоговая задержка 102 c.</a:t>
            </a:r>
          </a:p>
          <a:p xmlns:a="http://schemas.openxmlformats.org/drawingml/2006/main">
            <a:r>
              <a:t>op_102: Quickpay expired  ·  Payflow rejected  ·  SpacePayments approved.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demo/policy_comparison.json</a:t>
            </a:r>
          </a:p>
          <a:p xmlns:a="http://schemas.openxmlformats.org/drawingml/2006/main">
            <a:r>
              <a:t>Ошибки являются суммой абсолютных отклонений по внешним провайдерам в процентных пунктах.</a:t>
            </a:r>
          </a:p>
          <a:p xmlns:a="http://schemas.openxmlformats.org/drawingml/2006/main">
            <a:r>
              <a:t>Replay рекомендации: Payflow 99.63% до 96.69%, count error 10 до 0, volume error 51.08 до 96.7.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README.md, scripts/validate_10.rb, полный набор test/**/*_test.rb</a:t>
            </a:r>
          </a:p>
          <a:p xmlns:a="http://schemas.openxmlformats.org/drawingml/2006/main">
            <a:r>
              <a:t>Финал: решение воспроизводимо, объяснимо и имеет отдельный релизный путь для скрытой очереди.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48fd9559aa4be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b34b7bbb6e64f50" /><Relationship Type="http://schemas.openxmlformats.org/officeDocument/2006/relationships/slideLayout" Target="/ppt/slideLayouts/slideLayout1.xml" Id="Rda105c8160074be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a105c8160074be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0862a8e4dd48ff" /><Relationship Type="http://schemas.openxmlformats.org/officeDocument/2006/relationships/notesSlide" Target="/ppt/notesSlides/notesSlide1.xml" Id="R7c11a9f7fdec41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6914bd53284153" /><Relationship Type="http://schemas.openxmlformats.org/officeDocument/2006/relationships/notesSlide" Target="/ppt/notesSlides/notesSlide2.xml" Id="R6155cf2521254c2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374dadb66949ea" /><Relationship Type="http://schemas.openxmlformats.org/officeDocument/2006/relationships/notesSlide" Target="/ppt/notesSlides/notesSlide3.xml" Id="R71d4d0c99f9948d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9193cf8e9a4170" /><Relationship Type="http://schemas.openxmlformats.org/officeDocument/2006/relationships/notesSlide" Target="/ppt/notesSlides/notesSlide4.xml" Id="R9ad2de79fc774af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ea492718fc4d5a" /><Relationship Type="http://schemas.openxmlformats.org/officeDocument/2006/relationships/notesSlide" Target="/ppt/notesSlides/notesSlide5.xml" Id="R6cbcc5c5050a4ff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351ef0a70544f3" /><Relationship Type="http://schemas.openxmlformats.org/officeDocument/2006/relationships/chart" Target="/ppt/slides/charts/chart1.xml" Id="R775b5daf2ed7407b" /><Relationship Type="http://schemas.openxmlformats.org/officeDocument/2006/relationships/notesSlide" Target="/ppt/notesSlides/notesSlide6.xml" Id="R7c1de5c84bf44df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d3517023ae4044" /><Relationship Type="http://schemas.openxmlformats.org/officeDocument/2006/relationships/notesSlide" Target="/ppt/notesSlides/notesSlide7.xml" Id="Re3034580bef94da3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Ошибка количества</c:v>
          </c:tx>
          <c:spPr>
            <a:solidFill xmlns:a="http://schemas.openxmlformats.org/drawingml/2006/main">
              <a:srgbClr val="16866D"/>
            </a:solidFill>
          </c:spPr>
          <c:cat>
            <c:strRef>
              <c:f>'Chart Data'!$A$2:$A$5</c:f>
              <c:strCache>
                <c:ptCount val="4"/>
                <c:pt idx="0">
                  <c:v>Balanced</c:v>
                </c:pt>
                <c:pt idx="1">
                  <c:v>Conversion</c:v>
                </c:pt>
                <c:pt idx="2">
                  <c:v>Cascade</c:v>
                </c:pt>
                <c:pt idx="3">
                  <c:v>Capacity</c:v>
                </c:pt>
              </c:strCache>
            </c:strRef>
          </c:cat>
          <c:val>
            <c:numRef>
              <c:f>'Chart Data'!$B$2:$B$5</c:f>
              <c:numCache>
                <c:formatCode>0.0</c:formatCode>
                <c:ptCount val="4"/>
                <c:pt idx="0">
                  <c:v>10</c:v>
                </c:pt>
                <c:pt idx="1">
                  <c:v>30</c:v>
                </c:pt>
                <c:pt idx="2">
                  <c:v>10</c:v>
                </c:pt>
                <c:pt idx="3">
                  <c:v>130</c:v>
                </c:pt>
              </c:numCache>
            </c:numRef>
          </c:val>
        </c:ser>
        <c:ser>
          <c:idx val="1"/>
          <c:order val="1"/>
          <c:tx>
            <c:v>Ошибка объёма</c:v>
          </c:tx>
          <c:spPr>
            <a:solidFill xmlns:a="http://schemas.openxmlformats.org/drawingml/2006/main">
              <a:srgbClr val="C87912"/>
            </a:solidFill>
          </c:spPr>
          <c:cat>
            <c:strRef>
              <c:f>'Chart Data'!$C$2:$C$5</c:f>
              <c:strCache>
                <c:ptCount val="4"/>
                <c:pt idx="0">
                  <c:v>Balanced</c:v>
                </c:pt>
                <c:pt idx="1">
                  <c:v>Conversion</c:v>
                </c:pt>
                <c:pt idx="2">
                  <c:v>Cascade</c:v>
                </c:pt>
                <c:pt idx="3">
                  <c:v>Capacity</c:v>
                </c:pt>
              </c:strCache>
            </c:strRef>
          </c:cat>
          <c:val>
            <c:numRef>
              <c:f>'Chart Data'!$D$2:$D$5</c:f>
              <c:numCache>
                <c:formatCode>0.0</c:formatCode>
                <c:ptCount val="4"/>
                <c:pt idx="0">
                  <c:v>51.08</c:v>
                </c:pt>
                <c:pt idx="1">
                  <c:v>71.82</c:v>
                </c:pt>
                <c:pt idx="2">
                  <c:v>51.08</c:v>
                </c:pt>
                <c:pt idx="3">
                  <c:v>149.58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4251F"/>
                  </a:solidFill>
                  <a:latin typeface="Noto Sans"/>
                  <a:ea typeface="Noto Sans"/>
                  <a:cs typeface="Noto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4C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4251F"/>
                </a:solidFill>
                <a:latin typeface="Noto Sans"/>
                <a:ea typeface="Noto Sans"/>
                <a:cs typeface="Noto Sans"/>
              </a:defRPr>
            </a:pPr>
          </a:p>
        </c:txPr>
        <c:crossAx val="48672768"/>
      </c:catAx>
      <c:valAx>
        <c:axId val="48672768"/>
        <c:scaling>
          <c:orientation val="minMax"/>
          <c:max val="16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0E5E2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CBD4C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8766F"/>
                </a:solidFill>
                <a:latin typeface="Noto Sans"/>
                <a:ea typeface="Noto Sans"/>
                <a:cs typeface="Noto Sans"/>
              </a:defRPr>
            </a:pPr>
          </a:p>
        </c:txPr>
        <c:crossAx val="48650112"/>
        <c:crossBetween val="between"/>
        <c:majorUnit val="40"/>
      </c:valAx>
      <c:spPr>
        <a:solidFill xmlns:a="http://schemas.openxmlformats.org/drawingml/2006/main">
          <a:srgbClr val="F7F6F1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68766F"/>
              </a:solidFill>
              <a:latin typeface="Noto Sans"/>
              <a:ea typeface="Noto Sans"/>
              <a:cs typeface="Noto Sans"/>
            </a:defRPr>
          </a:pPr>
        </a:p>
      </c:txPr>
    </c:legend>
    <c:plotVisOnly val="1"/>
  </c:chart>
  <c:spPr>
    <a:solidFill xmlns:a="http://schemas.openxmlformats.org/drawingml/2006/main">
      <a:srgbClr val="F7F6F1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2E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788C93-345C-4619-8B33-438F769AA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9F1E4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C9F1E4"/>
                </a:solidFill>
                <a:latin typeface="Noto Sans"/>
                <a:ea typeface="Noto Sans"/>
                <a:cs typeface="Noto Sans"/>
              </a:rPr>
              <a:t>CODEMASTERS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F97067-5462-4A61-9752-BEB286C3B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657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51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RouteLens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A4075D-BF5F-4A88-91F6-E9A1A9FAF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38375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C9F1E4"/>
                </a:solidFill>
                <a:latin typeface="Noto Sans"/>
                <a:ea typeface="Noto Sans"/>
                <a:cs typeface="Noto Sans"/>
              </a:defRPr>
            </a:pPr>
            <a:r>
              <a:rPr sz="2325" b="0">
                <a:solidFill>
                  <a:srgbClr val="C9F1E4"/>
                </a:solidFill>
                <a:latin typeface="Noto Sans"/>
                <a:ea typeface="Noto Sans"/>
                <a:cs typeface="Noto Sans"/>
              </a:rPr>
              <a:t>Объяснимый роутинг выплат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75E0DA-AF72-40AF-8AC4-8E129FA25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2800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Сначала допустимость. Затем оптимизация.</a:t>
            </a:r>
          </a:p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После сбоя решение строится заново.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519051-8EE3-42C3-890E-E740168DF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76400"/>
            <a:ext cx="0" cy="2762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F1E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7616EB-0364-44A5-B8FD-ADF684A5D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638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1E4"/>
          </a:solidFill>
          <a:ln xmlns:a="http://schemas.openxmlformats.org/drawingml/2006/main" w="0">
            <a:solidFill>
              <a:srgbClr val="082E2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C75FB0-A3F4-4669-9A1E-C6CC857DC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4382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9F1E4"/>
                </a:solidFill>
                <a:latin typeface="Noto Sans"/>
                <a:ea typeface="Noto Sans"/>
                <a:cs typeface="Noto Sans"/>
              </a:defRPr>
            </a:pPr>
            <a:r>
              <a:rPr sz="1125" b="1">
                <a:solidFill>
                  <a:srgbClr val="C9F1E4"/>
                </a:solidFill>
                <a:latin typeface="Noto Sans"/>
                <a:ea typeface="Noto Sans"/>
                <a:cs typeface="Noto San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B47C36-CCC7-474C-AE8F-72E50A7A6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7335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HARD GATE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D06B7E-2FF1-4FD2-8127-5DCC73F6B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85975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CEC2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A8CEC2"/>
                </a:solidFill>
                <a:latin typeface="Noto Sans"/>
                <a:ea typeface="Noto Sans"/>
                <a:cs typeface="Noto Sans"/>
              </a:rPr>
              <a:t>допустимость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533840-B96C-43D3-8A3B-C47858054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0194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6D"/>
          </a:solidFill>
          <a:ln xmlns:a="http://schemas.openxmlformats.org/drawingml/2006/main" w="0">
            <a:solidFill>
              <a:srgbClr val="082E2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BA230F-C917-4B5B-8327-370590285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194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9F1E4"/>
                </a:solidFill>
                <a:latin typeface="Noto Sans"/>
                <a:ea typeface="Noto Sans"/>
                <a:cs typeface="Noto Sans"/>
              </a:defRPr>
            </a:pPr>
            <a:r>
              <a:rPr sz="1125" b="1">
                <a:solidFill>
                  <a:srgbClr val="C9F1E4"/>
                </a:solidFill>
                <a:latin typeface="Noto Sans"/>
                <a:ea typeface="Noto Sans"/>
                <a:cs typeface="Noto San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520E23-8351-4BD9-92A6-C504E25D6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1467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POLICY SCORE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6BCA4A-F3BB-48C6-9863-FF23BEC7C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67100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CEC2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A8CEC2"/>
                </a:solidFill>
                <a:latin typeface="Noto Sans"/>
                <a:ea typeface="Noto Sans"/>
                <a:cs typeface="Noto Sans"/>
              </a:rPr>
              <a:t>лучший кандидат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1E412D-CC3B-4F5D-93D8-86C1E513C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4005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1E4"/>
          </a:solidFill>
          <a:ln xmlns:a="http://schemas.openxmlformats.org/drawingml/2006/main" w="0">
            <a:solidFill>
              <a:srgbClr val="082E2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20E9AA-4674-404E-85BF-5D9E4A275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20052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9F1E4"/>
                </a:solidFill>
                <a:latin typeface="Noto Sans"/>
                <a:ea typeface="Noto Sans"/>
                <a:cs typeface="Noto Sans"/>
              </a:defRPr>
            </a:pPr>
            <a:r>
              <a:rPr sz="1125" b="1">
                <a:solidFill>
                  <a:srgbClr val="C9F1E4"/>
                </a:solidFill>
                <a:latin typeface="Noto Sans"/>
                <a:ea typeface="Noto Sans"/>
                <a:cs typeface="Noto San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F8B87B-33B5-47C0-B070-C2CBD384F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4958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DECISION RECEIPT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86E767-B714-448D-9BD5-F03DF1D9B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848225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CEC2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A8CEC2"/>
                </a:solidFill>
                <a:latin typeface="Noto Sans"/>
                <a:ea typeface="Noto Sans"/>
                <a:cs typeface="Noto Sans"/>
              </a:rPr>
              <a:t>доказательство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3C3DE2-05D4-4AF5-B184-E5CEDE528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B5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080630-A1AB-46E6-9659-DB9A8D4EE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769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CEC2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A8CEC2"/>
                </a:solidFill>
                <a:latin typeface="Noto Sans"/>
                <a:ea typeface="Noto Sans"/>
                <a:cs typeface="Noto Sans"/>
              </a:rPr>
              <a:t>Ruby · офлайн · детерминированно · воспроизводимо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2682D0-CC46-4994-9DFA-9268F57DB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6076950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C9F1E4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C9F1E4"/>
                </a:solidFill>
                <a:latin typeface="Noto Sans"/>
                <a:ea typeface="Noto Sans"/>
                <a:cs typeface="Noto Sans"/>
              </a:rPr>
              <a:t>Защита решения</a:t>
            </a:r>
          </a:p>
        </p:txBody>
      </p:sp>
    </p:spTree>
    <p:extLst>
      <p:ext uri="{BB962C8B-B14F-4D97-AF65-F5344CB8AC3E}">
        <p14:creationId xmlns:p14="http://schemas.microsoft.com/office/powerpoint/2010/main" val="15844981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BD23A0-5E68-4DB0-B937-A7B258C12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66D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16866D"/>
                </a:solidFill>
                <a:latin typeface="Noto Sans"/>
                <a:ea typeface="Noto Sans"/>
                <a:cs typeface="Noto Sans"/>
              </a:rPr>
              <a:t>CODEMASTERS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628B62-5B45-4DA1-9DFB-B494E1021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4765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866D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16866D"/>
                </a:solidFill>
                <a:latin typeface="Noto Sans"/>
                <a:ea typeface="Noto Sans"/>
                <a:cs typeface="Noto Sans"/>
              </a:rPr>
              <a:t>/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85446C-05DC-4754-84F9-A82215CD4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476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66D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16866D"/>
                </a:solidFill>
                <a:latin typeface="Noto Sans"/>
                <a:ea typeface="Noto Sans"/>
                <a:cs typeface="Noto Sans"/>
              </a:rPr>
              <a:t>ЛОГИКА ВЫБОРА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242BAF-9FFA-4699-BB9D-DB4692DA8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8766F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68766F"/>
                </a:solidFill>
                <a:latin typeface="Noto Sans"/>
                <a:ea typeface="Noto Sans"/>
                <a:cs typeface="Noto San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671090-38D9-4F61-BD51-1284A0F03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14251F"/>
                </a:solidFill>
                <a:latin typeface="Noto Sans"/>
                <a:ea typeface="Noto Sans"/>
                <a:cs typeface="Noto Sans"/>
              </a:defRPr>
            </a:pPr>
            <a:r>
              <a:rPr sz="3225" b="0">
                <a:solidFill>
                  <a:srgbClr val="14251F"/>
                </a:solidFill>
                <a:latin typeface="Noto Sans"/>
                <a:ea typeface="Noto Sans"/>
                <a:cs typeface="Noto Sans"/>
              </a:rPr>
              <a:t>Два уровня решения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7906D3-974A-492E-91CE-5466C20E0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7635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766F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68766F"/>
                </a:solidFill>
                <a:latin typeface="Noto Sans"/>
                <a:ea typeface="Noto Sans"/>
                <a:cs typeface="Noto Sans"/>
              </a:rPr>
              <a:t>Мягкая цель никогда не отменяет ограничение безопасности.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D621EA-0213-4DC1-A1A6-C58221B54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4C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8A6670-9D0C-4A3A-9D47-71D8839B0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819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0">
                <a:solidFill>
                  <a:srgbClr val="B84943"/>
                </a:solidFill>
                <a:latin typeface="Noto Sans"/>
                <a:ea typeface="Noto Sans"/>
                <a:cs typeface="Noto Sans"/>
              </a:defRPr>
            </a:pPr>
            <a:r>
              <a:rPr sz="3375" b="0">
                <a:solidFill>
                  <a:srgbClr val="B84943"/>
                </a:solidFill>
                <a:latin typeface="Noto Sans"/>
                <a:ea typeface="Noto Sans"/>
                <a:cs typeface="Noto San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9EE0BD-77B6-4ECC-AA21-63499ADD9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84943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B84943"/>
                </a:solidFill>
                <a:latin typeface="Noto Sans"/>
                <a:ea typeface="Noto Sans"/>
                <a:cs typeface="Noto Sans"/>
              </a:rPr>
              <a:t>HARD GATE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115893-B3E4-4278-A23C-B428C0D00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4251F"/>
                </a:solidFill>
                <a:latin typeface="Noto Sans"/>
                <a:ea typeface="Noto Sans"/>
                <a:cs typeface="Noto Sans"/>
              </a:defRPr>
            </a:pPr>
            <a:r>
              <a:rPr sz="2175" b="1">
                <a:solidFill>
                  <a:srgbClr val="14251F"/>
                </a:solidFill>
                <a:latin typeface="Noto Sans"/>
                <a:ea typeface="Noto Sans"/>
                <a:cs typeface="Noto Sans"/>
              </a:rPr>
              <a:t>Можно ли направить выплату?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E7DC77-4B93-433F-ADD7-A66030B2E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4191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766F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68766F"/>
                </a:solidFill>
                <a:latin typeface="Noto Sans"/>
                <a:ea typeface="Noto Sans"/>
                <a:cs typeface="Noto Sans"/>
              </a:rPr>
              <a:t>Статус и роль провайдера</a:t>
            </a:r>
          </a:p>
          <a:p xmlns:a="http://schemas.openxmlformats.org/drawingml/2006/main">
            <a:pPr algn="l">
              <a:defRPr sz="1650" b="0">
                <a:solidFill>
                  <a:srgbClr val="68766F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68766F"/>
                </a:solidFill>
                <a:latin typeface="Noto Sans"/>
                <a:ea typeface="Noto Sans"/>
                <a:cs typeface="Noto Sans"/>
              </a:rPr>
              <a:t>Сумма и дневной лимит</a:t>
            </a:r>
          </a:p>
          <a:p xmlns:a="http://schemas.openxmlformats.org/drawingml/2006/main">
            <a:pPr algn="l">
              <a:defRPr sz="1650" b="0">
                <a:solidFill>
                  <a:srgbClr val="68766F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68766F"/>
                </a:solidFill>
                <a:latin typeface="Noto Sans"/>
                <a:ea typeface="Noto Sans"/>
                <a:cs typeface="Noto Sans"/>
              </a:rPr>
              <a:t>In-progress и RPM</a:t>
            </a:r>
          </a:p>
          <a:p xmlns:a="http://schemas.openxmlformats.org/drawingml/2006/main">
            <a:pPr algn="l">
              <a:defRPr sz="1650" b="0">
                <a:solidFill>
                  <a:srgbClr val="68766F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68766F"/>
                </a:solidFill>
                <a:latin typeface="Noto Sans"/>
                <a:ea typeface="Noto Sans"/>
                <a:cs typeface="Noto Sans"/>
              </a:rPr>
              <a:t>Банк, маржа, реквизиты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61F8E1-712E-4922-8398-0C4B4E991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428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494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32B58C-EA5A-4ECF-88B7-8EA20CA85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4333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84943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B84943"/>
                </a:solidFill>
                <a:latin typeface="Noto Sans"/>
                <a:ea typeface="Noto Sans"/>
                <a:cs typeface="Noto Sans"/>
              </a:rPr>
              <a:t>Нарушение любого правила исключает кандидата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9A370D-4136-4D2A-B8FB-E688DF623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43125"/>
            <a:ext cx="0" cy="390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4C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7FA5B3-4989-431F-8B31-B9B378F4D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152650"/>
            <a:ext cx="819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0">
                <a:solidFill>
                  <a:srgbClr val="16866D"/>
                </a:solidFill>
                <a:latin typeface="Noto Sans"/>
                <a:ea typeface="Noto Sans"/>
                <a:cs typeface="Noto Sans"/>
              </a:defRPr>
            </a:pPr>
            <a:r>
              <a:rPr sz="3375" b="0">
                <a:solidFill>
                  <a:srgbClr val="16866D"/>
                </a:solidFill>
                <a:latin typeface="Noto Sans"/>
                <a:ea typeface="Noto Sans"/>
                <a:cs typeface="Noto San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F3863E-385F-44C2-AA73-D5C7CADCB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7813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66D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16866D"/>
                </a:solidFill>
                <a:latin typeface="Noto Sans"/>
                <a:ea typeface="Noto Sans"/>
                <a:cs typeface="Noto Sans"/>
              </a:rPr>
              <a:t>SOFT POLICY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42FE82-6373-4FC5-B21B-5061DBA43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171825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4251F"/>
                </a:solidFill>
                <a:latin typeface="Noto Sans"/>
                <a:ea typeface="Noto Sans"/>
                <a:cs typeface="Noto Sans"/>
              </a:defRPr>
            </a:pPr>
            <a:r>
              <a:rPr sz="2175" b="1">
                <a:solidFill>
                  <a:srgbClr val="14251F"/>
                </a:solidFill>
                <a:latin typeface="Noto Sans"/>
                <a:ea typeface="Noto Sans"/>
                <a:cs typeface="Noto Sans"/>
              </a:rPr>
              <a:t>Кто лучше среди допустимых?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04664E-AB29-4191-A40C-9F91C14AB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781425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866D"/>
                </a:solidFill>
                <a:latin typeface="Noto Sans"/>
                <a:ea typeface="Noto Sans"/>
                <a:cs typeface="Noto Sans"/>
              </a:defRPr>
            </a:pPr>
            <a:r>
              <a:rPr sz="2325" b="1">
                <a:solidFill>
                  <a:srgbClr val="16866D"/>
                </a:solidFill>
                <a:latin typeface="Noto Sans"/>
                <a:ea typeface="Noto Sans"/>
                <a:cs typeface="Noto Sans"/>
              </a:rPr>
              <a:t>Σ raw × weight × direction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0CBC0F-102F-4F4D-9DB4-D5303CBF3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438650"/>
            <a:ext cx="457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766F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68766F"/>
                </a:solidFill>
                <a:latin typeface="Noto Sans"/>
                <a:ea typeface="Noto Sans"/>
                <a:cs typeface="Noto Sans"/>
              </a:rPr>
              <a:t>Доли количества и объёма</a:t>
            </a:r>
          </a:p>
          <a:p xmlns:a="http://schemas.openxmlformats.org/drawingml/2006/main">
            <a:pPr algn="l">
              <a:defRPr sz="1650" b="0">
                <a:solidFill>
                  <a:srgbClr val="68766F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68766F"/>
                </a:solidFill>
                <a:latin typeface="Noto Sans"/>
                <a:ea typeface="Noto Sans"/>
                <a:cs typeface="Noto Sans"/>
              </a:rPr>
              <a:t>Конверсия, priority, сумма</a:t>
            </a:r>
          </a:p>
          <a:p xmlns:a="http://schemas.openxmlformats.org/drawingml/2006/main">
            <a:pPr algn="l">
              <a:defRPr sz="1650" b="0">
                <a:solidFill>
                  <a:srgbClr val="68766F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68766F"/>
                </a:solidFill>
                <a:latin typeface="Noto Sans"/>
                <a:ea typeface="Noto Sans"/>
                <a:cs typeface="Noto Sans"/>
              </a:rPr>
              <a:t>Capacity, оборот, нагрузка</a:t>
            </a:r>
          </a:p>
          <a:p xmlns:a="http://schemas.openxmlformats.org/drawingml/2006/main">
            <a:pPr algn="l">
              <a:defRPr sz="1650" b="0">
                <a:solidFill>
                  <a:srgbClr val="68766F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68766F"/>
                </a:solidFill>
                <a:latin typeface="Noto Sans"/>
                <a:ea typeface="Noto Sans"/>
                <a:cs typeface="Noto Sans"/>
              </a:rPr>
              <a:t>Latency и cost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8ADFE9-E6D2-42F8-9A91-1F2F0CB5A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905500"/>
            <a:ext cx="466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866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205BDD-C9BB-4327-9EA7-F681792D2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991225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866D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16866D"/>
                </a:solidFill>
                <a:latin typeface="Noto Sans"/>
                <a:ea typeface="Noto Sans"/>
                <a:cs typeface="Noto Sans"/>
              </a:rPr>
              <a:t>Нет одной главной мягкой метрики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75F99A-9BC3-4AD6-B4E2-4264587D2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4C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1367E7-C742-4A85-B927-25A8C9469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66F"/>
                </a:solidFill>
                <a:latin typeface="Noto Sans"/>
                <a:ea typeface="Noto Sans"/>
                <a:cs typeface="Noto Sans"/>
              </a:defRPr>
            </a:pPr>
            <a:r>
              <a:rPr sz="900" b="0">
                <a:solidFill>
                  <a:srgbClr val="68766F"/>
                </a:solidFill>
                <a:latin typeface="Noto Sans"/>
                <a:ea typeface="Noto Sans"/>
                <a:cs typeface="Noto Sans"/>
              </a:rPr>
              <a:t>RouteLens · объяснимый роутинг выплат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508A51-9C12-4DF4-AD43-09535003B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38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6866D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16866D"/>
                </a:solidFill>
                <a:latin typeface="Noto Sans"/>
                <a:ea typeface="Noto Sans"/>
                <a:cs typeface="Noto Sans"/>
              </a:rPr>
              <a:t>CODEMASTERS</a:t>
            </a:r>
          </a:p>
        </p:txBody>
      </p:sp>
    </p:spTree>
    <p:extLst>
      <p:ext uri="{BB962C8B-B14F-4D97-AF65-F5344CB8AC3E}">
        <p14:creationId xmlns:p14="http://schemas.microsoft.com/office/powerpoint/2010/main" val="14228684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7DF7DE8-1314-444B-AD3B-A181A2303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66D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16866D"/>
                </a:solidFill>
                <a:latin typeface="Noto Sans"/>
                <a:ea typeface="Noto Sans"/>
                <a:cs typeface="Noto Sans"/>
              </a:rPr>
              <a:t>ИСПОЛНЕНИЕ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ECAEC5-B9CB-4827-BF73-D401BFF9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8766F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68766F"/>
                </a:solidFill>
                <a:latin typeface="Noto Sans"/>
                <a:ea typeface="Noto Sans"/>
                <a:cs typeface="Noto Sans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6731BC-212A-4AA3-BBF4-950D47963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14251F"/>
                </a:solidFill>
                <a:latin typeface="Noto Sans"/>
                <a:ea typeface="Noto Sans"/>
                <a:cs typeface="Noto Sans"/>
              </a:defRPr>
            </a:pPr>
            <a:r>
              <a:rPr sz="3225" b="0">
                <a:solidFill>
                  <a:srgbClr val="14251F"/>
                </a:solidFill>
                <a:latin typeface="Noto Sans"/>
                <a:ea typeface="Noto Sans"/>
                <a:cs typeface="Noto Sans"/>
              </a:rPr>
              <a:t>Жизненный цикл выплаты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4C64A9-F83E-4872-8B53-CD8897454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7635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766F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68766F"/>
                </a:solidFill>
                <a:latin typeface="Noto Sans"/>
                <a:ea typeface="Noto Sans"/>
                <a:cs typeface="Noto Sans"/>
              </a:rPr>
              <a:t>Каждая попытка проверяет актуальное состояние и оставляет проверяемую квитанцию.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197EC1-1FD4-4EBD-B12E-4A5C7B2F9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4C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E7C803-448F-428F-9F0A-C8AC31748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1455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8766F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68766F"/>
                </a:solidFill>
                <a:latin typeface="Noto Sans"/>
                <a:ea typeface="Noto Sans"/>
                <a:cs typeface="Noto San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CA1E24-3DEB-4817-90B9-EA0FA8018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0"/>
            <a:ext cx="1562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251F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14251F"/>
                </a:solidFill>
                <a:latin typeface="Noto Sans"/>
                <a:ea typeface="Noto Sans"/>
                <a:cs typeface="Noto Sans"/>
              </a:rPr>
              <a:t>Проверить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BF2FB6-FE01-47CD-965D-A7877635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695575"/>
            <a:ext cx="1790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8766F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68766F"/>
                </a:solidFill>
                <a:latin typeface="Noto Sans"/>
                <a:ea typeface="Noto Sans"/>
                <a:cs typeface="Noto Sans"/>
              </a:rPr>
              <a:t>11 hard rules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36E9B5-9392-4BE4-B380-1327F6F86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33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6F1"/>
          </a:solidFill>
          <a:ln xmlns:a="http://schemas.openxmlformats.org/drawingml/2006/main" w="19050">
            <a:solidFill>
              <a:srgbClr val="14251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85D807-B971-499C-938D-E24EE8439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11455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8766F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68766F"/>
                </a:solidFill>
                <a:latin typeface="Noto Sans"/>
                <a:ea typeface="Noto Sans"/>
                <a:cs typeface="Noto San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D65371-5214-4E89-BDA7-150940467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81250"/>
            <a:ext cx="1562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251F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14251F"/>
                </a:solidFill>
                <a:latin typeface="Noto Sans"/>
                <a:ea typeface="Noto Sans"/>
                <a:cs typeface="Noto Sans"/>
              </a:rPr>
              <a:t>Оценить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B060FE-FD8D-4EDD-AC42-DBFBD2539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695575"/>
            <a:ext cx="1790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8766F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68766F"/>
                </a:solidFill>
                <a:latin typeface="Noto Sans"/>
                <a:ea typeface="Noto Sans"/>
                <a:cs typeface="Noto Sans"/>
              </a:rPr>
              <a:t>10 факторов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5C754B-6E72-4567-8EE3-C470B442F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333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6F1"/>
          </a:solidFill>
          <a:ln xmlns:a="http://schemas.openxmlformats.org/drawingml/2006/main" w="19050">
            <a:solidFill>
              <a:srgbClr val="14251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16C240-5A50-4446-8D67-63B559BF0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11455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866D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16866D"/>
                </a:solidFill>
                <a:latin typeface="Noto Sans"/>
                <a:ea typeface="Noto Sans"/>
                <a:cs typeface="Noto San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C5ADDB-9ED2-4261-B730-655E32F71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381250"/>
            <a:ext cx="1562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251F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14251F"/>
                </a:solidFill>
                <a:latin typeface="Noto Sans"/>
                <a:ea typeface="Noto Sans"/>
                <a:cs typeface="Noto Sans"/>
              </a:rPr>
              <a:t>Резерв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072D32-244E-4F3A-9E80-30793E69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695575"/>
            <a:ext cx="1790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8766F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68766F"/>
                </a:solidFill>
                <a:latin typeface="Noto Sans"/>
                <a:ea typeface="Noto Sans"/>
                <a:cs typeface="Noto Sans"/>
              </a:rPr>
              <a:t>slot · amount</a:t>
            </a:r>
          </a:p>
          <a:p xmlns:a="http://schemas.openxmlformats.org/drawingml/2006/main">
            <a:pPr algn="ctr">
              <a:defRPr sz="1125" b="0">
                <a:solidFill>
                  <a:srgbClr val="68766F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68766F"/>
                </a:solidFill>
                <a:latin typeface="Noto Sans"/>
                <a:ea typeface="Noto Sans"/>
                <a:cs typeface="Noto Sans"/>
              </a:rPr>
              <a:t>requisite · RPM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B69FA9-5CBC-4F55-B8B8-6C54BD760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3333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6D"/>
          </a:solidFill>
          <a:ln xmlns:a="http://schemas.openxmlformats.org/drawingml/2006/main" w="19050">
            <a:solidFill>
              <a:srgbClr val="16866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E8A89A-163D-44AE-AF3B-A167D7664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1455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8766F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68766F"/>
                </a:solidFill>
                <a:latin typeface="Noto Sans"/>
                <a:ea typeface="Noto Sans"/>
                <a:cs typeface="Noto San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E372FB-9F23-48ED-8767-E8F2402E2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1562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251F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14251F"/>
                </a:solidFill>
                <a:latin typeface="Noto Sans"/>
                <a:ea typeface="Noto Sans"/>
                <a:cs typeface="Noto Sans"/>
              </a:rPr>
              <a:t>Вызвать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3DD9E4-8D51-467A-9617-645670637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695575"/>
            <a:ext cx="1790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8766F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68766F"/>
                </a:solidFill>
                <a:latin typeface="Noto Sans"/>
                <a:ea typeface="Noto Sans"/>
                <a:cs typeface="Noto Sans"/>
              </a:rPr>
              <a:t>approved</a:t>
            </a:r>
          </a:p>
          <a:p xmlns:a="http://schemas.openxmlformats.org/drawingml/2006/main">
            <a:pPr algn="ctr">
              <a:defRPr sz="1125" b="0">
                <a:solidFill>
                  <a:srgbClr val="68766F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68766F"/>
                </a:solidFill>
                <a:latin typeface="Noto Sans"/>
                <a:ea typeface="Noto Sans"/>
                <a:cs typeface="Noto Sans"/>
              </a:rPr>
              <a:t>rejected · expired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6BF5EF-A991-40E6-8473-085DEE9A1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3333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6F1"/>
          </a:solidFill>
          <a:ln xmlns:a="http://schemas.openxmlformats.org/drawingml/2006/main" w="19050">
            <a:solidFill>
              <a:srgbClr val="14251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745148-E6BC-4D63-8DC2-602470635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11455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8766F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68766F"/>
                </a:solidFill>
                <a:latin typeface="Noto Sans"/>
                <a:ea typeface="Noto Sans"/>
                <a:cs typeface="Noto Sans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71A76E-FDF8-4454-9156-AAB872606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381250"/>
            <a:ext cx="1562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251F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14251F"/>
                </a:solidFill>
                <a:latin typeface="Noto Sans"/>
                <a:ea typeface="Noto Sans"/>
                <a:cs typeface="Noto Sans"/>
              </a:rPr>
              <a:t>Рассчитать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930636-4F89-48F4-A978-E7C800470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695575"/>
            <a:ext cx="1790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8766F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68766F"/>
                </a:solidFill>
                <a:latin typeface="Noto Sans"/>
                <a:ea typeface="Noto Sans"/>
                <a:cs typeface="Noto Sans"/>
              </a:rPr>
              <a:t>commit · rollback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D2B4AD-D26D-4701-9D8F-CD374AF00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3333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6F1"/>
          </a:solidFill>
          <a:ln xmlns:a="http://schemas.openxmlformats.org/drawingml/2006/main" w="19050">
            <a:solidFill>
              <a:srgbClr val="14251F"/>
            </a:solidFill>
            <a:prstDash val="solid"/>
          </a:ln>
        </p:spPr>
      </p:sp>
      <p:cxnSp>
        <p:nvCxnSpPr>
          <p:cNvPr id="68" name=""/>
          <p:cNvCxnSpPr>
            <a:stCxn xmlns:a="http://schemas.openxmlformats.org/drawingml/2006/main" id="9" idx="6"/>
            <a:endCxn xmlns:a="http://schemas.openxmlformats.org/drawingml/2006/main" id="13" idx="2"/>
          </p:cNvCxnSpPr>
          <p:nvPr/>
        </p:nvCxnSpPr>
        <p:spPr>
          <a:xfrm xmlns:a="http://schemas.openxmlformats.org/drawingml/2006/main">
            <a:off x="1400175" y="3533775"/>
            <a:ext cx="2000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866D"/>
            </a:solidFill>
            <a:prstDash val="solid"/>
            <a:tailEnd type="triangle" w="sm" len="sm"/>
          </a:ln>
        </p:spPr>
      </p:cxnSp>
      <p:cxnSp>
        <p:nvCxnSpPr>
          <p:cNvPr id="69" name=""/>
          <p:cNvCxnSpPr>
            <a:stCxn xmlns:a="http://schemas.openxmlformats.org/drawingml/2006/main" id="13" idx="6"/>
            <a:endCxn xmlns:a="http://schemas.openxmlformats.org/drawingml/2006/main" id="17" idx="2"/>
          </p:cNvCxnSpPr>
          <p:nvPr/>
        </p:nvCxnSpPr>
        <p:spPr>
          <a:xfrm xmlns:a="http://schemas.openxmlformats.org/drawingml/2006/main">
            <a:off x="3800475" y="3533775"/>
            <a:ext cx="2000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866D"/>
            </a:solidFill>
            <a:prstDash val="solid"/>
            <a:tailEnd type="triangle" w="sm" len="sm"/>
          </a:ln>
        </p:spPr>
      </p:cxnSp>
      <p:cxnSp>
        <p:nvCxnSpPr>
          <p:cNvPr id="70" name=""/>
          <p:cNvCxnSpPr>
            <a:stCxn xmlns:a="http://schemas.openxmlformats.org/drawingml/2006/main" id="17" idx="6"/>
            <a:endCxn xmlns:a="http://schemas.openxmlformats.org/drawingml/2006/main" id="21" idx="2"/>
          </p:cNvCxnSpPr>
          <p:nvPr/>
        </p:nvCxnSpPr>
        <p:spPr>
          <a:xfrm xmlns:a="http://schemas.openxmlformats.org/drawingml/2006/main">
            <a:off x="6200775" y="3533775"/>
            <a:ext cx="2000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866D"/>
            </a:solidFill>
            <a:prstDash val="solid"/>
            <a:tailEnd type="triangle" w="sm" len="sm"/>
          </a:ln>
        </p:spPr>
      </p:cxnSp>
      <p:cxnSp>
        <p:nvCxnSpPr>
          <p:cNvPr id="71" name=""/>
          <p:cNvCxnSpPr>
            <a:stCxn xmlns:a="http://schemas.openxmlformats.org/drawingml/2006/main" id="21" idx="6"/>
            <a:endCxn xmlns:a="http://schemas.openxmlformats.org/drawingml/2006/main" id="25" idx="2"/>
          </p:cNvCxnSpPr>
          <p:nvPr/>
        </p:nvCxnSpPr>
        <p:spPr>
          <a:xfrm xmlns:a="http://schemas.openxmlformats.org/drawingml/2006/main">
            <a:off x="8601075" y="3533775"/>
            <a:ext cx="2000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866D"/>
            </a:solidFill>
            <a:prstDash val="solid"/>
            <a:tailEnd type="triangle" w="sm" len="sm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623D38-CE34-4773-95E4-A22019AF7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8004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866D"/>
                </a:solidFill>
                <a:latin typeface="Noto Sans"/>
                <a:ea typeface="Noto Sans"/>
                <a:cs typeface="Noto Sans"/>
              </a:defRPr>
            </a:pPr>
            <a:r>
              <a:rPr sz="1125" b="1">
                <a:solidFill>
                  <a:srgbClr val="16866D"/>
                </a:solidFill>
                <a:latin typeface="Noto Sans"/>
                <a:ea typeface="Noto Sans"/>
                <a:cs typeface="Noto Sans"/>
              </a:rPr>
              <a:t>approved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5C8E25-6788-4689-9186-454A26F21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714875"/>
            <a:ext cx="4343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4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74C1D6E-B104-40DD-A66F-82D20961A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857750"/>
            <a:ext cx="2000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4943"/>
                </a:solidFill>
                <a:latin typeface="Noto Sans"/>
                <a:ea typeface="Noto Sans"/>
                <a:cs typeface="Noto Sans"/>
              </a:defRPr>
            </a:pPr>
            <a:r>
              <a:rPr sz="1125" b="1">
                <a:solidFill>
                  <a:srgbClr val="B84943"/>
                </a:solidFill>
                <a:latin typeface="Noto Sans"/>
                <a:ea typeface="Noto Sans"/>
                <a:cs typeface="Noto Sans"/>
              </a:rPr>
              <a:t>REJECTED / EXPIRED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C219EE6-35BB-445F-BA8B-F82E3E9B3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124450"/>
            <a:ext cx="3829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51F"/>
                </a:solidFill>
                <a:latin typeface="Noto Sans"/>
                <a:ea typeface="Noto Sans"/>
                <a:cs typeface="Noto Sans"/>
              </a:defRPr>
            </a:pPr>
            <a:r>
              <a:rPr sz="1425" b="1">
                <a:solidFill>
                  <a:srgbClr val="14251F"/>
                </a:solidFill>
                <a:latin typeface="Noto Sans"/>
                <a:ea typeface="Noto Sans"/>
                <a:cs typeface="Noto Sans"/>
              </a:rPr>
              <a:t>Освободить резерв и заново оценить оставшихся</a:t>
            </a:r>
          </a:p>
        </p:txBody>
      </p:sp>
      <p:cxnSp>
        <p:nvCxnSpPr>
          <p:cNvPr id="76" name=""/>
          <p:cNvCxnSpPr>
            <a:stCxn xmlns:a="http://schemas.openxmlformats.org/drawingml/2006/main" id="21" idx="4"/>
            <a:endCxn xmlns:a="http://schemas.openxmlformats.org/drawingml/2006/main" id="31" idx="3"/>
          </p:cNvCxnSpPr>
          <p:nvPr/>
        </p:nvCxnSpPr>
        <p:spPr>
          <a:xfrm xmlns:a="http://schemas.openxmlformats.org/drawingml/2006/main" flipH="1">
            <a:off x="8343900" y="3733800"/>
            <a:ext cx="228600" cy="1419225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B84943"/>
            </a:solidFill>
            <a:prstDash val="solid"/>
            <a:tailEnd type="triangle" w="sm" len="sm"/>
          </a:ln>
        </p:spPr>
      </p:cxnSp>
      <p:cxnSp>
        <p:nvCxnSpPr>
          <p:cNvPr id="77" name=""/>
          <p:cNvCxnSpPr>
            <a:stCxn xmlns:a="http://schemas.openxmlformats.org/drawingml/2006/main" id="31" idx="1"/>
            <a:endCxn xmlns:a="http://schemas.openxmlformats.org/drawingml/2006/main" id="13" idx="4"/>
          </p:cNvCxnSpPr>
          <p:nvPr/>
        </p:nvCxnSpPr>
        <p:spPr>
          <a:xfrm xmlns:a="http://schemas.openxmlformats.org/drawingml/2006/main" flipH="1" flipV="1">
            <a:off x="3600450" y="3733800"/>
            <a:ext cx="400050" cy="1419225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rgbClr val="B84943"/>
            </a:solidFill>
            <a:prstDash val="solid"/>
            <a:tailEnd type="triangle" w="sm" len="sm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FC95C87-2A2A-4615-8A69-DE1AF6B2A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667250"/>
            <a:ext cx="2343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8766F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68766F"/>
                </a:solidFill>
                <a:latin typeface="Noto Sans"/>
                <a:ea typeface="Noto Sans"/>
                <a:cs typeface="Noto Sans"/>
              </a:rPr>
              <a:t>Если внешний пул исчерпан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763C23F-A6FB-4399-8D59-76E829B3F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981575"/>
            <a:ext cx="234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6866D"/>
                </a:solidFill>
                <a:latin typeface="Noto Sans"/>
                <a:ea typeface="Noto Sans"/>
                <a:cs typeface="Noto Sans"/>
              </a:defRPr>
            </a:pPr>
            <a:r>
              <a:rPr sz="1950" b="1">
                <a:solidFill>
                  <a:srgbClr val="16866D"/>
                </a:solidFill>
                <a:latin typeface="Noto Sans"/>
                <a:ea typeface="Noto Sans"/>
                <a:cs typeface="Noto Sans"/>
              </a:rPr>
              <a:t>fallback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2BE1735-33D3-4ACA-9B66-2848F8C5C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353050"/>
            <a:ext cx="2343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51F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14251F"/>
                </a:solidFill>
                <a:latin typeface="Noto Sans"/>
                <a:ea typeface="Noto Sans"/>
                <a:cs typeface="Noto Sans"/>
              </a:rPr>
              <a:t>spacepayments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5FF57F5-FE7A-4BEE-88E1-C3086A0DD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6076950"/>
            <a:ext cx="731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866D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16866D"/>
                </a:solidFill>
                <a:latin typeface="Noto Sans"/>
                <a:ea typeface="Noto Sans"/>
                <a:cs typeface="Noto Sans"/>
              </a:rPr>
              <a:t>state_before   /   state_reserved   /   state_after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39D130A-2901-48E0-94D1-F2A5D2E4A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4C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94984EA-2886-4F75-B7F4-F26443027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66F"/>
                </a:solidFill>
                <a:latin typeface="Noto Sans"/>
                <a:ea typeface="Noto Sans"/>
                <a:cs typeface="Noto Sans"/>
              </a:defRPr>
            </a:pPr>
            <a:r>
              <a:rPr sz="900" b="0">
                <a:solidFill>
                  <a:srgbClr val="68766F"/>
                </a:solidFill>
                <a:latin typeface="Noto Sans"/>
                <a:ea typeface="Noto Sans"/>
                <a:cs typeface="Noto Sans"/>
              </a:rPr>
              <a:t>RouteLens · объяснимый роутинг выплат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2FA3F4D-820E-4B6D-8D5A-0CA4C434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38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6866D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16866D"/>
                </a:solidFill>
                <a:latin typeface="Noto Sans"/>
                <a:ea typeface="Noto Sans"/>
                <a:cs typeface="Noto Sans"/>
              </a:rPr>
              <a:t>CODEMASTERS</a:t>
            </a:r>
          </a:p>
        </p:txBody>
      </p:sp>
    </p:spTree>
    <p:extLst>
      <p:ext uri="{BB962C8B-B14F-4D97-AF65-F5344CB8AC3E}">
        <p14:creationId xmlns:p14="http://schemas.microsoft.com/office/powerpoint/2010/main" val="5627792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103BF2-5FE7-4968-8190-D95C9D15F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66D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16866D"/>
                </a:solidFill>
                <a:latin typeface="Noto Sans"/>
                <a:ea typeface="Noto Sans"/>
                <a:cs typeface="Noto Sans"/>
              </a:rPr>
              <a:t>CODEMASTERS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5ED1A6-AC80-485A-90B7-7A3E96ED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4765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866D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16866D"/>
                </a:solidFill>
                <a:latin typeface="Noto Sans"/>
                <a:ea typeface="Noto Sans"/>
                <a:cs typeface="Noto Sans"/>
              </a:rPr>
              <a:t>/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FDC8E8-DB82-4CB5-8BCE-1D9E147CA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476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66D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16866D"/>
                </a:solidFill>
                <a:latin typeface="Noto Sans"/>
                <a:ea typeface="Noto Sans"/>
                <a:cs typeface="Noto Sans"/>
              </a:rPr>
              <a:t>ДОКАЗАТЕЛЬСТВО ВЫБОРА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514A60-66B4-4F18-892A-F07BC5F83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8766F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68766F"/>
                </a:solidFill>
                <a:latin typeface="Noto Sans"/>
                <a:ea typeface="Noto Sans"/>
                <a:cs typeface="Noto San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C2656D-3978-43A6-AEF4-10E83E27D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14251F"/>
                </a:solidFill>
                <a:latin typeface="Noto Sans"/>
                <a:ea typeface="Noto Sans"/>
                <a:cs typeface="Noto Sans"/>
              </a:defRPr>
            </a:pPr>
            <a:r>
              <a:rPr sz="3225" b="0">
                <a:solidFill>
                  <a:srgbClr val="14251F"/>
                </a:solidFill>
                <a:latin typeface="Noto Sans"/>
                <a:ea typeface="Noto Sans"/>
                <a:cs typeface="Noto Sans"/>
              </a:rPr>
              <a:t>Почему Vipay выбран для op_109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85F138-23D6-4399-82FF-5897675A1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7635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766F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68766F"/>
                </a:solidFill>
                <a:latin typeface="Noto Sans"/>
                <a:ea typeface="Noto Sans"/>
                <a:cs typeface="Noto Sans"/>
              </a:rPr>
              <a:t>Payflow исключён по банку. Два допустимых кандидата сравниваются по всем десяти факторам.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286147-B9B9-4660-8DAF-78D4FB649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4C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27ADBE-708D-49F2-963B-6A1EC5EB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66D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16866D"/>
                </a:solidFill>
                <a:latin typeface="Noto Sans"/>
                <a:ea typeface="Noto Sans"/>
                <a:cs typeface="Noto Sans"/>
              </a:rPr>
              <a:t>ВЫБРАН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B164C2-37F9-4F57-A324-A0EF8A9A2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271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4251F"/>
                </a:solidFill>
                <a:latin typeface="Noto Sans"/>
                <a:ea typeface="Noto Sans"/>
                <a:cs typeface="Noto Sans"/>
              </a:defRPr>
            </a:pPr>
            <a:r>
              <a:rPr sz="2625" b="1">
                <a:solidFill>
                  <a:srgbClr val="14251F"/>
                </a:solidFill>
                <a:latin typeface="Noto Sans"/>
                <a:ea typeface="Noto Sans"/>
                <a:cs typeface="Noto Sans"/>
              </a:rPr>
              <a:t>Vipay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28C468-7E79-4131-8DE7-511CF58AA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6866D"/>
                </a:solidFill>
                <a:latin typeface="Noto Sans"/>
                <a:ea typeface="Noto Sans"/>
                <a:cs typeface="Noto Sans"/>
              </a:defRPr>
            </a:pPr>
            <a:r>
              <a:rPr sz="3150" b="0">
                <a:solidFill>
                  <a:srgbClr val="16866D"/>
                </a:solidFill>
                <a:latin typeface="Noto Sans"/>
                <a:ea typeface="Noto Sans"/>
                <a:cs typeface="Noto Sans"/>
              </a:rPr>
              <a:t>3.473200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F6796A-51B6-48D2-8C4A-A678B760C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66F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68766F"/>
                </a:solidFill>
                <a:latin typeface="Noto Sans"/>
                <a:ea typeface="Noto Sans"/>
                <a:cs typeface="Noto Sans"/>
              </a:rPr>
              <a:t>approved · 49 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C7DA80-9B4F-4043-A0EF-CF01EBC9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76450"/>
            <a:ext cx="0" cy="152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4C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C461D2-913B-4AEB-B871-9B183ECF6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764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8766F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68766F"/>
                </a:solidFill>
                <a:latin typeface="Noto Sans"/>
                <a:ea typeface="Noto Sans"/>
                <a:cs typeface="Noto Sans"/>
              </a:rPr>
              <a:t>ДОПУСТИМ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277D0F-0177-4EC4-958F-84091F840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622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4251F"/>
                </a:solidFill>
                <a:latin typeface="Noto Sans"/>
                <a:ea typeface="Noto Sans"/>
                <a:cs typeface="Noto Sans"/>
              </a:defRPr>
            </a:pPr>
            <a:r>
              <a:rPr sz="2625" b="1">
                <a:solidFill>
                  <a:srgbClr val="14251F"/>
                </a:solidFill>
                <a:latin typeface="Noto Sans"/>
                <a:ea typeface="Noto Sans"/>
                <a:cs typeface="Noto Sans"/>
              </a:rPr>
              <a:t>Quickpay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69C9A9-F75C-43AE-8A7F-BD2299943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09875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4251F"/>
                </a:solidFill>
                <a:latin typeface="Noto Sans"/>
                <a:ea typeface="Noto Sans"/>
                <a:cs typeface="Noto Sans"/>
              </a:defRPr>
            </a:pPr>
            <a:r>
              <a:rPr sz="3150" b="0">
                <a:solidFill>
                  <a:srgbClr val="14251F"/>
                </a:solidFill>
                <a:latin typeface="Noto Sans"/>
                <a:ea typeface="Noto Sans"/>
                <a:cs typeface="Noto Sans"/>
              </a:rPr>
              <a:t>-2.746254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0ED9E9-693F-4312-A180-BD00D7287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3432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66F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68766F"/>
                </a:solidFill>
                <a:latin typeface="Noto Sans"/>
                <a:ea typeface="Noto Sans"/>
                <a:cs typeface="Noto Sans"/>
              </a:rPr>
              <a:t>ниже на 6,219454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C05078-DAE9-4202-9A21-1055A5CD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76450"/>
            <a:ext cx="0" cy="152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4C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DBA690-2ECA-4E56-B4B3-C6139A53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764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4943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B84943"/>
                </a:solidFill>
                <a:latin typeface="Noto Sans"/>
                <a:ea typeface="Noto Sans"/>
                <a:cs typeface="Noto Sans"/>
              </a:rPr>
              <a:t>ИСКЛЮЧЁН ДО SCORING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35FC55-19E6-412D-A05A-BAFE215CB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3622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4251F"/>
                </a:solidFill>
                <a:latin typeface="Noto Sans"/>
                <a:ea typeface="Noto Sans"/>
                <a:cs typeface="Noto Sans"/>
              </a:defRPr>
            </a:pPr>
            <a:r>
              <a:rPr sz="2625" b="1">
                <a:solidFill>
                  <a:srgbClr val="14251F"/>
                </a:solidFill>
                <a:latin typeface="Noto Sans"/>
                <a:ea typeface="Noto Sans"/>
                <a:cs typeface="Noto Sans"/>
              </a:rPr>
              <a:t>Payflow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6D18A1-F5E4-4313-B302-8A1142759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9560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84943"/>
                </a:solidFill>
                <a:latin typeface="Noto Sans"/>
                <a:ea typeface="Noto Sans"/>
                <a:cs typeface="Noto Sans"/>
              </a:defRPr>
            </a:pPr>
            <a:r>
              <a:rPr sz="1800" b="1">
                <a:solidFill>
                  <a:srgbClr val="B84943"/>
                </a:solidFill>
                <a:latin typeface="Noto Sans"/>
                <a:ea typeface="Noto Sans"/>
                <a:cs typeface="Noto Sans"/>
              </a:rPr>
              <a:t>bank_not_in_list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9A0251-25F8-45C0-99F4-9D012897C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3432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66F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68766F"/>
                </a:solidFill>
                <a:latin typeface="Noto Sans"/>
                <a:ea typeface="Noto Sans"/>
                <a:cs typeface="Noto Sans"/>
              </a:rPr>
              <a:t>операция через VTB</a:t>
            </a:r>
          </a:p>
        </p:txBody>
      </p:sp>
      <p:graphicFrame>
        <p:nvGraphicFramePr>
          <p:cNvPr id="48" name=""/>
          <p:cNvGraphicFramePr/>
          <p:nvPr/>
        </p:nvGraphicFramePr>
        <p:xfrm>
          <a:off xmlns:a="http://schemas.openxmlformats.org/drawingml/2006/main" x="609600" y="3905250"/>
          <a:ext xmlns:a="http://schemas.openxmlformats.org/drawingml/2006/main" cx="10972800" cy="2076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2047875"/>
                <a:gridCol w="2047875"/>
                <a:gridCol w="2876550"/>
              </a:tblGrid>
              <a:tr h="415290"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Группа вкладов</a:t>
                      </a:r>
                    </a:p>
                  </a:txBody>
                  <a:tcPr marL="76200" marR="76200" marT="57150" marB="57150" anchor="ctr">
                    <a:solidFill>
                      <a:srgbClr val="082E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Vipay</a:t>
                      </a:r>
                    </a:p>
                  </a:txBody>
                  <a:tcPr marL="76200" marR="76200" marT="57150" marB="57150" anchor="ctr">
                    <a:solidFill>
                      <a:srgbClr val="082E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Quickpay</a:t>
                      </a:r>
                    </a:p>
                  </a:txBody>
                  <a:tcPr marL="76200" marR="76200" marT="57150" marB="57150" anchor="ctr">
                    <a:solidFill>
                      <a:srgbClr val="082E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Преимущество</a:t>
                      </a:r>
                    </a:p>
                  </a:txBody>
                  <a:tcPr marL="76200" marR="76200" marT="57150" marB="57150" anchor="ctr">
                    <a:solidFill>
                      <a:srgbClr val="082E24"/>
                    </a:solidFill>
                  </a:tcPr>
                </a:tc>
              </a:tr>
              <a:tr h="415290"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4251F"/>
                          </a:solidFill>
                          <a:latin typeface="Noto Sans"/>
                          <a:ea typeface="Noto Sans"/>
                          <a:cs typeface="Noto Sans"/>
                        </a:rPr>
                        <a:t>Целевые доли count + volume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4251F"/>
                          </a:solidFill>
                          <a:latin typeface="Noto Sans"/>
                          <a:ea typeface="Noto Sans"/>
                          <a:cs typeface="Noto Sans"/>
                        </a:rPr>
                        <a:t>+1,88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4251F"/>
                          </a:solidFill>
                          <a:latin typeface="Noto Sans"/>
                          <a:ea typeface="Noto Sans"/>
                          <a:cs typeface="Noto Sans"/>
                        </a:rPr>
                        <a:t>-4,44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4251F"/>
                          </a:solidFill>
                          <a:latin typeface="Noto Sans"/>
                          <a:ea typeface="Noto Sans"/>
                          <a:cs typeface="Noto Sans"/>
                        </a:rPr>
                        <a:t>Vipay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15290"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4251F"/>
                          </a:solidFill>
                          <a:latin typeface="Noto Sans"/>
                          <a:ea typeface="Noto Sans"/>
                          <a:cs typeface="Noto Sans"/>
                        </a:rPr>
                        <a:t>Качество и бизнес-факторы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4251F"/>
                          </a:solidFill>
                          <a:latin typeface="Noto Sans"/>
                          <a:ea typeface="Noto Sans"/>
                          <a:cs typeface="Noto Sans"/>
                        </a:rPr>
                        <a:t>+2,98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4251F"/>
                          </a:solidFill>
                          <a:latin typeface="Noto Sans"/>
                          <a:ea typeface="Noto Sans"/>
                          <a:cs typeface="Noto Sans"/>
                        </a:rPr>
                        <a:t>+1,74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4251F"/>
                          </a:solidFill>
                          <a:latin typeface="Noto Sans"/>
                          <a:ea typeface="Noto Sans"/>
                          <a:cs typeface="Noto Sans"/>
                        </a:rPr>
                        <a:t>Vipay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15290"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4251F"/>
                          </a:solidFill>
                          <a:latin typeface="Noto Sans"/>
                          <a:ea typeface="Noto Sans"/>
                          <a:cs typeface="Noto Sans"/>
                        </a:rPr>
                        <a:t>Штрафы load + latency + cost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4251F"/>
                          </a:solidFill>
                          <a:latin typeface="Noto Sans"/>
                          <a:ea typeface="Noto Sans"/>
                          <a:cs typeface="Noto Sans"/>
                        </a:rPr>
                        <a:t>-1,39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4251F"/>
                          </a:solidFill>
                          <a:latin typeface="Noto Sans"/>
                          <a:ea typeface="Noto Sans"/>
                          <a:cs typeface="Noto Sans"/>
                        </a:rPr>
                        <a:t>-0,05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4251F"/>
                          </a:solidFill>
                          <a:latin typeface="Noto Sans"/>
                          <a:ea typeface="Noto Sans"/>
                          <a:cs typeface="Noto Sans"/>
                        </a:rPr>
                        <a:t>Quickpay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15290"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4251F"/>
                          </a:solidFill>
                          <a:latin typeface="Noto Sans"/>
                          <a:ea typeface="Noto Sans"/>
                          <a:cs typeface="Noto Sans"/>
                        </a:rPr>
                        <a:t>Итоговая взвешенная оценка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16866D"/>
                          </a:solidFill>
                          <a:latin typeface="Noto Sans"/>
                          <a:ea typeface="Noto Sans"/>
                          <a:cs typeface="Noto Sans"/>
                        </a:rPr>
                        <a:t>3,473200</a:t>
                      </a:r>
                    </a:p>
                  </a:txBody>
                  <a:tcPr marL="76200" marR="76200" marT="47625" marB="47625" anchor="ctr">
                    <a:solidFill>
                      <a:srgbClr val="C9F1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4251F"/>
                          </a:solidFill>
                          <a:latin typeface="Noto Sans"/>
                          <a:ea typeface="Noto Sans"/>
                          <a:cs typeface="Noto Sans"/>
                        </a:rPr>
                        <a:t>-2,746254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16866D"/>
                          </a:solidFill>
                          <a:latin typeface="Noto Sans"/>
                          <a:ea typeface="Noto Sans"/>
                          <a:cs typeface="Noto Sans"/>
                        </a:rPr>
                        <a:t>Vipay</a:t>
                      </a:r>
                    </a:p>
                  </a:txBody>
                  <a:tcPr marL="76200" marR="76200" marT="47625" marB="47625" anchor="ctr">
                    <a:solidFill>
                      <a:srgbClr val="C9F1E4"/>
                    </a:solidFill>
                  </a:tcPr>
                </a:tc>
              </a:tr>
            </a:tbl>
          </a:graphicData>
        </a:graphic>
      </p:graphicFrame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0D8E7B-26B4-4B75-B0BF-9D4F347DB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866D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16866D"/>
                </a:solidFill>
                <a:latin typeface="Noto Sans"/>
                <a:ea typeface="Noto Sans"/>
                <a:cs typeface="Noto Sans"/>
              </a:rPr>
              <a:t>Vipay выигрывает с преимуществом 6,2195 балла.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8A4DB0-5D14-4A5A-8819-9633569E8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4C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37DDF0-E4B6-4372-98C3-3902A99C9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66F"/>
                </a:solidFill>
                <a:latin typeface="Noto Sans"/>
                <a:ea typeface="Noto Sans"/>
                <a:cs typeface="Noto Sans"/>
              </a:defRPr>
            </a:pPr>
            <a:r>
              <a:rPr sz="900" b="0">
                <a:solidFill>
                  <a:srgbClr val="68766F"/>
                </a:solidFill>
                <a:latin typeface="Noto Sans"/>
                <a:ea typeface="Noto Sans"/>
                <a:cs typeface="Noto Sans"/>
              </a:rPr>
              <a:t>RouteLens · объяснимый роутинг выплат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E22E8C-403F-4655-8E73-63E02EAF6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38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6866D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16866D"/>
                </a:solidFill>
                <a:latin typeface="Noto Sans"/>
                <a:ea typeface="Noto Sans"/>
                <a:cs typeface="Noto Sans"/>
              </a:rPr>
              <a:t>CODEMASTERS</a:t>
            </a:r>
          </a:p>
        </p:txBody>
      </p:sp>
    </p:spTree>
    <p:extLst>
      <p:ext uri="{BB962C8B-B14F-4D97-AF65-F5344CB8AC3E}">
        <p14:creationId xmlns:p14="http://schemas.microsoft.com/office/powerpoint/2010/main" val="10840876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9AEBED-5246-4FCD-86C1-2E384C0AF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66D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16866D"/>
                </a:solidFill>
                <a:latin typeface="Noto Sans"/>
                <a:ea typeface="Noto Sans"/>
                <a:cs typeface="Noto Sans"/>
              </a:rPr>
              <a:t>ОТКАЗОУСТОЙЧИВОСТЬ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AEAB36-CDEF-4F11-8267-24508A1A8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8766F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68766F"/>
                </a:solidFill>
                <a:latin typeface="Noto Sans"/>
                <a:ea typeface="Noto Sans"/>
                <a:cs typeface="Noto Sans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87EDFF-66A9-4061-B5E0-1C1E31C50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14251F"/>
                </a:solidFill>
                <a:latin typeface="Noto Sans"/>
                <a:ea typeface="Noto Sans"/>
                <a:cs typeface="Noto Sans"/>
              </a:defRPr>
            </a:pPr>
            <a:r>
              <a:rPr sz="3225" b="0">
                <a:solidFill>
                  <a:srgbClr val="14251F"/>
                </a:solidFill>
                <a:latin typeface="Noto Sans"/>
                <a:ea typeface="Noto Sans"/>
                <a:cs typeface="Noto Sans"/>
              </a:rPr>
              <a:t>Две попытки завершают op_101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F129BF-5874-4489-8D2E-90DBCB040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7635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766F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68766F"/>
                </a:solidFill>
                <a:latin typeface="Noto Sans"/>
                <a:ea typeface="Noto Sans"/>
                <a:cs typeface="Noto Sans"/>
              </a:rPr>
              <a:t>Первый сбой освобождает ресурсы. Следующий провайдер получает новый расчёт.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B93010-0F92-4D28-9C11-479433C3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4C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10B6E7-2FB6-4687-9F78-86DCA3AE3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1145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87912"/>
                </a:solidFill>
                <a:latin typeface="Noto Sans"/>
                <a:ea typeface="Noto Sans"/>
                <a:cs typeface="Noto Sans"/>
              </a:defRPr>
            </a:pPr>
            <a:r>
              <a:rPr sz="1125" b="1">
                <a:solidFill>
                  <a:srgbClr val="C87912"/>
                </a:solidFill>
                <a:latin typeface="Noto Sans"/>
                <a:ea typeface="Noto Sans"/>
                <a:cs typeface="Noto Sans"/>
              </a:rPr>
              <a:t>ПОПЫТКА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EFF331-3CC5-4631-90C1-ED50745BA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3812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4251F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14251F"/>
                </a:solidFill>
                <a:latin typeface="Noto Sans"/>
                <a:ea typeface="Noto Sans"/>
                <a:cs typeface="Noto Sans"/>
              </a:rPr>
              <a:t>vipay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5A9256-38CD-42B2-877E-27D0C813E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92417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7912"/>
          </a:solidFill>
          <a:ln xmlns:a="http://schemas.openxmlformats.org/drawingml/2006/main" w="0">
            <a:solidFill>
              <a:srgbClr val="C8791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E2FD00-0261-4B11-A9D0-9BFE8EC29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3528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C87912"/>
                </a:solidFill>
                <a:latin typeface="Noto Sans"/>
                <a:ea typeface="Noto Sans"/>
                <a:cs typeface="Noto Sans"/>
              </a:defRPr>
            </a:pPr>
            <a:r>
              <a:rPr sz="1425" b="1">
                <a:solidFill>
                  <a:srgbClr val="C87912"/>
                </a:solidFill>
                <a:latin typeface="Noto Sans"/>
                <a:ea typeface="Noto Sans"/>
                <a:cs typeface="Noto Sans"/>
              </a:rPr>
              <a:t>expired · 47 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E79D31-EFB9-4B35-AA64-B1A3679A4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145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866D"/>
                </a:solidFill>
                <a:latin typeface="Noto Sans"/>
                <a:ea typeface="Noto Sans"/>
                <a:cs typeface="Noto Sans"/>
              </a:defRPr>
            </a:pPr>
            <a:r>
              <a:rPr sz="1125" b="1">
                <a:solidFill>
                  <a:srgbClr val="16866D"/>
                </a:solidFill>
                <a:latin typeface="Noto Sans"/>
                <a:ea typeface="Noto Sans"/>
                <a:cs typeface="Noto Sans"/>
              </a:rPr>
              <a:t>ПОПЫТКА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2ACC1E-C497-45F7-BD35-03311318C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812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4251F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14251F"/>
                </a:solidFill>
                <a:latin typeface="Noto Sans"/>
                <a:ea typeface="Noto Sans"/>
                <a:cs typeface="Noto Sans"/>
              </a:rPr>
              <a:t>payflow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B9A077-75AC-4416-86AA-8E831E5D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92417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6D"/>
          </a:solidFill>
          <a:ln xmlns:a="http://schemas.openxmlformats.org/drawingml/2006/main" w="0">
            <a:solidFill>
              <a:srgbClr val="16866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BF5245-C057-45F0-822B-FA7884B5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528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866D"/>
                </a:solidFill>
                <a:latin typeface="Noto Sans"/>
                <a:ea typeface="Noto Sans"/>
                <a:cs typeface="Noto Sans"/>
              </a:defRPr>
            </a:pPr>
            <a:r>
              <a:rPr sz="1425" b="1">
                <a:solidFill>
                  <a:srgbClr val="16866D"/>
                </a:solidFill>
                <a:latin typeface="Noto Sans"/>
                <a:ea typeface="Noto Sans"/>
                <a:cs typeface="Noto Sans"/>
              </a:rPr>
              <a:t>approved · 55 с</a:t>
            </a:r>
          </a:p>
        </p:txBody>
      </p:sp>
      <p:cxnSp>
        <p:nvCxnSpPr>
          <p:cNvPr id="39" name=""/>
          <p:cNvCxnSpPr>
            <a:stCxn xmlns:a="http://schemas.openxmlformats.org/drawingml/2006/main" id="8" idx="6"/>
            <a:endCxn xmlns:a="http://schemas.openxmlformats.org/drawingml/2006/main" id="12" idx="2"/>
          </p:cNvCxnSpPr>
          <p:nvPr/>
        </p:nvCxnSpPr>
        <p:spPr>
          <a:xfrm xmlns:a="http://schemas.openxmlformats.org/drawingml/2006/main">
            <a:off x="3105150" y="3076575"/>
            <a:ext cx="5981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87912"/>
            </a:solidFill>
            <a:prstDash val="solid"/>
            <a:tailEnd type="triangle" w="sm" len="sm"/>
          </a:ln>
        </p:spPr>
      </p:cxnSp>
      <p:graphicFrame>
        <p:nvGraphicFramePr>
          <p:cNvPr id="40" name=""/>
          <p:cNvGraphicFramePr/>
          <p:nvPr/>
        </p:nvGraphicFramePr>
        <p:xfrm>
          <a:off xmlns:a="http://schemas.openxmlformats.org/drawingml/2006/main" x="609600" y="3943350"/>
          <a:ext xmlns:a="http://schemas.openxmlformats.org/drawingml/2006/main" cx="7524750" cy="2114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1524000"/>
                <a:gridCol w="1524000"/>
                <a:gridCol w="1524000"/>
              </a:tblGrid>
              <a:tr h="422910"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Резерв Vipay</a:t>
                      </a:r>
                    </a:p>
                  </a:txBody>
                  <a:tcPr marL="76200" marR="76200" marT="57150" marB="57150" anchor="ctr">
                    <a:solidFill>
                      <a:srgbClr val="082E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До</a:t>
                      </a:r>
                    </a:p>
                  </a:txBody>
                  <a:tcPr marL="76200" marR="76200" marT="57150" marB="57150" anchor="ctr">
                    <a:solidFill>
                      <a:srgbClr val="082E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Резерв</a:t>
                      </a:r>
                    </a:p>
                  </a:txBody>
                  <a:tcPr marL="76200" marR="76200" marT="57150" marB="57150" anchor="ctr">
                    <a:solidFill>
                      <a:srgbClr val="082E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После сбоя</a:t>
                      </a:r>
                    </a:p>
                  </a:txBody>
                  <a:tcPr marL="76200" marR="76200" marT="57150" marB="57150" anchor="ctr">
                    <a:solidFill>
                      <a:srgbClr val="082E24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4251F"/>
                          </a:solidFill>
                          <a:latin typeface="Noto Sans"/>
                          <a:ea typeface="Noto Sans"/>
                          <a:cs typeface="Noto Sans"/>
                        </a:rPr>
                        <a:t>Незавершённые операции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4251F"/>
                          </a:solidFill>
                          <a:latin typeface="Noto Sans"/>
                          <a:ea typeface="Noto Sans"/>
                          <a:cs typeface="Noto Sans"/>
                        </a:rPr>
                        <a:t>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4251F"/>
                          </a:solidFill>
                          <a:latin typeface="Noto Sans"/>
                          <a:ea typeface="Noto Sans"/>
                          <a:cs typeface="Noto Sans"/>
                        </a:rPr>
                        <a:t>5</a:t>
                      </a:r>
                    </a:p>
                  </a:txBody>
                  <a:tcPr marL="76200" marR="76200" marT="47625" marB="47625" anchor="ctr">
                    <a:solidFill>
                      <a:srgbClr val="F6E4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4251F"/>
                          </a:solidFill>
                          <a:latin typeface="Noto Sans"/>
                          <a:ea typeface="Noto Sans"/>
                          <a:cs typeface="Noto Sans"/>
                        </a:rPr>
                        <a:t>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4251F"/>
                          </a:solidFill>
                          <a:latin typeface="Noto Sans"/>
                          <a:ea typeface="Noto Sans"/>
                          <a:cs typeface="Noto Sans"/>
                        </a:rPr>
                        <a:t>Незавершённая сумма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4251F"/>
                          </a:solidFill>
                          <a:latin typeface="Noto Sans"/>
                          <a:ea typeface="Noto Sans"/>
                          <a:cs typeface="Noto Sans"/>
                        </a:rPr>
                        <a:t>380000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4251F"/>
                          </a:solidFill>
                          <a:latin typeface="Noto Sans"/>
                          <a:ea typeface="Noto Sans"/>
                          <a:cs typeface="Noto Sans"/>
                        </a:rPr>
                        <a:t>395000</a:t>
                      </a:r>
                    </a:p>
                  </a:txBody>
                  <a:tcPr marL="76200" marR="76200" marT="47625" marB="47625" anchor="ctr">
                    <a:solidFill>
                      <a:srgbClr val="F6E4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4251F"/>
                          </a:solidFill>
                          <a:latin typeface="Noto Sans"/>
                          <a:ea typeface="Noto Sans"/>
                          <a:cs typeface="Noto Sans"/>
                        </a:rPr>
                        <a:t>380000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4251F"/>
                          </a:solidFill>
                          <a:latin typeface="Noto Sans"/>
                          <a:ea typeface="Noto Sans"/>
                          <a:cs typeface="Noto Sans"/>
                        </a:rPr>
                        <a:t>Доступные реквизиты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4251F"/>
                          </a:solidFill>
                          <a:latin typeface="Noto Sans"/>
                          <a:ea typeface="Noto Sans"/>
                          <a:cs typeface="Noto Sans"/>
                        </a:rPr>
                        <a:t>12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4251F"/>
                          </a:solidFill>
                          <a:latin typeface="Noto Sans"/>
                          <a:ea typeface="Noto Sans"/>
                          <a:cs typeface="Noto Sans"/>
                        </a:rPr>
                        <a:t>11</a:t>
                      </a:r>
                    </a:p>
                  </a:txBody>
                  <a:tcPr marL="76200" marR="76200" marT="47625" marB="47625" anchor="ctr">
                    <a:solidFill>
                      <a:srgbClr val="F6E4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4251F"/>
                          </a:solidFill>
                          <a:latin typeface="Noto Sans"/>
                          <a:ea typeface="Noto Sans"/>
                          <a:cs typeface="Noto Sans"/>
                        </a:rPr>
                        <a:t>12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4251F"/>
                          </a:solidFill>
                          <a:latin typeface="Noto Sans"/>
                          <a:ea typeface="Noto Sans"/>
                          <a:cs typeface="Noto Sans"/>
                        </a:rPr>
                        <a:t>Одобрено за день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4251F"/>
                          </a:solidFill>
                          <a:latin typeface="Noto Sans"/>
                          <a:ea typeface="Noto Sans"/>
                          <a:cs typeface="Noto Sans"/>
                        </a:rPr>
                        <a:t>3200000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4251F"/>
                          </a:solidFill>
                          <a:latin typeface="Noto Sans"/>
                          <a:ea typeface="Noto Sans"/>
                          <a:cs typeface="Noto Sans"/>
                        </a:rPr>
                        <a:t>3200000</a:t>
                      </a:r>
                    </a:p>
                  </a:txBody>
                  <a:tcPr marL="76200" marR="76200" marT="47625" marB="47625" anchor="ctr">
                    <a:solidFill>
                      <a:srgbClr val="F6E4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4251F"/>
                          </a:solidFill>
                          <a:latin typeface="Noto Sans"/>
                          <a:ea typeface="Noto Sans"/>
                          <a:cs typeface="Noto Sans"/>
                        </a:rPr>
                        <a:t>3200000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D9F4B6-DC82-4334-80C8-27CBA0017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943350"/>
            <a:ext cx="0" cy="2114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4C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83C61F-4A1B-4E0E-AB95-3D65B9AA9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00050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75" b="0">
                <a:solidFill>
                  <a:srgbClr val="14251F"/>
                </a:solidFill>
                <a:latin typeface="Noto Sans"/>
                <a:ea typeface="Noto Sans"/>
                <a:cs typeface="Noto Sans"/>
              </a:defRPr>
            </a:pPr>
            <a:r>
              <a:rPr sz="3675" b="0">
                <a:solidFill>
                  <a:srgbClr val="14251F"/>
                </a:solidFill>
                <a:latin typeface="Noto Sans"/>
                <a:ea typeface="Noto Sans"/>
                <a:cs typeface="Noto Sans"/>
              </a:rPr>
              <a:t>102 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20144F-7622-4059-A529-A21CA14DA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5910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8766F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68766F"/>
                </a:solidFill>
                <a:latin typeface="Noto Sans"/>
                <a:ea typeface="Noto Sans"/>
                <a:cs typeface="Noto Sans"/>
              </a:rPr>
              <a:t>суммарная задержка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627588-4784-4C93-BA6F-E31A0E7DC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095875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4C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C5CB93-D111-41BD-B548-0E5536241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2197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6866D"/>
                </a:solidFill>
                <a:latin typeface="Noto Sans"/>
                <a:ea typeface="Noto Sans"/>
                <a:cs typeface="Noto Sans"/>
              </a:defRPr>
            </a:pPr>
            <a:r>
              <a:rPr sz="2850" b="1">
                <a:solidFill>
                  <a:srgbClr val="16866D"/>
                </a:solidFill>
                <a:latin typeface="Noto Sans"/>
                <a:ea typeface="Noto Sans"/>
                <a:cs typeface="Noto Sans"/>
              </a:rPr>
              <a:t>100%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2836B3-F617-4E6D-9A5B-596F17CB0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6769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8766F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68766F"/>
                </a:solidFill>
                <a:latin typeface="Noto Sans"/>
                <a:ea typeface="Noto Sans"/>
                <a:cs typeface="Noto Sans"/>
              </a:rPr>
              <a:t>восстановление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033BCB-7EB6-4241-9A2C-B91516082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C87912"/>
                </a:solidFill>
                <a:latin typeface="Noto Sans"/>
                <a:ea typeface="Noto Sans"/>
                <a:cs typeface="Noto Sans"/>
              </a:defRPr>
            </a:pPr>
            <a:r>
              <a:rPr sz="1425" b="1">
                <a:solidFill>
                  <a:srgbClr val="C87912"/>
                </a:solidFill>
                <a:latin typeface="Noto Sans"/>
                <a:ea typeface="Noto Sans"/>
                <a:cs typeface="Noto Sans"/>
              </a:rPr>
              <a:t>op_102: Quickpay expired  ·  Payflow rejected  ·  SpacePayments approved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BE7E79-5CA1-4C7F-AB36-363ADEB6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4C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120ABC-2DF3-4957-BB1B-9194F2F1E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66F"/>
                </a:solidFill>
                <a:latin typeface="Noto Sans"/>
                <a:ea typeface="Noto Sans"/>
                <a:cs typeface="Noto Sans"/>
              </a:defRPr>
            </a:pPr>
            <a:r>
              <a:rPr sz="900" b="0">
                <a:solidFill>
                  <a:srgbClr val="68766F"/>
                </a:solidFill>
                <a:latin typeface="Noto Sans"/>
                <a:ea typeface="Noto Sans"/>
                <a:cs typeface="Noto Sans"/>
              </a:rPr>
              <a:t>RouteLens · объяснимый роутинг выплат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B145DC-65CC-4B1A-872E-934A9937B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38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6866D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16866D"/>
                </a:solidFill>
                <a:latin typeface="Noto Sans"/>
                <a:ea typeface="Noto Sans"/>
                <a:cs typeface="Noto Sans"/>
              </a:rPr>
              <a:t>CODEMASTERS</a:t>
            </a:r>
          </a:p>
        </p:txBody>
      </p:sp>
    </p:spTree>
    <p:extLst>
      <p:ext uri="{BB962C8B-B14F-4D97-AF65-F5344CB8AC3E}">
        <p14:creationId xmlns:p14="http://schemas.microsoft.com/office/powerpoint/2010/main" val="19554916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2A1066-CD21-4826-9A97-F9EFF55E0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66D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16866D"/>
                </a:solidFill>
                <a:latin typeface="Noto Sans"/>
                <a:ea typeface="Noto Sans"/>
                <a:cs typeface="Noto Sans"/>
              </a:rPr>
              <a:t>CODEMASTERS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DF2912-B0C6-4E2E-97A0-AD859474E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4765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866D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16866D"/>
                </a:solidFill>
                <a:latin typeface="Noto Sans"/>
                <a:ea typeface="Noto Sans"/>
                <a:cs typeface="Noto Sans"/>
              </a:rPr>
              <a:t>/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71F8EC-26D7-4668-841B-8E9B61B40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476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66D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16866D"/>
                </a:solidFill>
                <a:latin typeface="Noto Sans"/>
                <a:ea typeface="Noto Sans"/>
                <a:cs typeface="Noto Sans"/>
              </a:rPr>
              <a:t>POLICY LAB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A96216-3778-41DD-80A9-567D71978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8766F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68766F"/>
                </a:solidFill>
                <a:latin typeface="Noto Sans"/>
                <a:ea typeface="Noto Sans"/>
                <a:cs typeface="Noto Sans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1E7560-E07B-454C-A2A4-D837CD8D7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14251F"/>
                </a:solidFill>
                <a:latin typeface="Noto Sans"/>
                <a:ea typeface="Noto Sans"/>
                <a:cs typeface="Noto Sans"/>
              </a:defRPr>
            </a:pPr>
            <a:r>
              <a:rPr sz="3225" b="0">
                <a:solidFill>
                  <a:srgbClr val="14251F"/>
                </a:solidFill>
                <a:latin typeface="Noto Sans"/>
                <a:ea typeface="Noto Sans"/>
                <a:cs typeface="Noto Sans"/>
              </a:rPr>
              <a:t>Цена изменения политики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4651AD-78C1-42F5-B5D4-F45DF13C6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7635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766F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68766F"/>
                </a:solidFill>
                <a:latin typeface="Noto Sans"/>
                <a:ea typeface="Noto Sans"/>
                <a:cs typeface="Noto Sans"/>
              </a:rPr>
              <a:t>Одинаковая очередь и approve_all изолируют влияние весов. Рекомендация тоже проходит replay.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BE2662-2AB0-461B-8BC7-9136005FB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4CF"/>
            </a:solidFill>
            <a:prstDash val="solid"/>
          </a:ln>
        </p:spPr>
      </p:sp>
      <p:graphicFrame>
        <p:nvGraphicFramePr>
          <p:cNvPr id="36" name="Chart"/>
          <p:cNvGraphicFramePr/>
          <p:nvPr/>
        </p:nvGraphicFramePr>
        <p:xfrm>
          <a:off xmlns:a="http://schemas.openxmlformats.org/drawingml/2006/main" x="400050" y="2076450"/>
          <a:ext xmlns:a="http://schemas.openxmlformats.org/drawingml/2006/main" cx="733425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75b5daf2ed7407b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E50324-D06F-4979-A8AB-4C0848D84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33600"/>
            <a:ext cx="0" cy="3790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4C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B7E34B-8FD3-4AED-932E-E0CF379BE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145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66D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16866D"/>
                </a:solidFill>
                <a:latin typeface="Noto Sans"/>
                <a:ea typeface="Noto Sans"/>
                <a:cs typeface="Noto Sans"/>
              </a:rPr>
              <a:t>REPLAY РЕКОМЕНДАЦИИ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7CC982-BA2B-4B47-8816-34B7CD057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33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51F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14251F"/>
                </a:solidFill>
                <a:latin typeface="Noto Sans"/>
                <a:ea typeface="Noto Sans"/>
                <a:cs typeface="Noto Sans"/>
              </a:rPr>
              <a:t>Доли трафика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34B5F6-6EE4-4724-B962-3AD8FBC1A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575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66F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68766F"/>
                </a:solidFill>
                <a:latin typeface="Noto Sans"/>
                <a:ea typeface="Noto Sans"/>
                <a:cs typeface="Noto Sans"/>
              </a:rPr>
              <a:t>Vipay · Payflow · Quickpay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250CD1-1AA8-4D9F-81E2-C2DF767A1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2194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8766F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68766F"/>
                </a:solidFill>
                <a:latin typeface="Noto Sans"/>
                <a:ea typeface="Noto Sans"/>
                <a:cs typeface="Noto Sans"/>
              </a:rPr>
              <a:t>40 / 35 / 25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5F226B-B68C-4636-94C2-2F2597EDF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6004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866D"/>
                </a:solidFill>
                <a:latin typeface="Noto Sans"/>
                <a:ea typeface="Noto Sans"/>
                <a:cs typeface="Noto Sans"/>
              </a:defRPr>
            </a:pPr>
            <a:r>
              <a:rPr sz="2250" b="1">
                <a:solidFill>
                  <a:srgbClr val="16866D"/>
                </a:solidFill>
                <a:latin typeface="Noto Sans"/>
                <a:ea typeface="Noto Sans"/>
                <a:cs typeface="Noto Sans"/>
              </a:rPr>
              <a:t>40 / 10 / 50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BB2709-FDD9-49BA-B368-C1866CAB6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2672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4C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53B041-9C94-42DD-AF67-FB6F2875C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4386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66F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68766F"/>
                </a:solidFill>
                <a:latin typeface="Noto Sans"/>
                <a:ea typeface="Noto Sans"/>
                <a:cs typeface="Noto Sans"/>
              </a:rPr>
              <a:t>Payflow util.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A63247-351F-4D02-AB58-972AFC28B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438650"/>
            <a:ext cx="895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66F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68766F"/>
                </a:solidFill>
                <a:latin typeface="Noto Sans"/>
                <a:ea typeface="Noto Sans"/>
                <a:cs typeface="Noto Sans"/>
              </a:rPr>
              <a:t>99.63%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E0276C-134E-4744-A5AC-3A65DE7A7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44386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6866D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16866D"/>
                </a:solidFill>
                <a:latin typeface="Noto Sans"/>
                <a:ea typeface="Noto Sans"/>
                <a:cs typeface="Noto Sans"/>
              </a:rPr>
              <a:t>96.69%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8529CC-F059-4CF6-8DBB-B55ED8A0B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8958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66F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68766F"/>
                </a:solidFill>
                <a:latin typeface="Noto Sans"/>
                <a:ea typeface="Noto Sans"/>
                <a:cs typeface="Noto Sans"/>
              </a:rPr>
              <a:t>Count, п.п.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9F65E9-543D-46A2-9AE9-30F6774C1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895850"/>
            <a:ext cx="895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66F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68766F"/>
                </a:solidFill>
                <a:latin typeface="Noto Sans"/>
                <a:ea typeface="Noto Sans"/>
                <a:cs typeface="Noto Sans"/>
              </a:rPr>
              <a:t>10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99A775-819D-42A4-9710-AB68F188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48958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6866D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16866D"/>
                </a:solidFill>
                <a:latin typeface="Noto Sans"/>
                <a:ea typeface="Noto Sans"/>
                <a:cs typeface="Noto Sans"/>
              </a:rPr>
              <a:t>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3BD608-861C-4554-8126-C2548025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3530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66F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68766F"/>
                </a:solidFill>
                <a:latin typeface="Noto Sans"/>
                <a:ea typeface="Noto Sans"/>
                <a:cs typeface="Noto Sans"/>
              </a:rPr>
              <a:t>Volume, п.п.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B2E5E9-8861-45CD-9341-4B1678ABD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353050"/>
            <a:ext cx="895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66F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68766F"/>
                </a:solidFill>
                <a:latin typeface="Noto Sans"/>
                <a:ea typeface="Noto Sans"/>
                <a:cs typeface="Noto Sans"/>
              </a:rPr>
              <a:t>51.08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E432B1-CA56-483E-8F89-35DEFA00D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53530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C87912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C87912"/>
                </a:solidFill>
                <a:latin typeface="Noto Sans"/>
                <a:ea typeface="Noto Sans"/>
                <a:cs typeface="Noto Sans"/>
              </a:rPr>
              <a:t>96.7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6B1485-F14E-4CE2-B455-3DD78830B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4251F"/>
                </a:solidFill>
                <a:latin typeface="Noto Sans"/>
                <a:ea typeface="Noto Sans"/>
                <a:cs typeface="Noto Sans"/>
              </a:defRPr>
            </a:pPr>
            <a:r>
              <a:rPr sz="1425" b="1">
                <a:solidFill>
                  <a:srgbClr val="14251F"/>
                </a:solidFill>
                <a:latin typeface="Noto Sans"/>
                <a:ea typeface="Noto Sans"/>
                <a:cs typeface="Noto Sans"/>
              </a:rPr>
              <a:t>Риск по ёмкости ниже, баланс объёма хуже. Компромисс виден до применения.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733041-B343-4A8C-8527-C4BDB37FF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4C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23F34F-C092-4ED2-9273-3C94839EC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66F"/>
                </a:solidFill>
                <a:latin typeface="Noto Sans"/>
                <a:ea typeface="Noto Sans"/>
                <a:cs typeface="Noto Sans"/>
              </a:defRPr>
            </a:pPr>
            <a:r>
              <a:rPr sz="900" b="0">
                <a:solidFill>
                  <a:srgbClr val="68766F"/>
                </a:solidFill>
                <a:latin typeface="Noto Sans"/>
                <a:ea typeface="Noto Sans"/>
                <a:cs typeface="Noto Sans"/>
              </a:rPr>
              <a:t>RouteLens · объяснимый роутинг выплат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3E2220-EBCE-41E9-A094-B89389D9F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38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6866D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16866D"/>
                </a:solidFill>
                <a:latin typeface="Noto Sans"/>
                <a:ea typeface="Noto Sans"/>
                <a:cs typeface="Noto Sans"/>
              </a:rPr>
              <a:t>CODEMASTERS</a:t>
            </a:r>
          </a:p>
        </p:txBody>
      </p:sp>
    </p:spTree>
    <p:extLst>
      <p:ext uri="{BB962C8B-B14F-4D97-AF65-F5344CB8AC3E}">
        <p14:creationId xmlns:p14="http://schemas.microsoft.com/office/powerpoint/2010/main" val="18330228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2700C0-AADE-4CA9-B8CD-B12FECA77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66D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16866D"/>
                </a:solidFill>
                <a:latin typeface="Noto Sans"/>
                <a:ea typeface="Noto Sans"/>
                <a:cs typeface="Noto Sans"/>
              </a:rPr>
              <a:t>CODEMASTERS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215531-D3F3-4921-B1ED-963293FD7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4765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866D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16866D"/>
                </a:solidFill>
                <a:latin typeface="Noto Sans"/>
                <a:ea typeface="Noto Sans"/>
                <a:cs typeface="Noto Sans"/>
              </a:rPr>
              <a:t>/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6D2BB1-84F9-4F76-AFDB-FA41FFFCB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476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66D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16866D"/>
                </a:solidFill>
                <a:latin typeface="Noto Sans"/>
                <a:ea typeface="Noto Sans"/>
                <a:cs typeface="Noto Sans"/>
              </a:rPr>
              <a:t>ПРОВЕРКА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8BE207-2742-47C5-A43D-262A1EF40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8766F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68766F"/>
                </a:solidFill>
                <a:latin typeface="Noto Sans"/>
                <a:ea typeface="Noto Sans"/>
                <a:cs typeface="Noto San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4D4751-62B1-4E6B-AB6F-029E795BE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14251F"/>
                </a:solidFill>
                <a:latin typeface="Noto Sans"/>
                <a:ea typeface="Noto Sans"/>
                <a:cs typeface="Noto Sans"/>
              </a:defRPr>
            </a:pPr>
            <a:r>
              <a:rPr sz="3225" b="0">
                <a:solidFill>
                  <a:srgbClr val="14251F"/>
                </a:solidFill>
                <a:latin typeface="Noto Sans"/>
                <a:ea typeface="Noto Sans"/>
                <a:cs typeface="Noto Sans"/>
              </a:rPr>
              <a:t>Решение проверяется за пять минут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FA99FA-045D-4C7C-8444-E3C47C11F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7635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766F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68766F"/>
                </a:solidFill>
                <a:latin typeface="Noto Sans"/>
                <a:ea typeface="Noto Sans"/>
                <a:cs typeface="Noto Sans"/>
              </a:rPr>
              <a:t>Без сервиса, базы данных, API-ключей и сетевого подключения.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AED4E9-482F-4868-9E03-621369FFF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4C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0E1322-1BE7-423E-96CD-A09489FBF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2628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925" b="0">
                <a:solidFill>
                  <a:srgbClr val="14251F"/>
                </a:solidFill>
                <a:latin typeface="Noto Sans"/>
                <a:ea typeface="Noto Sans"/>
                <a:cs typeface="Noto Sans"/>
              </a:defRPr>
            </a:pPr>
            <a:r>
              <a:rPr sz="2925" b="0">
                <a:solidFill>
                  <a:srgbClr val="14251F"/>
                </a:solidFill>
                <a:latin typeface="Noto Sans"/>
                <a:ea typeface="Noto Sans"/>
                <a:cs typeface="Noto Sans"/>
              </a:rPr>
              <a:t>29 / 0 / 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3B1133-2C59-45E8-B959-BB51589A6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0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8766F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68766F"/>
                </a:solidFill>
                <a:latin typeface="Noto Sans"/>
                <a:ea typeface="Noto Sans"/>
                <a:cs typeface="Noto Sans"/>
              </a:rPr>
              <a:t>валидатор</a:t>
            </a:r>
          </a:p>
          <a:p xmlns:a="http://schemas.openxmlformats.org/drawingml/2006/main">
            <a:pPr algn="ctr">
              <a:defRPr sz="1275" b="0">
                <a:solidFill>
                  <a:srgbClr val="68766F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68766F"/>
                </a:solidFill>
                <a:latin typeface="Noto Sans"/>
                <a:ea typeface="Noto Sans"/>
                <a:cs typeface="Noto Sans"/>
              </a:rPr>
              <a:t>пройдено · ошибок · предупреждений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BC2770-B065-4A89-83AC-567E06640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52650"/>
            <a:ext cx="0" cy="1352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4C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F6D4CE-F7B1-46A7-8C69-EEE9DF03D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95500"/>
            <a:ext cx="2628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925" b="0">
                <a:solidFill>
                  <a:srgbClr val="14251F"/>
                </a:solidFill>
                <a:latin typeface="Noto Sans"/>
                <a:ea typeface="Noto Sans"/>
                <a:cs typeface="Noto Sans"/>
              </a:defRPr>
            </a:pPr>
            <a:r>
              <a:rPr sz="2925" b="0">
                <a:solidFill>
                  <a:srgbClr val="14251F"/>
                </a:solidFill>
                <a:latin typeface="Noto Sans"/>
                <a:ea typeface="Noto Sans"/>
                <a:cs typeface="Noto Sans"/>
              </a:rPr>
              <a:t>140 / 754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31F5D5-B6F7-489F-945E-283FA793B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762250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8766F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68766F"/>
                </a:solidFill>
                <a:latin typeface="Noto Sans"/>
                <a:ea typeface="Noto Sans"/>
                <a:cs typeface="Noto Sans"/>
              </a:rPr>
              <a:t>тесты</a:t>
            </a:r>
          </a:p>
          <a:p xmlns:a="http://schemas.openxmlformats.org/drawingml/2006/main">
            <a:pPr algn="ctr">
              <a:defRPr sz="1275" b="0">
                <a:solidFill>
                  <a:srgbClr val="68766F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68766F"/>
                </a:solidFill>
                <a:latin typeface="Noto Sans"/>
                <a:ea typeface="Noto Sans"/>
                <a:cs typeface="Noto Sans"/>
              </a:rPr>
              <a:t>запуски · проверки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5DB707-310E-4172-9A40-E45ED486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52650"/>
            <a:ext cx="0" cy="1352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4C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FE54BF-7309-408E-B0FD-19379A34F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95500"/>
            <a:ext cx="2628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925" b="0">
                <a:solidFill>
                  <a:srgbClr val="14251F"/>
                </a:solidFill>
                <a:latin typeface="Noto Sans"/>
                <a:ea typeface="Noto Sans"/>
                <a:cs typeface="Noto Sans"/>
              </a:defRPr>
            </a:pPr>
            <a:r>
              <a:rPr sz="2925" b="0">
                <a:solidFill>
                  <a:srgbClr val="14251F"/>
                </a:solidFill>
                <a:latin typeface="Noto Sans"/>
                <a:ea typeface="Noto Sans"/>
                <a:cs typeface="Noto Sans"/>
              </a:rPr>
              <a:t>10 из 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BE8EE6-2382-4154-91D7-60630429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62250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8766F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68766F"/>
                </a:solidFill>
                <a:latin typeface="Noto Sans"/>
                <a:ea typeface="Noto Sans"/>
                <a:cs typeface="Noto Sans"/>
              </a:rPr>
              <a:t>публичная очередь</a:t>
            </a:r>
          </a:p>
          <a:p xmlns:a="http://schemas.openxmlformats.org/drawingml/2006/main">
            <a:pPr algn="ctr">
              <a:defRPr sz="1275" b="0">
                <a:solidFill>
                  <a:srgbClr val="68766F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68766F"/>
                </a:solidFill>
                <a:latin typeface="Noto Sans"/>
                <a:ea typeface="Noto Sans"/>
                <a:cs typeface="Noto Sans"/>
              </a:rPr>
              <a:t>операции покрыты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29AF7E-EE89-482A-8F9E-6F8BE4AB8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152650"/>
            <a:ext cx="0" cy="1352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4C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278D9A-4A01-4533-93A4-06F49A4C0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095500"/>
            <a:ext cx="2628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925" b="0">
                <a:solidFill>
                  <a:srgbClr val="16866D"/>
                </a:solidFill>
                <a:latin typeface="Noto Sans"/>
                <a:ea typeface="Noto Sans"/>
                <a:cs typeface="Noto Sans"/>
              </a:defRPr>
            </a:pPr>
            <a:r>
              <a:rPr sz="2925" b="0">
                <a:solidFill>
                  <a:srgbClr val="16866D"/>
                </a:solidFill>
                <a:latin typeface="Noto Sans"/>
                <a:ea typeface="Noto Sans"/>
                <a:cs typeface="Noto Sans"/>
              </a:rPr>
              <a:t>100%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C45B7B-3DF6-49AC-B705-3D699D81F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62250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8766F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68766F"/>
                </a:solidFill>
                <a:latin typeface="Noto Sans"/>
                <a:ea typeface="Noto Sans"/>
                <a:cs typeface="Noto Sans"/>
              </a:rPr>
              <a:t>resilience demo</a:t>
            </a:r>
          </a:p>
          <a:p xmlns:a="http://schemas.openxmlformats.org/drawingml/2006/main">
            <a:pPr algn="ctr">
              <a:defRPr sz="1275" b="0">
                <a:solidFill>
                  <a:srgbClr val="68766F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68766F"/>
                </a:solidFill>
                <a:latin typeface="Noto Sans"/>
                <a:ea typeface="Noto Sans"/>
                <a:cs typeface="Noto Sans"/>
              </a:rPr>
              <a:t>восстановление после сбоев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3E94F4-1370-45D4-9490-636D9A0DF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957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4C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6575B6-2F2D-461B-895B-DBB787E51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66D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16866D"/>
                </a:solidFill>
                <a:latin typeface="Noto Sans"/>
                <a:ea typeface="Noto Sans"/>
                <a:cs typeface="Noto Sans"/>
              </a:rPr>
              <a:t>01  ОСНОВНОЙ ПРОГОН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5B75F7-74A4-4E15-A9ED-AF0470212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447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51F"/>
                </a:solidFill>
                <a:latin typeface="Noto Sans"/>
                <a:ea typeface="Noto Sans"/>
                <a:cs typeface="Noto Sans"/>
              </a:defRPr>
            </a:pPr>
            <a:r>
              <a:rPr sz="1875" b="1">
                <a:solidFill>
                  <a:srgbClr val="14251F"/>
                </a:solidFill>
                <a:latin typeface="Noto Sans"/>
                <a:ea typeface="Noto Sans"/>
                <a:cs typeface="Noto Sans"/>
              </a:rPr>
              <a:t>ruby bin/route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27B342-CF80-4E20-BA46-A17575C6C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66F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68766F"/>
                </a:solidFill>
                <a:latin typeface="Noto Sans"/>
                <a:ea typeface="Noto Sans"/>
                <a:cs typeface="Noto Sans"/>
              </a:rPr>
              <a:t>ruby scripts/validate_10.rb routing_decisions.json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9CD545-FD39-4183-A55D-BCD603749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14800"/>
            <a:ext cx="0" cy="1390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4C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57ED04-66B5-4827-9732-D76CF37A4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1719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66D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16866D"/>
                </a:solidFill>
                <a:latin typeface="Noto Sans"/>
                <a:ea typeface="Noto Sans"/>
                <a:cs typeface="Noto Sans"/>
              </a:rPr>
              <a:t>02  ДЕМО ОТКАЗОВ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ED5A2E-68E1-497A-B600-1BEEF5A26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562475"/>
            <a:ext cx="447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51F"/>
                </a:solidFill>
                <a:latin typeface="Noto Sans"/>
                <a:ea typeface="Noto Sans"/>
                <a:cs typeface="Noto Sans"/>
              </a:defRPr>
            </a:pPr>
            <a:r>
              <a:rPr sz="1875" b="1">
                <a:solidFill>
                  <a:srgbClr val="14251F"/>
                </a:solidFill>
                <a:latin typeface="Noto Sans"/>
                <a:ea typeface="Noto Sans"/>
                <a:cs typeface="Noto Sans"/>
              </a:rPr>
              <a:t>ruby bin/build_demo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DB6E4A-AD02-4FD4-9991-16E08CED6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9720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66F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68766F"/>
                </a:solidFill>
                <a:latin typeface="Noto Sans"/>
                <a:ea typeface="Noto Sans"/>
                <a:cs typeface="Noto Sans"/>
              </a:rPr>
              <a:t>открыть demo/resilience_observatory.html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29970F-14BB-45A9-A002-90F365B49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866D"/>
                </a:solidFill>
                <a:latin typeface="Noto Sans"/>
                <a:ea typeface="Noto Sans"/>
                <a:cs typeface="Noto Sans"/>
              </a:defRPr>
            </a:pPr>
            <a:r>
              <a:rPr sz="1425" b="1">
                <a:solidFill>
                  <a:srgbClr val="16866D"/>
                </a:solidFill>
                <a:latin typeface="Noto Sans"/>
                <a:ea typeface="Noto Sans"/>
                <a:cs typeface="Noto Sans"/>
              </a:rPr>
              <a:t>router.rb   ·   eligibility/rules.rb   ·   scoring/policy.rb   ·   provider_state.rb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092976-6340-4391-BAF2-A4181AB31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4C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C30E0A-0B04-4B44-A470-B863E15EF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66F"/>
                </a:solidFill>
                <a:latin typeface="Noto Sans"/>
                <a:ea typeface="Noto Sans"/>
                <a:cs typeface="Noto Sans"/>
              </a:defRPr>
            </a:pPr>
            <a:r>
              <a:rPr sz="900" b="0">
                <a:solidFill>
                  <a:srgbClr val="68766F"/>
                </a:solidFill>
                <a:latin typeface="Noto Sans"/>
                <a:ea typeface="Noto Sans"/>
                <a:cs typeface="Noto Sans"/>
              </a:rPr>
              <a:t>RouteLens · объяснимый роутинг выплат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ED0C8D-2791-4BE1-92A7-0B387027F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38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6866D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16866D"/>
                </a:solidFill>
                <a:latin typeface="Noto Sans"/>
                <a:ea typeface="Noto Sans"/>
                <a:cs typeface="Noto Sans"/>
              </a:rPr>
              <a:t>CODEMASTERS</a:t>
            </a:r>
          </a:p>
        </p:txBody>
      </p:sp>
    </p:spTree>
    <p:extLst>
      <p:ext uri="{BB962C8B-B14F-4D97-AF65-F5344CB8AC3E}">
        <p14:creationId xmlns:p14="http://schemas.microsoft.com/office/powerpoint/2010/main" val="16112893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2026-09-06T09:43:57.3150000Z</dcterms:created>
  <dcterms:modified xsi:type="dcterms:W3CDTF">2026-09-06T09:43:57.3150000Z</dcterms:modified>
</coreProperties>
</file>