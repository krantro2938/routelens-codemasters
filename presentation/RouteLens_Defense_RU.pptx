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2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Суммарное отклонение count от target, п.п.</a:t>
            </a:r>
            <a:endParaRPr sz="12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Count target error</c:f>
              <c:strCache>
                <c:ptCount val="1"/>
                <c:pt idx="0">
                  <c:v>Count target error</c:v>
                </c:pt>
              </c:strCache>
            </c:strRef>
          </c:tx>
          <c:spPr>
            <a:solidFill>
              <a:srgbClr val="16866D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6866D"/>
              </a:solidFill>
            </c:spPr>
          </c:dPt>
          <c:dPt>
            <c:idx val="1"/>
            <c:invertIfNegative val="0"/>
            <c:bubble3D val="0"/>
            <c:spPr>
              <a:solidFill>
                <a:srgbClr val="E49A35"/>
              </a:solidFill>
            </c:spPr>
          </c:dPt>
          <c:dPt>
            <c:idx val="2"/>
            <c:invertIfNegative val="0"/>
            <c:bubble3D val="0"/>
            <c:spPr>
              <a:solidFill>
                <a:srgbClr val="24495B"/>
              </a:solidFill>
            </c:spPr>
          </c:dPt>
          <c:dPt>
            <c:idx val="3"/>
            <c:invertIfNegative val="0"/>
            <c:bubble3D val="0"/>
            <c:spPr>
              <a:solidFill>
                <a:srgbClr val="BC4C47"/>
              </a:solidFill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Balanced</c:v>
                </c:pt>
                <c:pt idx="1">
                  <c:v>Conversion first</c:v>
                </c:pt>
                <c:pt idx="2">
                  <c:v>Cascade</c:v>
                </c:pt>
                <c:pt idx="3">
                  <c:v>Capacity first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30</c:v>
                </c:pt>
                <c:pt idx="1">
                  <c:v>130</c:v>
                </c:pt>
                <c:pt idx="2">
                  <c:v>10</c:v>
                </c:pt>
                <c:pt idx="3">
                  <c:v>130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DFE9E4"/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7D8D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0.0" sourceLinked="1"/>
        <c:majorTickMark val="none"/>
        <c:minorTickMark val="none"/>
        <c:tickLblPos val="nextTo"/>
        <c:spPr>
          <a:ln w="9525">
            <a:solidFill>
              <a:srgbClr val="C7D8D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75" b="0" i="0" u="none" strike="noStrike" kern="1200" baseline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</a:p>
        </c:txPr>
        <c:crossAx val="48650112"/>
        <c:crosses val="autoZero"/>
        <c:crossBetween val="between"/>
      </c:valAx>
      <c:spPr>
        <a:solidFill>
          <a:srgbClr val="FBFCF8"/>
        </a:solidFill>
        <a:ln w="0">
          <a:noFill/>
          <a:prstDash val="solid"/>
        </a:ln>
      </c:spPr>
    </c:plotArea>
    <c:plotVisOnly val="1"/>
    <c:dispBlanksAs val="gap"/>
    <c:showDLblsOverMax val="0"/>
  </c:chart>
  <c:spPr>
    <a:solidFill>
      <a:srgbClr val="FBFCF8"/>
    </a:solidFill>
    <a:ln w="0">
      <a:noFill/>
      <a:prstDash val="solid"/>
    </a:ln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/home/alex/Documents/hackathon/hack/README.md</a:t>
            </a:r>
          </a:p>
          <a:p>
            <a:r>
              <a:t>Opening: RouteLens is not a black-box selector. It enforces hard business rules, explains soft policy choices, and preserves the operational state transition for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/home/alex/Documents/hackathon/hack/lib/route_lens/router.rb</a:t>
            </a:r>
          </a:p>
          <a:p>
            <a:r>
              <a:t>/home/alex/Documents/hackathon/hack/lib/route_lens/provider_state.rb</a:t>
            </a:r>
          </a:p>
          <a:p>
            <a:r>
              <a:t>/home/alex/Documents/hackathon/hack/lib/route_lens/eligibility/evaluator.rb</a:t>
            </a:r>
          </a:p>
          <a:p>
            <a:r>
              <a:t>/home/alex/Documents/hackathon/hack/lib/route_lens/scoring/policy.rb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/home/alex/Documents/hackathon/hack/demo/resilience_decisions.json</a:t>
            </a:r>
          </a:p>
          <a:p>
            <a:r>
              <a:t>/home/alex/Documents/hackathon/hack/demo/resilience_report.json</a:t>
            </a:r>
          </a:p>
          <a:p>
            <a:r>
              <a:t>/home/alex/Documents/hackathon/hack/test/fixtures/resilience_outcomes.json</a:t>
            </a:r>
          </a:p>
          <a:p>
            <a:r>
              <a:t>The fixture forces ViPay rejected, Payflow expired, then Quickpay approved for op_101. It also forces Quickpay expired and SpacePayments approved for op_103.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/home/alex/Documents/hackathon/hack/demo/policy_comparison.json</a:t>
            </a:r>
          </a:p>
          <a:p>
            <a:r>
              <a:t>Literal chart values: balanced 30.0, conversion_first 130.0, cascade 10.0, capacity_first 130.0 percentage points of absolute count-target error.</a:t>
            </a:r>
          </a:p>
          <a:p>
            <a:r>
              <a:t>Changed operations versus balanced: 0, 5, 1, 5.</a:t>
            </a:r>
          </a:p>
          <a:p>
            <a:r>
              <a:t>Caution: count-target error is not the sole optimization objective; the complete balanced policy has ten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/home/alex/Documents/hackathon/hack/demo/policy_comparison.json</a:t>
            </a:r>
          </a:p>
          <a:p>
            <a:r>
              <a:t>/home/alex/Documents/hackathon/hack/scripts/validate_10.rb</a:t>
            </a:r>
          </a:p>
          <a:p>
            <a:r>
              <a:t>/home/alex/Documents/hackathon/hack/IMPLEMENTATION_SUMMARY.md</a:t>
            </a:r>
          </a:p>
          <a:p>
            <a:r>
              <a:t>/home/alex/Documents/hackathon/hack/demo/resilience_report.json</a:t>
            </a:r>
          </a:p>
          <a:p>
            <a:r>
              <a:t>The recommendation replay changes the traffic target vector from 40/35/25 to 40/10/50. It reduces Payflow utilization from 99.63% to 98.03% and count-target error from 30 to 20 percentage points, while volume-target error increases from 56.27 to 81.15 percentage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Oval 8"/>
          <p:cNvSpPr>
            <a:spLocks noGrp="1"/>
          </p:cNvSpPr>
          <p:nvPr/>
        </p:nvSpPr>
        <p:spPr>
          <a:xfrm>
            <a:off x="8858250" y="38100"/>
            <a:ext cx="3295650" cy="3295650"/>
          </a:xfrm>
          <a:prstGeom prst="ellipse">
            <a:avLst/>
          </a:prstGeom>
          <a:solidFill>
            <a:srgbClr val="123E33"/>
          </a:solidFill>
          <a:ln w="0">
            <a:solidFill>
              <a:srgbClr val="123E33"/>
            </a:solidFill>
            <a:prstDash val="solid"/>
          </a:ln>
        </p:spPr>
      </p:sp>
      <p:sp>
        <p:nvSpPr>
          <p:cNvPr id="2" name="Oval 1"/>
          <p:cNvSpPr>
            <a:spLocks noGrp="1"/>
          </p:cNvSpPr>
          <p:nvPr/>
        </p:nvSpPr>
        <p:spPr>
          <a:xfrm>
            <a:off x="9563100" y="647700"/>
            <a:ext cx="2152650" cy="2152650"/>
          </a:xfrm>
          <a:prstGeom prst="ellipse">
            <a:avLst/>
          </a:prstGeom>
          <a:solidFill>
            <a:srgbClr val="1C5D4C"/>
          </a:solidFill>
          <a:ln w="0">
            <a:solidFill>
              <a:srgbClr val="1C5D4C"/>
            </a:solidFill>
            <a:prstDash val="solid"/>
          </a:ln>
        </p:spPr>
      </p:sp>
      <p:sp>
        <p:nvSpPr>
          <p:cNvPr id="3" name="Rectangles 2"/>
          <p:cNvSpPr>
            <a:spLocks noGrp="1"/>
          </p:cNvSpPr>
          <p:nvPr/>
        </p:nvSpPr>
        <p:spPr>
          <a:xfrm>
            <a:off x="685800" y="1314450"/>
            <a:ext cx="742950" cy="76200"/>
          </a:xfrm>
          <a:prstGeom prst="rect">
            <a:avLst/>
          </a:prstGeom>
          <a:solidFill>
            <a:srgbClr val="C9F1E4"/>
          </a:solidFill>
          <a:ln w="0">
            <a:solidFill>
              <a:srgbClr val="C9F1E4"/>
            </a:solidFill>
            <a:prstDash val="solid"/>
          </a:ln>
        </p:spPr>
      </p:sp>
      <p:sp>
        <p:nvSpPr>
          <p:cNvPr id="4" name="Rectangles 3"/>
          <p:cNvSpPr>
            <a:spLocks noGrp="1"/>
          </p:cNvSpPr>
          <p:nvPr/>
        </p:nvSpPr>
        <p:spPr>
          <a:xfrm>
            <a:off x="685800" y="1676400"/>
            <a:ext cx="7239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5025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5025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</a:t>
            </a:r>
            <a:endParaRPr sz="5025" b="1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ectangles 4"/>
          <p:cNvSpPr>
            <a:spLocks noGrp="1"/>
          </p:cNvSpPr>
          <p:nvPr/>
        </p:nvSpPr>
        <p:spPr>
          <a:xfrm>
            <a:off x="733425" y="2647950"/>
            <a:ext cx="752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325" b="0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325" b="0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Объяснимый роутинг выплат</a:t>
            </a:r>
            <a:endParaRPr sz="2325" b="0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6" name="Rectangles 5"/>
          <p:cNvSpPr>
            <a:spLocks noGrp="1"/>
          </p:cNvSpPr>
          <p:nvPr/>
        </p:nvSpPr>
        <p:spPr>
          <a:xfrm>
            <a:off x="742950" y="3571875"/>
            <a:ext cx="723900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875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Лучший допустимый маршрут для каждой выплаты</a:t>
            </a:r>
            <a:endParaRPr sz="1875" b="0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875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875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и доказательство каждого решения</a:t>
            </a:r>
            <a:endParaRPr sz="1875" b="0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Rectangles 6"/>
          <p:cNvSpPr>
            <a:spLocks noGrp="1"/>
          </p:cNvSpPr>
          <p:nvPr/>
        </p:nvSpPr>
        <p:spPr>
          <a:xfrm>
            <a:off x="742950" y="594360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125" b="1">
                <a:solidFill>
                  <a:srgbClr val="97C9B9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97C9B9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Ruby    офлайн    детерминированно</a:t>
            </a:r>
            <a:endParaRPr sz="1125" b="1">
              <a:solidFill>
                <a:srgbClr val="97C9B9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8" name="Rectangles 7"/>
          <p:cNvSpPr>
            <a:spLocks noGrp="1"/>
          </p:cNvSpPr>
          <p:nvPr/>
        </p:nvSpPr>
        <p:spPr>
          <a:xfrm>
            <a:off x="9525000" y="60483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050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Защита решения</a:t>
            </a:r>
            <a:endParaRPr sz="1050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s 38"/>
          <p:cNvSpPr>
            <a:spLocks noGrp="1"/>
          </p:cNvSpPr>
          <p:nvPr/>
        </p:nvSpPr>
        <p:spPr>
          <a:xfrm>
            <a:off x="6096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АРХИТЕКТУРА</a:t>
            </a:r>
            <a:endParaRPr sz="9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10810875" y="285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02</a:t>
            </a:r>
            <a:endParaRPr sz="90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609600" y="70485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Конвейер маршрутизации</a:t>
            </a:r>
            <a:endParaRPr sz="29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628650" y="1304925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Hard constraints защищают бизнес-правила. Soft policy оптимизирует только допустимые варианты.</a:t>
            </a:r>
            <a:endParaRPr sz="1425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ounded Rectangle 4"/>
          <p:cNvSpPr>
            <a:spLocks noGrp="1"/>
          </p:cNvSpPr>
          <p:nvPr/>
        </p:nvSpPr>
        <p:spPr>
          <a:xfrm>
            <a:off x="552450" y="2095500"/>
            <a:ext cx="1952625" cy="1390650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6" name="Rounded Rectangle 5"/>
          <p:cNvSpPr>
            <a:spLocks noGrp="1"/>
          </p:cNvSpPr>
          <p:nvPr/>
        </p:nvSpPr>
        <p:spPr>
          <a:xfrm>
            <a:off x="704850" y="2247900"/>
            <a:ext cx="381000" cy="285750"/>
          </a:xfrm>
          <a:prstGeom prst="roundRect">
            <a:avLst>
              <a:gd name="adj" fmla="val 50000"/>
            </a:avLst>
          </a:prstGeom>
          <a:solidFill>
            <a:srgbClr val="C9F1E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Rectangles 6"/>
          <p:cNvSpPr>
            <a:spLocks noGrp="1"/>
          </p:cNvSpPr>
          <p:nvPr/>
        </p:nvSpPr>
        <p:spPr>
          <a:xfrm>
            <a:off x="723900" y="2609850"/>
            <a:ext cx="16383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Проверка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входа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8" name="Rectangles 7"/>
          <p:cNvSpPr>
            <a:spLocks noGrp="1"/>
          </p:cNvSpPr>
          <p:nvPr/>
        </p:nvSpPr>
        <p:spPr>
          <a:xfrm>
            <a:off x="685800" y="3181350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схема и значения</a:t>
            </a:r>
            <a:endParaRPr sz="90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2876550" y="2095500"/>
            <a:ext cx="1952625" cy="1390650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3028950" y="2247900"/>
            <a:ext cx="381000" cy="285750"/>
          </a:xfrm>
          <a:prstGeom prst="roundRect">
            <a:avLst>
              <a:gd name="adj" fmla="val 50000"/>
            </a:avLst>
          </a:prstGeom>
          <a:solidFill>
            <a:srgbClr val="C9F1E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2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3048000" y="2609850"/>
            <a:ext cx="16383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Hard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constraints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3009900" y="3181350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полный список причин</a:t>
            </a:r>
            <a:endParaRPr sz="90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Rounded Rectangle 12"/>
          <p:cNvSpPr>
            <a:spLocks noGrp="1"/>
          </p:cNvSpPr>
          <p:nvPr/>
        </p:nvSpPr>
        <p:spPr>
          <a:xfrm>
            <a:off x="5200650" y="2095500"/>
            <a:ext cx="1952625" cy="1390650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5353050" y="2247900"/>
            <a:ext cx="381000" cy="285750"/>
          </a:xfrm>
          <a:prstGeom prst="roundRect">
            <a:avLst>
              <a:gd name="adj" fmla="val 50000"/>
            </a:avLst>
          </a:prstGeom>
          <a:solidFill>
            <a:srgbClr val="C9F1E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3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Rectangles 14"/>
          <p:cNvSpPr>
            <a:spLocks noGrp="1"/>
          </p:cNvSpPr>
          <p:nvPr/>
        </p:nvSpPr>
        <p:spPr>
          <a:xfrm>
            <a:off x="5372100" y="2609850"/>
            <a:ext cx="16383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Weighted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policy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Rectangles 15"/>
          <p:cNvSpPr>
            <a:spLocks noGrp="1"/>
          </p:cNvSpPr>
          <p:nvPr/>
        </p:nvSpPr>
        <p:spPr>
          <a:xfrm>
            <a:off x="5343525" y="3138805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 нормированных факторов</a:t>
            </a:r>
            <a:endParaRPr sz="90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7" name="Rounded Rectangle 16"/>
          <p:cNvSpPr>
            <a:spLocks noGrp="1"/>
          </p:cNvSpPr>
          <p:nvPr/>
        </p:nvSpPr>
        <p:spPr>
          <a:xfrm>
            <a:off x="7524750" y="2095500"/>
            <a:ext cx="1952625" cy="1390650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7677150" y="2247900"/>
            <a:ext cx="381000" cy="285750"/>
          </a:xfrm>
          <a:prstGeom prst="roundRect">
            <a:avLst>
              <a:gd name="adj" fmla="val 50000"/>
            </a:avLst>
          </a:prstGeom>
          <a:solidFill>
            <a:srgbClr val="C9F1E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4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ectangles 18"/>
          <p:cNvSpPr>
            <a:spLocks noGrp="1"/>
          </p:cNvSpPr>
          <p:nvPr/>
        </p:nvSpPr>
        <p:spPr>
          <a:xfrm>
            <a:off x="7696200" y="2609850"/>
            <a:ext cx="16383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Резерв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ресурсов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0" name="Rectangles 19"/>
          <p:cNvSpPr>
            <a:spLocks noGrp="1"/>
          </p:cNvSpPr>
          <p:nvPr/>
        </p:nvSpPr>
        <p:spPr>
          <a:xfrm>
            <a:off x="7658100" y="3181350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count amount requisites RPM</a:t>
            </a:r>
            <a:endParaRPr sz="90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ounded Rectangle 20"/>
          <p:cNvSpPr>
            <a:spLocks noGrp="1"/>
          </p:cNvSpPr>
          <p:nvPr/>
        </p:nvSpPr>
        <p:spPr>
          <a:xfrm>
            <a:off x="9848850" y="2095500"/>
            <a:ext cx="1952625" cy="1390650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22" name="Rounded Rectangle 21"/>
          <p:cNvSpPr>
            <a:spLocks noGrp="1"/>
          </p:cNvSpPr>
          <p:nvPr/>
        </p:nvSpPr>
        <p:spPr>
          <a:xfrm>
            <a:off x="10001250" y="2247900"/>
            <a:ext cx="381000" cy="285750"/>
          </a:xfrm>
          <a:prstGeom prst="roundRect">
            <a:avLst>
              <a:gd name="adj" fmla="val 50000"/>
            </a:avLst>
          </a:prstGeom>
          <a:solidFill>
            <a:srgbClr val="C9F1E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5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3" name="Rectangles 22"/>
          <p:cNvSpPr>
            <a:spLocks noGrp="1"/>
          </p:cNvSpPr>
          <p:nvPr/>
        </p:nvSpPr>
        <p:spPr>
          <a:xfrm>
            <a:off x="10020300" y="2609850"/>
            <a:ext cx="16383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Попытка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провайдера</a:t>
            </a:r>
            <a:endParaRPr sz="15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4" name="Rectangles 23"/>
          <p:cNvSpPr>
            <a:spLocks noGrp="1"/>
          </p:cNvSpPr>
          <p:nvPr/>
        </p:nvSpPr>
        <p:spPr>
          <a:xfrm>
            <a:off x="9982200" y="3181350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approved rejected expired</a:t>
            </a:r>
            <a:endParaRPr sz="90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cxnSp>
        <p:nvCxnSpPr>
          <p:cNvPr id="63" name="Straight Arrow Connector 62"/>
          <p:cNvCxnSpPr>
            <a:stCxn id="5" idx="3"/>
            <a:endCxn id="9" idx="1"/>
          </p:cNvCxnSpPr>
          <p:nvPr/>
        </p:nvCxnSpPr>
        <p:spPr>
          <a:xfrm>
            <a:off x="2505075" y="2790825"/>
            <a:ext cx="371475" cy="0"/>
          </a:xfrm>
          <a:prstGeom prst="straightConnector1">
            <a:avLst/>
          </a:prstGeom>
          <a:ln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4" name="Straight Arrow Connector 63"/>
          <p:cNvCxnSpPr>
            <a:stCxn id="9" idx="3"/>
            <a:endCxn id="13" idx="1"/>
          </p:cNvCxnSpPr>
          <p:nvPr/>
        </p:nvCxnSpPr>
        <p:spPr>
          <a:xfrm>
            <a:off x="4829175" y="2790825"/>
            <a:ext cx="371475" cy="0"/>
          </a:xfrm>
          <a:prstGeom prst="straightConnector1">
            <a:avLst/>
          </a:prstGeom>
          <a:ln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5" name="Straight Arrow Connector 64"/>
          <p:cNvCxnSpPr>
            <a:stCxn id="13" idx="3"/>
            <a:endCxn id="17" idx="1"/>
          </p:cNvCxnSpPr>
          <p:nvPr/>
        </p:nvCxnSpPr>
        <p:spPr>
          <a:xfrm>
            <a:off x="7153275" y="2790825"/>
            <a:ext cx="371475" cy="0"/>
          </a:xfrm>
          <a:prstGeom prst="straightConnector1">
            <a:avLst/>
          </a:prstGeom>
          <a:ln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6" name="Straight Arrow Connector 65"/>
          <p:cNvCxnSpPr>
            <a:stCxn id="17" idx="3"/>
            <a:endCxn id="21" idx="1"/>
          </p:cNvCxnSpPr>
          <p:nvPr/>
        </p:nvCxnSpPr>
        <p:spPr>
          <a:xfrm>
            <a:off x="9477375" y="2790825"/>
            <a:ext cx="371475" cy="0"/>
          </a:xfrm>
          <a:prstGeom prst="straightConnector1">
            <a:avLst/>
          </a:prstGeom>
          <a:ln w="28575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29" name="Rounded Rectangle 28"/>
          <p:cNvSpPr>
            <a:spLocks noGrp="1"/>
          </p:cNvSpPr>
          <p:nvPr/>
        </p:nvSpPr>
        <p:spPr>
          <a:xfrm>
            <a:off x="4953000" y="4286250"/>
            <a:ext cx="2857500" cy="1066800"/>
          </a:xfrm>
          <a:prstGeom prst="roundRect">
            <a:avLst>
              <a:gd name="adj" fmla="val 16071"/>
            </a:avLst>
          </a:prstGeom>
          <a:solidFill>
            <a:srgbClr val="FBE8E6"/>
          </a:solidFill>
          <a:ln w="9525">
            <a:solidFill>
              <a:srgbClr val="E5AAA6"/>
            </a:solidFill>
            <a:prstDash val="solid"/>
          </a:ln>
        </p:spPr>
      </p:sp>
      <p:sp>
        <p:nvSpPr>
          <p:cNvPr id="30" name="Rectangles 29"/>
          <p:cNvSpPr>
            <a:spLocks noGrp="1"/>
          </p:cNvSpPr>
          <p:nvPr/>
        </p:nvSpPr>
        <p:spPr>
          <a:xfrm>
            <a:off x="5200650" y="4476750"/>
            <a:ext cx="236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425" b="1">
                <a:solidFill>
                  <a:srgbClr val="BC4C47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BC4C47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Отказ или timeout</a:t>
            </a:r>
            <a:endParaRPr sz="1425" b="1">
              <a:solidFill>
                <a:srgbClr val="BC4C47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1" name="Rectangles 30"/>
          <p:cNvSpPr>
            <a:spLocks noGrp="1"/>
          </p:cNvSpPr>
          <p:nvPr/>
        </p:nvSpPr>
        <p:spPr>
          <a:xfrm>
            <a:off x="5162550" y="4857750"/>
            <a:ext cx="24288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release полного резерва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rerank без failed provider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2" name="Rounded Rectangle 31"/>
          <p:cNvSpPr>
            <a:spLocks noGrp="1"/>
          </p:cNvSpPr>
          <p:nvPr/>
        </p:nvSpPr>
        <p:spPr>
          <a:xfrm>
            <a:off x="8420100" y="4286250"/>
            <a:ext cx="2857500" cy="1066800"/>
          </a:xfrm>
          <a:prstGeom prst="roundRect">
            <a:avLst>
              <a:gd name="adj" fmla="val 16071"/>
            </a:avLst>
          </a:prstGeom>
          <a:solidFill>
            <a:srgbClr val="FFF0D7"/>
          </a:solidFill>
          <a:ln w="9525">
            <a:solidFill>
              <a:srgbClr val="E4BA7E"/>
            </a:solidFill>
            <a:prstDash val="solid"/>
          </a:ln>
        </p:spPr>
      </p:sp>
      <p:sp>
        <p:nvSpPr>
          <p:cNvPr id="33" name="Rectangles 32"/>
          <p:cNvSpPr>
            <a:spLocks noGrp="1"/>
          </p:cNvSpPr>
          <p:nvPr/>
        </p:nvSpPr>
        <p:spPr>
          <a:xfrm>
            <a:off x="8639175" y="4476750"/>
            <a:ext cx="2428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350" b="1">
                <a:solidFill>
                  <a:srgbClr val="935E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1">
                <a:solidFill>
                  <a:srgbClr val="935E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Внешний пул исчерпан</a:t>
            </a:r>
            <a:endParaRPr sz="1350" b="1">
              <a:solidFill>
                <a:srgbClr val="935E16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4" name="Rectangles 33"/>
          <p:cNvSpPr>
            <a:spLocks noGrp="1"/>
          </p:cNvSpPr>
          <p:nvPr/>
        </p:nvSpPr>
        <p:spPr>
          <a:xfrm>
            <a:off x="8686800" y="4857750"/>
            <a:ext cx="2343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явный fallback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SpacePayments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cxnSp>
        <p:nvCxnSpPr>
          <p:cNvPr id="73" name="Elbow Connector 72"/>
          <p:cNvCxnSpPr>
            <a:stCxn id="21" idx="2"/>
            <a:endCxn id="29" idx="0"/>
          </p:cNvCxnSpPr>
          <p:nvPr/>
        </p:nvCxnSpPr>
        <p:spPr>
          <a:xfrm flipH="1">
            <a:off x="6381750" y="3486150"/>
            <a:ext cx="4443413" cy="8001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BC4C47"/>
            </a:solidFill>
            <a:prstDash val="solid"/>
            <a:tailEnd type="triangle" w="sm" len="sm"/>
          </a:ln>
        </p:spPr>
      </p:cxnSp>
      <p:cxnSp>
        <p:nvCxnSpPr>
          <p:cNvPr id="74" name="Straight Arrow Connector 73"/>
          <p:cNvCxnSpPr>
            <a:stCxn id="29" idx="3"/>
            <a:endCxn id="32" idx="1"/>
          </p:cNvCxnSpPr>
          <p:nvPr/>
        </p:nvCxnSpPr>
        <p:spPr>
          <a:xfrm>
            <a:off x="7810500" y="4819650"/>
            <a:ext cx="609600" cy="0"/>
          </a:xfrm>
          <a:prstGeom prst="straightConnector1">
            <a:avLst/>
          </a:prstGeom>
          <a:ln w="19050">
            <a:solidFill>
              <a:srgbClr val="E49A35"/>
            </a:solidFill>
            <a:prstDash val="dash"/>
            <a:tailEnd type="triangle" w="sm" len="sm"/>
          </a:ln>
        </p:spPr>
      </p:cxnSp>
      <p:sp>
        <p:nvSpPr>
          <p:cNvPr id="37" name="Rounded Rectangle 36"/>
          <p:cNvSpPr>
            <a:spLocks noGrp="1"/>
          </p:cNvSpPr>
          <p:nvPr/>
        </p:nvSpPr>
        <p:spPr>
          <a:xfrm>
            <a:off x="619125" y="5924550"/>
            <a:ext cx="4762500" cy="323850"/>
          </a:xfrm>
          <a:prstGeom prst="roundRect">
            <a:avLst>
              <a:gd name="adj" fmla="val 50000"/>
            </a:avLst>
          </a:prstGeom>
          <a:solidFill>
            <a:srgbClr val="0B2D2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Hard constraints никогда не уступают soft goals</a:t>
            </a:r>
            <a:endParaRPr sz="1125" b="1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8" name="Rectangles 37"/>
          <p:cNvSpPr>
            <a:spLocks noGrp="1"/>
          </p:cNvSpPr>
          <p:nvPr/>
        </p:nvSpPr>
        <p:spPr>
          <a:xfrm>
            <a:off x="5619750" y="5953125"/>
            <a:ext cx="590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1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Decision receipt хранит причины, score breakdown и state before / reserved / after</a:t>
            </a:r>
            <a:endParaRPr sz="11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s 12"/>
          <p:cNvSpPr>
            <a:spLocks noGrp="1"/>
          </p:cNvSpPr>
          <p:nvPr/>
        </p:nvSpPr>
        <p:spPr>
          <a:xfrm>
            <a:off x="6096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НАДЁЖНОСТЬ</a:t>
            </a:r>
            <a:endParaRPr sz="9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10810875" y="285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03</a:t>
            </a:r>
            <a:endParaRPr sz="90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609600" y="70485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Два сбоя не прерывают выплату</a:t>
            </a:r>
            <a:endParaRPr sz="29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628650" y="1304925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Контролируемый кейс op_101 показывает три реальные попытки и полное освобождение резервов.</a:t>
            </a:r>
            <a:endParaRPr sz="1425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graphicFrame>
        <p:nvGraphicFramePr>
          <p:cNvPr id="17" name="Table 16"/>
          <p:cNvGraphicFramePr/>
          <p:nvPr/>
        </p:nvGraphicFramePr>
        <p:xfrm>
          <a:off x="628650" y="1924050"/>
          <a:ext cx="10934700" cy="1981200"/>
        </p:xfrm>
        <a:graphic>
          <a:graphicData uri="http://schemas.openxmlformats.org/drawingml/2006/table">
            <a:tbl>
              <a:tblPr/>
              <a:tblGrid>
                <a:gridCol w="876300"/>
                <a:gridCol w="2114550"/>
                <a:gridCol w="1790700"/>
                <a:gridCol w="1238250"/>
                <a:gridCol w="491490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Попытка</a:t>
                      </a:r>
                      <a:endParaRPr sz="11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Провайдер</a:t>
                      </a:r>
                      <a:endParaRPr sz="11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Результат</a:t>
                      </a:r>
                      <a:endParaRPr sz="11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Latency</a:t>
                      </a:r>
                      <a:endParaRPr sz="11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Что делает RouteLens</a:t>
                      </a:r>
                      <a:endParaRPr sz="11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ViPay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BC4C47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rejected</a:t>
                      </a:r>
                      <a:endParaRPr sz="1125" b="1">
                        <a:solidFill>
                          <a:srgbClr val="BC4C47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B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5 сек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Освобождает резерв и пересчитывает кандидатов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2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Payflow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935E16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expired</a:t>
                      </a:r>
                      <a:endParaRPr sz="1125" b="1">
                        <a:solidFill>
                          <a:srgbClr val="935E16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0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20 сек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Исключает failed provider только для этой операции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Quickpay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>
                          <a:solidFill>
                            <a:srgbClr val="0B2D24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approved</a:t>
                      </a:r>
                      <a:endParaRPr sz="1125" b="1">
                        <a:solidFill>
                          <a:srgbClr val="0B2D24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C9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25 сек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Фиксирует approved amount и завершает decision receipt</a:t>
                      </a:r>
                      <a:endParaRPr sz="1125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/>
          <p:nvPr/>
        </p:nvGraphicFramePr>
        <p:xfrm>
          <a:off x="628650" y="4324350"/>
          <a:ext cx="7381875" cy="1562100"/>
        </p:xfrm>
        <a:graphic>
          <a:graphicData uri="http://schemas.openxmlformats.org/drawingml/2006/table">
            <a:tbl>
              <a:tblPr/>
              <a:tblGrid>
                <a:gridCol w="2143125"/>
                <a:gridCol w="1676400"/>
                <a:gridCol w="1781175"/>
                <a:gridCol w="1781175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Ресурс ViPay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До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В резерве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2449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После отказа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in_progress_count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4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5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4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in_progress_amount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380000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395000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380000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available_requisites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12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11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12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>
            <a:spLocks noGrp="1"/>
          </p:cNvSpPr>
          <p:nvPr/>
        </p:nvSpPr>
        <p:spPr>
          <a:xfrm>
            <a:off x="8429625" y="4324350"/>
            <a:ext cx="3133725" cy="156210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8" name="Rectangles 7"/>
          <p:cNvSpPr>
            <a:spLocks noGrp="1"/>
          </p:cNvSpPr>
          <p:nvPr/>
        </p:nvSpPr>
        <p:spPr>
          <a:xfrm>
            <a:off x="8429625" y="4324350"/>
            <a:ext cx="85725" cy="1562100"/>
          </a:xfrm>
          <a:prstGeom prst="rect">
            <a:avLst/>
          </a:prstGeom>
          <a:solidFill>
            <a:srgbClr val="16866D"/>
          </a:solidFill>
          <a:ln w="0">
            <a:solidFill>
              <a:srgbClr val="16866D"/>
            </a:solidFill>
            <a:prstDash val="solid"/>
          </a:ln>
        </p:spPr>
      </p:sp>
      <p:sp>
        <p:nvSpPr>
          <p:cNvPr id="9" name="Rectangles 8"/>
          <p:cNvSpPr>
            <a:spLocks noGrp="1"/>
          </p:cNvSpPr>
          <p:nvPr/>
        </p:nvSpPr>
        <p:spPr>
          <a:xfrm>
            <a:off x="8658225" y="4486275"/>
            <a:ext cx="27717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100%</a:t>
            </a:r>
            <a:endParaRPr sz="21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Rectangles 9"/>
          <p:cNvSpPr>
            <a:spLocks noGrp="1"/>
          </p:cNvSpPr>
          <p:nvPr/>
        </p:nvSpPr>
        <p:spPr>
          <a:xfrm>
            <a:off x="8658225" y="4886325"/>
            <a:ext cx="27717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восстановление операций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после provider failure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8439150" y="5981700"/>
            <a:ext cx="1952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97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Ещё один доказанный путь</a:t>
            </a:r>
            <a:endParaRPr sz="975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8439150" y="6200775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Quickpay timeout   SpacePayments approved</a:t>
            </a:r>
            <a:endParaRPr sz="1050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s 22"/>
          <p:cNvSpPr>
            <a:spLocks noGrp="1"/>
          </p:cNvSpPr>
          <p:nvPr/>
        </p:nvSpPr>
        <p:spPr>
          <a:xfrm>
            <a:off x="6096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POLICY LAB</a:t>
            </a:r>
            <a:endParaRPr sz="9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10810875" y="285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04</a:t>
            </a:r>
            <a:endParaRPr sz="90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609600" y="70485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Политика меняет конкретные маршруты</a:t>
            </a:r>
            <a:endParaRPr sz="29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628650" y="1304925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Все сценарии используют approve_all. Так сравнение изолирует влияние весов от случайных outcome.</a:t>
            </a:r>
            <a:endParaRPr sz="1425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graphicFrame>
        <p:nvGraphicFramePr>
          <p:cNvPr id="27" name="Chart"/>
          <p:cNvGraphicFramePr/>
          <p:nvPr/>
        </p:nvGraphicFramePr>
        <p:xfrm>
          <a:off x="590550" y="1952625"/>
          <a:ext cx="7239000" cy="3648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Rectangles 5"/>
          <p:cNvSpPr>
            <a:spLocks noGrp="1"/>
          </p:cNvSpPr>
          <p:nvPr/>
        </p:nvSpPr>
        <p:spPr>
          <a:xfrm>
            <a:off x="8362950" y="2009775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27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Изменено операций</a:t>
            </a:r>
            <a:endParaRPr sz="1275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Oval 6"/>
          <p:cNvSpPr>
            <a:spLocks noGrp="1"/>
          </p:cNvSpPr>
          <p:nvPr/>
        </p:nvSpPr>
        <p:spPr>
          <a:xfrm>
            <a:off x="8401050" y="2495550"/>
            <a:ext cx="171450" cy="171450"/>
          </a:xfrm>
          <a:prstGeom prst="ellipse">
            <a:avLst/>
          </a:prstGeom>
          <a:solidFill>
            <a:srgbClr val="16866D"/>
          </a:solidFill>
          <a:ln w="0">
            <a:solidFill>
              <a:srgbClr val="16866D"/>
            </a:solidFill>
            <a:prstDash val="solid"/>
          </a:ln>
        </p:spPr>
      </p:sp>
      <p:sp>
        <p:nvSpPr>
          <p:cNvPr id="8" name="Rectangles 7"/>
          <p:cNvSpPr>
            <a:spLocks noGrp="1"/>
          </p:cNvSpPr>
          <p:nvPr/>
        </p:nvSpPr>
        <p:spPr>
          <a:xfrm>
            <a:off x="8724900" y="242887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Balanced</a:t>
            </a:r>
            <a:endParaRPr sz="120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10572750" y="24003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</a:t>
            </a:r>
            <a:endParaRPr sz="17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Oval 9"/>
          <p:cNvSpPr>
            <a:spLocks noGrp="1"/>
          </p:cNvSpPr>
          <p:nvPr/>
        </p:nvSpPr>
        <p:spPr>
          <a:xfrm>
            <a:off x="8401050" y="3086100"/>
            <a:ext cx="171450" cy="171450"/>
          </a:xfrm>
          <a:prstGeom prst="ellipse">
            <a:avLst/>
          </a:prstGeom>
          <a:solidFill>
            <a:srgbClr val="E49A35"/>
          </a:solidFill>
          <a:ln w="0">
            <a:solidFill>
              <a:srgbClr val="E49A35"/>
            </a:solidFill>
            <a:prstDash val="solid"/>
          </a:ln>
        </p:spPr>
      </p:sp>
      <p:sp>
        <p:nvSpPr>
          <p:cNvPr id="11" name="Rectangles 10"/>
          <p:cNvSpPr>
            <a:spLocks noGrp="1"/>
          </p:cNvSpPr>
          <p:nvPr/>
        </p:nvSpPr>
        <p:spPr>
          <a:xfrm>
            <a:off x="8724900" y="301942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Conversion first</a:t>
            </a:r>
            <a:endParaRPr sz="120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10572750" y="299085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E49A35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E49A35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5</a:t>
            </a:r>
            <a:endParaRPr sz="1725" b="1">
              <a:solidFill>
                <a:srgbClr val="E49A35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Oval 12"/>
          <p:cNvSpPr>
            <a:spLocks noGrp="1"/>
          </p:cNvSpPr>
          <p:nvPr/>
        </p:nvSpPr>
        <p:spPr>
          <a:xfrm>
            <a:off x="8401050" y="3676650"/>
            <a:ext cx="171450" cy="171450"/>
          </a:xfrm>
          <a:prstGeom prst="ellipse">
            <a:avLst/>
          </a:prstGeom>
          <a:solidFill>
            <a:srgbClr val="24495B"/>
          </a:solidFill>
          <a:ln w="0">
            <a:solidFill>
              <a:srgbClr val="24495B"/>
            </a:solidFill>
            <a:prstDash val="solid"/>
          </a:ln>
        </p:spPr>
      </p:sp>
      <p:sp>
        <p:nvSpPr>
          <p:cNvPr id="14" name="Rectangles 13"/>
          <p:cNvSpPr>
            <a:spLocks noGrp="1"/>
          </p:cNvSpPr>
          <p:nvPr/>
        </p:nvSpPr>
        <p:spPr>
          <a:xfrm>
            <a:off x="8724900" y="360997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Cascade</a:t>
            </a:r>
            <a:endParaRPr sz="120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Rectangles 14"/>
          <p:cNvSpPr>
            <a:spLocks noGrp="1"/>
          </p:cNvSpPr>
          <p:nvPr/>
        </p:nvSpPr>
        <p:spPr>
          <a:xfrm>
            <a:off x="10572750" y="35814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24495B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24495B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</a:t>
            </a:r>
            <a:endParaRPr sz="1725" b="1">
              <a:solidFill>
                <a:srgbClr val="24495B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Oval 15"/>
          <p:cNvSpPr>
            <a:spLocks noGrp="1"/>
          </p:cNvSpPr>
          <p:nvPr/>
        </p:nvSpPr>
        <p:spPr>
          <a:xfrm>
            <a:off x="8401050" y="4267200"/>
            <a:ext cx="171450" cy="171450"/>
          </a:xfrm>
          <a:prstGeom prst="ellipse">
            <a:avLst/>
          </a:prstGeom>
          <a:solidFill>
            <a:srgbClr val="BC4C47"/>
          </a:solidFill>
          <a:ln w="0">
            <a:solidFill>
              <a:srgbClr val="BC4C47"/>
            </a:solidFill>
            <a:prstDash val="solid"/>
          </a:ln>
        </p:spPr>
      </p:sp>
      <p:sp>
        <p:nvSpPr>
          <p:cNvPr id="17" name="Rectangles 16"/>
          <p:cNvSpPr>
            <a:spLocks noGrp="1"/>
          </p:cNvSpPr>
          <p:nvPr/>
        </p:nvSpPr>
        <p:spPr>
          <a:xfrm>
            <a:off x="8724900" y="420052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Capacity first</a:t>
            </a:r>
            <a:endParaRPr sz="120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10572750" y="417195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BC4C47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BC4C47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5</a:t>
            </a:r>
            <a:endParaRPr sz="1725" b="1">
              <a:solidFill>
                <a:srgbClr val="BC4C47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8153400" y="4933950"/>
            <a:ext cx="3381375" cy="1123950"/>
          </a:xfrm>
          <a:prstGeom prst="roundRect">
            <a:avLst>
              <a:gd name="adj" fmla="val 15254"/>
            </a:avLst>
          </a:prstGeom>
          <a:solidFill>
            <a:srgbClr val="FFF0D7"/>
          </a:solidFill>
          <a:ln w="9525">
            <a:solidFill>
              <a:srgbClr val="E7C28E"/>
            </a:solidFill>
            <a:prstDash val="solid"/>
          </a:ln>
        </p:spPr>
      </p:sp>
      <p:sp>
        <p:nvSpPr>
          <p:cNvPr id="20" name="Rectangles 19"/>
          <p:cNvSpPr>
            <a:spLocks noGrp="1"/>
          </p:cNvSpPr>
          <p:nvPr/>
        </p:nvSpPr>
        <p:spPr>
          <a:xfrm>
            <a:off x="8372475" y="51244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200" b="1">
                <a:solidFill>
                  <a:srgbClr val="7D51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7D51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Одна метрика не выбирает победителя</a:t>
            </a:r>
            <a:endParaRPr sz="1200" b="1">
              <a:solidFill>
                <a:srgbClr val="7D5116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ectangles 20"/>
          <p:cNvSpPr>
            <a:spLocks noGrp="1"/>
          </p:cNvSpPr>
          <p:nvPr/>
        </p:nvSpPr>
        <p:spPr>
          <a:xfrm>
            <a:off x="8382000" y="5517515"/>
            <a:ext cx="2914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Balanced одновременно учитывает count, volume, conversion, capacity, latency и cost.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Rectangles 21"/>
          <p:cNvSpPr>
            <a:spLocks noGrp="1"/>
          </p:cNvSpPr>
          <p:nvPr/>
        </p:nvSpPr>
        <p:spPr>
          <a:xfrm>
            <a:off x="619125" y="6115050"/>
            <a:ext cx="7200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12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Cascade имеет меньшую count-ошибку, но это только один срез многокритериального решения.</a:t>
            </a:r>
            <a:endParaRPr sz="1125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Rectangles 29"/>
          <p:cNvSpPr>
            <a:spLocks noGrp="1"/>
          </p:cNvSpPr>
          <p:nvPr/>
        </p:nvSpPr>
        <p:spPr>
          <a:xfrm>
            <a:off x="6096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ЗАМКНУТЫЙ ЦИКЛ</a:t>
            </a:r>
            <a:endParaRPr sz="9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10810875" y="285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05</a:t>
            </a:r>
            <a:endParaRPr sz="90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609600" y="704850"/>
            <a:ext cx="108108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Рекомендация проверяется до применения</a:t>
            </a:r>
            <a:endParaRPr sz="29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628650" y="1304925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предлагает полный target-вектор, затем повторно прогоняет ту же очередь и показывает компромисс.</a:t>
            </a:r>
            <a:endParaRPr sz="1425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graphicFrame>
        <p:nvGraphicFramePr>
          <p:cNvPr id="34" name="Table 33"/>
          <p:cNvGraphicFramePr/>
          <p:nvPr/>
        </p:nvGraphicFramePr>
        <p:xfrm>
          <a:off x="609600" y="1924050"/>
          <a:ext cx="7239000" cy="2647950"/>
        </p:xfrm>
        <a:graphic>
          <a:graphicData uri="http://schemas.openxmlformats.org/drawingml/2006/table">
            <a:tbl>
              <a:tblPr/>
              <a:tblGrid>
                <a:gridCol w="2667000"/>
                <a:gridCol w="1524000"/>
                <a:gridCol w="1524000"/>
                <a:gridCol w="1524000"/>
              </a:tblGrid>
              <a:tr h="52959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Метрика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До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После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Изменение</a:t>
                      </a:r>
                      <a:endParaRPr sz="10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66675" marB="66675" anchor="ctr">
                    <a:solidFill>
                      <a:srgbClr val="0B2D24"/>
                    </a:solidFill>
                  </a:tcPr>
                </a:tc>
              </a:tr>
              <a:tr h="52959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Payflow utilization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99.63%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98.03%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-1.6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C9F1E4"/>
                    </a:solidFill>
                  </a:tcPr>
                </a:tc>
              </a:tr>
              <a:tr h="52959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Payflow headroom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11 200 RUB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59 200 RUB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+48 000 RUB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C9F1E4"/>
                    </a:solidFill>
                  </a:tcPr>
                </a:tc>
              </a:tr>
              <a:tr h="52959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Count target error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30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20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-10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C9F1E4"/>
                    </a:solidFill>
                  </a:tcPr>
                </a:tc>
              </a:tr>
              <a:tr h="52959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Volume target error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56.27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352E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81.15 п.п.</a:t>
                      </a:r>
                      <a:endParaRPr sz="1050" b="0">
                        <a:solidFill>
                          <a:srgbClr val="15352E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8B5816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+24.88 п.п.</a:t>
                      </a:r>
                      <a:endParaRPr sz="1050" b="1">
                        <a:solidFill>
                          <a:srgbClr val="8B5816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95250" marR="95250" marT="57150" marB="57150" anchor="ctr">
                    <a:solidFill>
                      <a:srgbClr val="FFF0D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>
            <a:spLocks noGrp="1"/>
          </p:cNvSpPr>
          <p:nvPr/>
        </p:nvSpPr>
        <p:spPr>
          <a:xfrm>
            <a:off x="8229600" y="1924050"/>
            <a:ext cx="3333750" cy="2647950"/>
          </a:xfrm>
          <a:prstGeom prst="roundRect">
            <a:avLst>
              <a:gd name="adj" fmla="val 6475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7" name="Rectangles 6"/>
          <p:cNvSpPr>
            <a:spLocks noGrp="1"/>
          </p:cNvSpPr>
          <p:nvPr/>
        </p:nvSpPr>
        <p:spPr>
          <a:xfrm>
            <a:off x="8515350" y="2133600"/>
            <a:ext cx="2762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2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traffic_percentage</a:t>
            </a:r>
            <a:endParaRPr sz="120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8" name="Rectangles 7"/>
          <p:cNvSpPr>
            <a:spLocks noGrp="1"/>
          </p:cNvSpPr>
          <p:nvPr/>
        </p:nvSpPr>
        <p:spPr>
          <a:xfrm>
            <a:off x="8524875" y="2571750"/>
            <a:ext cx="495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1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</a:t>
            </a:r>
            <a:endParaRPr sz="1050" b="1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9077325" y="2524125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40 / 35 / 25</a:t>
            </a:r>
            <a:endParaRPr sz="172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Straight Connector 9"/>
          <p:cNvSpPr>
            <a:spLocks noGrp="1"/>
          </p:cNvSpPr>
          <p:nvPr/>
        </p:nvSpPr>
        <p:spPr>
          <a:xfrm>
            <a:off x="8524875" y="3038475"/>
            <a:ext cx="2686050" cy="0"/>
          </a:xfrm>
          <a:prstGeom prst="line">
            <a:avLst/>
          </a:prstGeom>
          <a:noFill/>
          <a:ln w="9525">
            <a:solidFill>
              <a:srgbClr val="C7D8D1"/>
            </a:solidFill>
            <a:prstDash val="solid"/>
          </a:ln>
        </p:spPr>
      </p:sp>
      <p:sp>
        <p:nvSpPr>
          <p:cNvPr id="11" name="Rectangles 10"/>
          <p:cNvSpPr>
            <a:spLocks noGrp="1"/>
          </p:cNvSpPr>
          <p:nvPr/>
        </p:nvSpPr>
        <p:spPr>
          <a:xfrm>
            <a:off x="8524875" y="3238500"/>
            <a:ext cx="666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После</a:t>
            </a:r>
            <a:endParaRPr sz="105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9077325" y="3190875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defRPr sz="17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7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40 / 10 / 50</a:t>
            </a:r>
            <a:endParaRPr sz="17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Rectangles 12"/>
          <p:cNvSpPr>
            <a:spLocks noGrp="1"/>
          </p:cNvSpPr>
          <p:nvPr/>
        </p:nvSpPr>
        <p:spPr>
          <a:xfrm>
            <a:off x="8524875" y="3705225"/>
            <a:ext cx="268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97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75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ViPay   Payflow   Quickpay</a:t>
            </a:r>
            <a:endParaRPr sz="975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8829675" y="4086225"/>
            <a:ext cx="2114550" cy="411480"/>
          </a:xfrm>
          <a:prstGeom prst="roundRect">
            <a:avLst>
              <a:gd name="adj" fmla="val 50000"/>
            </a:avLst>
          </a:prstGeom>
          <a:solidFill>
            <a:srgbClr val="EEF8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0B2D2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Сумма target = 100%</a:t>
            </a:r>
            <a:endParaRPr sz="1125" b="1">
              <a:solidFill>
                <a:srgbClr val="0B2D2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609600" y="5038725"/>
            <a:ext cx="2381250" cy="1219200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16" name="Rectangles 15"/>
          <p:cNvSpPr>
            <a:spLocks noGrp="1"/>
          </p:cNvSpPr>
          <p:nvPr/>
        </p:nvSpPr>
        <p:spPr>
          <a:xfrm>
            <a:off x="609600" y="5038725"/>
            <a:ext cx="85725" cy="1219200"/>
          </a:xfrm>
          <a:prstGeom prst="rect">
            <a:avLst/>
          </a:prstGeom>
          <a:solidFill>
            <a:srgbClr val="16866D"/>
          </a:solidFill>
          <a:ln w="0">
            <a:solidFill>
              <a:srgbClr val="16866D"/>
            </a:solidFill>
            <a:prstDash val="solid"/>
          </a:ln>
        </p:spPr>
      </p:sp>
      <p:sp>
        <p:nvSpPr>
          <p:cNvPr id="17" name="Rectangles 16"/>
          <p:cNvSpPr>
            <a:spLocks noGrp="1"/>
          </p:cNvSpPr>
          <p:nvPr/>
        </p:nvSpPr>
        <p:spPr>
          <a:xfrm>
            <a:off x="838200" y="5200650"/>
            <a:ext cx="2019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29 / 0 / 0</a:t>
            </a:r>
            <a:endParaRPr sz="21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838200" y="5600700"/>
            <a:ext cx="2019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public validator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passed errors warnings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3200400" y="5038725"/>
            <a:ext cx="2381250" cy="1219200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20" name="Rectangles 19"/>
          <p:cNvSpPr>
            <a:spLocks noGrp="1"/>
          </p:cNvSpPr>
          <p:nvPr/>
        </p:nvSpPr>
        <p:spPr>
          <a:xfrm>
            <a:off x="3200400" y="5038725"/>
            <a:ext cx="85725" cy="1219200"/>
          </a:xfrm>
          <a:prstGeom prst="rect">
            <a:avLst/>
          </a:prstGeom>
          <a:solidFill>
            <a:srgbClr val="24495B"/>
          </a:solidFill>
          <a:ln w="0">
            <a:solidFill>
              <a:srgbClr val="24495B"/>
            </a:solidFill>
            <a:prstDash val="solid"/>
          </a:ln>
        </p:spPr>
      </p:sp>
      <p:sp>
        <p:nvSpPr>
          <p:cNvPr id="21" name="Rectangles 20"/>
          <p:cNvSpPr>
            <a:spLocks noGrp="1"/>
          </p:cNvSpPr>
          <p:nvPr/>
        </p:nvSpPr>
        <p:spPr>
          <a:xfrm>
            <a:off x="3429000" y="5200650"/>
            <a:ext cx="2019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74 / 354</a:t>
            </a:r>
            <a:endParaRPr sz="21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Rectangles 21"/>
          <p:cNvSpPr>
            <a:spLocks noGrp="1"/>
          </p:cNvSpPr>
          <p:nvPr/>
        </p:nvSpPr>
        <p:spPr>
          <a:xfrm>
            <a:off x="3429000" y="5600700"/>
            <a:ext cx="2019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tests / assertions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все проходят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3" name="Rounded Rectangle 22"/>
          <p:cNvSpPr>
            <a:spLocks noGrp="1"/>
          </p:cNvSpPr>
          <p:nvPr/>
        </p:nvSpPr>
        <p:spPr>
          <a:xfrm>
            <a:off x="5791200" y="5038725"/>
            <a:ext cx="2381250" cy="1219200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C7D8D1"/>
            </a:solidFill>
            <a:prstDash val="solid"/>
          </a:ln>
        </p:spPr>
      </p:sp>
      <p:sp>
        <p:nvSpPr>
          <p:cNvPr id="24" name="Rectangles 23"/>
          <p:cNvSpPr>
            <a:spLocks noGrp="1"/>
          </p:cNvSpPr>
          <p:nvPr/>
        </p:nvSpPr>
        <p:spPr>
          <a:xfrm>
            <a:off x="5791200" y="5038725"/>
            <a:ext cx="85725" cy="1219200"/>
          </a:xfrm>
          <a:prstGeom prst="rect">
            <a:avLst/>
          </a:prstGeom>
          <a:solidFill>
            <a:srgbClr val="16866D"/>
          </a:solidFill>
          <a:ln w="0">
            <a:solidFill>
              <a:srgbClr val="16866D"/>
            </a:solidFill>
            <a:prstDash val="solid"/>
          </a:ln>
        </p:spPr>
      </p:sp>
      <p:sp>
        <p:nvSpPr>
          <p:cNvPr id="25" name="Rectangles 24"/>
          <p:cNvSpPr>
            <a:spLocks noGrp="1"/>
          </p:cNvSpPr>
          <p:nvPr/>
        </p:nvSpPr>
        <p:spPr>
          <a:xfrm>
            <a:off x="6019800" y="5200650"/>
            <a:ext cx="2019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100%</a:t>
            </a:r>
            <a:endParaRPr sz="2175" b="1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6" name="Rectangles 25"/>
          <p:cNvSpPr>
            <a:spLocks noGrp="1"/>
          </p:cNvSpPr>
          <p:nvPr/>
        </p:nvSpPr>
        <p:spPr>
          <a:xfrm>
            <a:off x="6019800" y="5600700"/>
            <a:ext cx="2019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recovery rate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60726C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 resilience demo</a:t>
            </a:r>
            <a:endParaRPr sz="1050" b="0">
              <a:solidFill>
                <a:srgbClr val="60726C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8401050" y="5038725"/>
            <a:ext cx="3162300" cy="1219200"/>
          </a:xfrm>
          <a:prstGeom prst="roundRect">
            <a:avLst>
              <a:gd name="adj" fmla="val 14063"/>
            </a:avLst>
          </a:prstGeom>
          <a:solidFill>
            <a:srgbClr val="FFF0D7"/>
          </a:solidFill>
          <a:ln w="9525">
            <a:solidFill>
              <a:srgbClr val="E7C28E"/>
            </a:solidFill>
            <a:prstDash val="solid"/>
          </a:ln>
        </p:spPr>
      </p:sp>
      <p:sp>
        <p:nvSpPr>
          <p:cNvPr id="28" name="Rectangles 27"/>
          <p:cNvSpPr>
            <a:spLocks noGrp="1"/>
          </p:cNvSpPr>
          <p:nvPr/>
        </p:nvSpPr>
        <p:spPr>
          <a:xfrm>
            <a:off x="8667750" y="5219700"/>
            <a:ext cx="2647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350" b="1">
                <a:solidFill>
                  <a:srgbClr val="7D51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1">
                <a:solidFill>
                  <a:srgbClr val="7D5116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Честный tradeoff</a:t>
            </a:r>
            <a:endParaRPr sz="1350" b="1">
              <a:solidFill>
                <a:srgbClr val="7D5116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9" name="Rectangles 28"/>
          <p:cNvSpPr>
            <a:spLocks noGrp="1"/>
          </p:cNvSpPr>
          <p:nvPr/>
        </p:nvSpPr>
        <p:spPr>
          <a:xfrm>
            <a:off x="8648700" y="5581650"/>
            <a:ext cx="26860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Volume error растёт на 24.88 п.п.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050" b="0">
                <a:solidFill>
                  <a:srgbClr val="15352E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Оператор видит это до изменения политики.</a:t>
            </a:r>
            <a:endParaRPr sz="1050" b="0">
              <a:solidFill>
                <a:srgbClr val="15352E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2426</Words>
  <Application>WPS Presentation</Application>
  <PresentationFormat>Converted Presentation</PresentationFormat>
  <Paragraphs>271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5" baseType="lpstr">
      <vt:lpstr>Arial</vt:lpstr>
      <vt:lpstr>SimSun</vt:lpstr>
      <vt:lpstr>Wingdings</vt:lpstr>
      <vt:lpstr>Noto Sans</vt:lpstr>
      <vt:lpstr>Microsoft YaHei</vt:lpstr>
      <vt:lpstr>Noto Sans CJK SC</vt:lpstr>
      <vt:lpstr>Arial Unicode MS</vt:lpstr>
      <vt:lpstr>Calibri</vt:lpstr>
      <vt:lpstr>Trebuchet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alex</cp:lastModifiedBy>
  <cp:revision>1</cp:revision>
  <dcterms:created xsi:type="dcterms:W3CDTF">2026-09-05T11:30:00Z</dcterms:created>
  <dcterms:modified xsi:type="dcterms:W3CDTF">2026-09-05T11:30:00Z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