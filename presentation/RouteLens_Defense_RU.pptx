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c6ef96933ec2487e" /><Relationship Type="http://schemas.openxmlformats.org/officeDocument/2006/relationships/extended-properties" Target="/docProps/app.xml" Id="Rd274312e0c054d2c" /><Relationship Type="http://schemas.openxmlformats.org/officeDocument/2006/relationships/officeDocument" Target="/ppt/presentation.xml" Id="R2bd49cdce871404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7f015b322a94fa8"/>
  </p:sldMasterIdLst>
  <p:notesMasterIdLst>
    <p:notesMasterId xmlns:r="http://schemas.openxmlformats.org/officeDocument/2006/relationships" r:id="Ra013bb0361074810"/>
  </p:notesMasterIdLst>
  <p:sldIdLst>
    <p:sldId xmlns:r="http://schemas.openxmlformats.org/officeDocument/2006/relationships" id="256" r:id="Rdffbdc211a7b447e"/>
    <p:sldId xmlns:r="http://schemas.openxmlformats.org/officeDocument/2006/relationships" id="257" r:id="Ra8aec03339b5409e"/>
    <p:sldId xmlns:r="http://schemas.openxmlformats.org/officeDocument/2006/relationships" id="258" r:id="R28fa5984f6d54b95"/>
    <p:sldId xmlns:r="http://schemas.openxmlformats.org/officeDocument/2006/relationships" id="259" r:id="R5d66696c6c024415"/>
    <p:sldId xmlns:r="http://schemas.openxmlformats.org/officeDocument/2006/relationships" id="260" r:id="R2ae1f805540a49d4"/>
    <p:sldId xmlns:r="http://schemas.openxmlformats.org/officeDocument/2006/relationships" id="261" r:id="Rd954e057cf2b4fe6"/>
    <p:sldId xmlns:r="http://schemas.openxmlformats.org/officeDocument/2006/relationships" id="262" r:id="Ra2cdc339642c4dc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1d19c7db6af74b45" /><Relationship Type="http://schemas.openxmlformats.org/officeDocument/2006/relationships/slideMaster" Target="/ppt/slideMasters/slideMaster1.xml" Id="Rf7f015b322a94fa8" /><Relationship Type="http://schemas.openxmlformats.org/officeDocument/2006/relationships/notesMaster" Target="/ppt/notesMasters/notesMaster1.xml" Id="Ra013bb0361074810" /><Relationship Type="http://schemas.openxmlformats.org/officeDocument/2006/relationships/presProps" Target="/ppt/presProps.xml" Id="R05ae9e3c57b34a6a" /><Relationship Type="http://schemas.openxmlformats.org/officeDocument/2006/relationships/tableStyles" Target="/ppt/tableStyles.xml" Id="R5a638f6a3cbc4aba" /><Relationship Type="http://schemas.openxmlformats.org/officeDocument/2006/relationships/slide" Target="/ppt/slides/slide1.xml" Id="Rdffbdc211a7b447e" /><Relationship Type="http://schemas.openxmlformats.org/officeDocument/2006/relationships/slide" Target="/ppt/slides/slide2.xml" Id="Ra8aec03339b5409e" /><Relationship Type="http://schemas.openxmlformats.org/officeDocument/2006/relationships/slide" Target="/ppt/slides/slide3.xml" Id="R28fa5984f6d54b95" /><Relationship Type="http://schemas.openxmlformats.org/officeDocument/2006/relationships/slide" Target="/ppt/slides/slide4.xml" Id="R5d66696c6c024415" /><Relationship Type="http://schemas.openxmlformats.org/officeDocument/2006/relationships/slide" Target="/ppt/slides/slide5.xml" Id="R2ae1f805540a49d4" /><Relationship Type="http://schemas.openxmlformats.org/officeDocument/2006/relationships/slide" Target="/ppt/slides/slide6.xml" Id="Rd954e057cf2b4fe6" /><Relationship Type="http://schemas.openxmlformats.org/officeDocument/2006/relationships/slide" Target="/ppt/slides/slide7.xml" Id="Ra2cdc339642c4dc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242d475216844e3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8ef24d7a0b04056" /><Relationship Type="http://schemas.openxmlformats.org/officeDocument/2006/relationships/notesMaster" Target="/ppt/notesMasters/notesMaster1.xml" Id="R051a9d24b2a24dc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4d8c707666440a9" /><Relationship Type="http://schemas.openxmlformats.org/officeDocument/2006/relationships/notesMaster" Target="/ppt/notesMasters/notesMaster1.xml" Id="R9a00a334159c43e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cf0fda6f7524882" /><Relationship Type="http://schemas.openxmlformats.org/officeDocument/2006/relationships/notesMaster" Target="/ppt/notesMasters/notesMaster1.xml" Id="R060239f6e43e4f11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52b0225a2314024" /><Relationship Type="http://schemas.openxmlformats.org/officeDocument/2006/relationships/notesMaster" Target="/ppt/notesMasters/notesMaster1.xml" Id="R818c09b2b1ec4b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dcbd1cdad844f9" /><Relationship Type="http://schemas.openxmlformats.org/officeDocument/2006/relationships/notesMaster" Target="/ppt/notesMasters/notesMaster1.xml" Id="R81852d14ce974de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1fce3a342f040d1" /><Relationship Type="http://schemas.openxmlformats.org/officeDocument/2006/relationships/notesMaster" Target="/ppt/notesMasters/notesMaster1.xml" Id="Ra46f66316412410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a712b657a865401e" /><Relationship Type="http://schemas.openxmlformats.org/officeDocument/2006/relationships/notesMaster" Target="/ppt/notesMasters/notesMaster1.xml" Id="Ra96d6935e7c447f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README.md</a:t>
            </a:r>
          </a:p>
          <a:p xmlns:a="http://schemas.openxmlformats.org/drawingml/2006/main">
            <a:r>
              <a:t>RouteLens выбирает лучший допустимый маршрут и сохраняет доказательство каждого решения.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lib/route_lens/eligibility/rules.rb, lib/route_lens/scoring/policy.rb, config/routing.yml</a:t>
            </a:r>
          </a:p>
          <a:p xmlns:a="http://schemas.openxmlformats.org/drawingml/2006/main">
            <a:r>
              <a:t>Положительный traffic_percentage является мягкой целью количества. Ноль отключает обычный внешний маршрут.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lib/route_lens/router.rb, lib/route_lens/provider_state.rb</a:t>
            </a:r>
          </a:p>
          <a:p xmlns:a="http://schemas.openxmlformats.org/drawingml/2006/main">
            <a:r>
              <a:t>После rejected или expired рейтинг не переиспользуется. Оставшиеся кандидаты проходят новый eligibility и новый scoring.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routing_decisions.json, операция op_109</a:t>
            </a:r>
          </a:p>
          <a:p xmlns:a="http://schemas.openxmlformats.org/drawingml/2006/main">
            <a:r>
              <a:t>Показаны суммы округлённых вкладов из score_breakdown. Итоговые scores берутся из артефакта решения.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demo/resilience_decisions.json, demo/resilience_report.json</a:t>
            </a:r>
          </a:p>
          <a:p xmlns:a="http://schemas.openxmlformats.org/drawingml/2006/main">
            <a:r>
              <a:t>op_101: Vipay rejected 5 c, Payflow expired 20 c, Quickpay approved 25 c. Итого 50 c.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Источник: demo/policy_comparison.json</a:t>
            </a:r>
          </a:p>
          <a:p xmlns:a="http://schemas.openxmlformats.org/drawingml/2006/main">
            <a:r>
              <a:t>Ошибки являются суммой абсолютных отклонений по внешним провайдерам в процентных пунктах.</a:t>
            </a:r>
          </a:p>
          <a:p xmlns:a="http://schemas.openxmlformats.org/drawingml/2006/main">
            <a:r>
              <a:t>Replay рекомендации: Payflow 99,63% → 98,03%, count error 30 → 20, volume error 56,27 → 81,15.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Источники: README.md, scripts/validate_10.rb, полный набор test/**/*_test.rb</a:t>
            </a:r>
          </a:p>
          <a:p xmlns:a="http://schemas.openxmlformats.org/drawingml/2006/main">
            <a:r>
              <a:t>Финал: решение воспроизводимо, объяснимо и имеет отдельный релизный путь для скрытой очереди.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08f5a67c1b4ce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7e19eed9884bb5" /><Relationship Type="http://schemas.openxmlformats.org/officeDocument/2006/relationships/slideLayout" Target="/ppt/slideLayouts/slideLayout1.xml" Id="Rf7fc29bd73314b0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7fc29bd73314b0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3a80f2132841b3" /><Relationship Type="http://schemas.openxmlformats.org/officeDocument/2006/relationships/notesSlide" Target="/ppt/notesSlides/notesSlide1.xml" Id="Rfc00b65d79fd46f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b55242bf2104942" /><Relationship Type="http://schemas.openxmlformats.org/officeDocument/2006/relationships/notesSlide" Target="/ppt/notesSlides/notesSlide2.xml" Id="Rfc0def819d69450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09ef0ae6724a77" /><Relationship Type="http://schemas.openxmlformats.org/officeDocument/2006/relationships/notesSlide" Target="/ppt/notesSlides/notesSlide3.xml" Id="Reb040d70612d49f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a3be18d714b4ddb" /><Relationship Type="http://schemas.openxmlformats.org/officeDocument/2006/relationships/notesSlide" Target="/ppt/notesSlides/notesSlide4.xml" Id="R92258840822d4bc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ba2e277752437b" /><Relationship Type="http://schemas.openxmlformats.org/officeDocument/2006/relationships/notesSlide" Target="/ppt/notesSlides/notesSlide5.xml" Id="R8b61e1db019e41e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751cd6dda84a06" /><Relationship Type="http://schemas.openxmlformats.org/officeDocument/2006/relationships/chart" Target="/ppt/slides/charts/chart1.xml" Id="Rf035c1291bcf4b73" /><Relationship Type="http://schemas.openxmlformats.org/officeDocument/2006/relationships/notesSlide" Target="/ppt/notesSlides/notesSlide6.xml" Id="Rad8e9c2b28e5438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18ac77f0baf42d9" /><Relationship Type="http://schemas.openxmlformats.org/officeDocument/2006/relationships/notesSlide" Target="/ppt/notesSlides/notesSlide7.xml" Id="R085fd16feba347d3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Ошибка количества</c:v>
          </c:tx>
          <c:spPr>
            <a:solidFill xmlns:a="http://schemas.openxmlformats.org/drawingml/2006/main">
              <a:srgbClr val="16866D"/>
            </a:solidFill>
          </c:spPr>
          <c:cat>
            <c:strRef>
              <c:f>'Chart Data'!$A$2:$A$5</c:f>
              <c:strCache>
                <c:ptCount val="4"/>
                <c:pt idx="0">
                  <c:v>Balanced</c:v>
                </c:pt>
                <c:pt idx="1">
                  <c:v>Conversion</c:v>
                </c:pt>
                <c:pt idx="2">
                  <c:v>Cascade</c:v>
                </c:pt>
                <c:pt idx="3">
                  <c:v>Capacity</c:v>
                </c:pt>
              </c:strCache>
            </c:strRef>
          </c:cat>
          <c:val>
            <c:numRef>
              <c:f>'Chart Data'!$B$2:$B$5</c:f>
              <c:numCache>
                <c:formatCode>0.0</c:formatCode>
                <c:ptCount val="4"/>
                <c:pt idx="0">
                  <c:v>30</c:v>
                </c:pt>
                <c:pt idx="1">
                  <c:v>130</c:v>
                </c:pt>
                <c:pt idx="2">
                  <c:v>10</c:v>
                </c:pt>
                <c:pt idx="3">
                  <c:v>130</c:v>
                </c:pt>
              </c:numCache>
            </c:numRef>
          </c:val>
        </c:ser>
        <c:ser>
          <c:idx val="1"/>
          <c:order val="1"/>
          <c:tx>
            <c:v>Ошибка объёма</c:v>
          </c:tx>
          <c:spPr>
            <a:solidFill xmlns:a="http://schemas.openxmlformats.org/drawingml/2006/main">
              <a:srgbClr val="D68A22"/>
            </a:solidFill>
          </c:spPr>
          <c:cat>
            <c:strRef>
              <c:f>'Chart Data'!$C$2:$C$5</c:f>
              <c:strCache>
                <c:ptCount val="4"/>
                <c:pt idx="0">
                  <c:v>Balanced</c:v>
                </c:pt>
                <c:pt idx="1">
                  <c:v>Conversion</c:v>
                </c:pt>
                <c:pt idx="2">
                  <c:v>Cascade</c:v>
                </c:pt>
                <c:pt idx="3">
                  <c:v>Capacity</c:v>
                </c:pt>
              </c:strCache>
            </c:strRef>
          </c:cat>
          <c:val>
            <c:numRef>
              <c:f>'Chart Data'!$D$2:$D$5</c:f>
              <c:numCache>
                <c:formatCode>0.0</c:formatCode>
                <c:ptCount val="4"/>
                <c:pt idx="0">
                  <c:v>56.27</c:v>
                </c:pt>
                <c:pt idx="1">
                  <c:v>149.58</c:v>
                </c:pt>
                <c:pt idx="2">
                  <c:v>51.08</c:v>
                </c:pt>
                <c:pt idx="3">
                  <c:v>149.58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1275" b="1">
                  <a:solidFill>
                    <a:srgbClr val="15352E"/>
                  </a:solidFill>
                  <a:latin typeface="Noto Sans"/>
                  <a:ea typeface="Noto Sans"/>
                  <a:cs typeface="Noto Sans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6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C7D8D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72768"/>
      </c:catAx>
      <c:valAx>
        <c:axId val="48672768"/>
        <c:scaling>
          <c:orientation val="minMax"/>
          <c:max val="16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DFE9E4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C7D8D1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</a:p>
        </c:txPr>
        <c:crossAx val="48650112"/>
        <c:crossBetween val="between"/>
        <c:majorUnit val="40"/>
      </c:valAx>
      <c:spPr>
        <a:solidFill xmlns:a="http://schemas.openxmlformats.org/drawingml/2006/main">
          <a:srgbClr val="FBFCF8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>
              <a:solidFill>
                <a:srgbClr val="60726C"/>
              </a:solidFill>
              <a:latin typeface="Noto Sans"/>
              <a:ea typeface="Noto Sans"/>
              <a:cs typeface="Noto Sans"/>
            </a:defRPr>
          </a:pPr>
        </a:p>
      </c:txPr>
    </c:legend>
    <c:plotVisOnly val="1"/>
  </c:chart>
  <c:spPr>
    <a:solidFill xmlns:a="http://schemas.openxmlformats.org/drawingml/2006/main">
      <a:srgbClr val="FBFCF8"/>
    </a:solidFill>
    <a:ln xmlns:a="http://schemas.openxmlformats.org/drawingml/2006/main" w="0">
      <a:noFill/>
      <a:prstDash val="solid"/>
    </a:ln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2D24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749CBE-CC95-4307-9BF6-D31D9FCEF5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2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CODEMASTERS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A77FA61-2D23-4208-A8B9-D8140A822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714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51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RouteLens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CEA616C-F696-4712-9BD0-EA65E0F75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550" b="0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2550" b="0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Объяснимый роутинг выплат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5D7D73D-B64E-46A0-A6EE-69618B78E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76625"/>
            <a:ext cx="6858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Сначала допустимость. Затем оптимизация.</a:t>
            </a:r>
          </a:p>
          <a:p xmlns:a="http://schemas.openxmlformats.org/drawingml/2006/main">
            <a:pPr algn="l">
              <a:def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2100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После сбоя решение строится заново.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51879C-F71D-438A-B4A4-0CDB0E9C5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5811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C9F1E4"/>
          </a:solidFill>
          <a:ln xmlns:a="http://schemas.openxmlformats.org/drawingml/2006/main" w="0">
            <a:solidFill>
              <a:srgbClr val="C9F1E4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CBD9AF-9E1D-4D6C-9F9E-8D1C58DB5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10800" y="28384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D68A22"/>
          </a:solidFill>
          <a:ln xmlns:a="http://schemas.openxmlformats.org/drawingml/2006/main" w="0">
            <a:solidFill>
              <a:srgbClr val="D68A2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95C827-DCAA-441E-B292-6948172DA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095750"/>
            <a:ext cx="342900" cy="3429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</p:sp>
      <p:cxnSp>
        <p:nvCxnSpPr>
          <p:cNvPr id="23" name=""/>
          <p:cNvCxnSpPr>
            <a:stCxn xmlns:a="http://schemas.openxmlformats.org/drawingml/2006/main" id="5" idx="6"/>
            <a:endCxn xmlns:a="http://schemas.openxmlformats.org/drawingml/2006/main" id="6" idx="2"/>
          </p:cNvCxnSpPr>
          <p:nvPr/>
        </p:nvCxnSpPr>
        <p:spPr>
          <a:xfrm xmlns:a="http://schemas.openxmlformats.org/drawingml/2006/main">
            <a:off x="9105900" y="1752600"/>
            <a:ext cx="1104900" cy="12573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C9F1E4"/>
            </a:solidFill>
            <a:prstDash val="solid"/>
            <a:tailEnd type="triangle" w="sm" len="sm"/>
          </a:ln>
        </p:spPr>
      </p:cxnSp>
      <p:cxnSp>
        <p:nvCxnSpPr>
          <p:cNvPr id="24" name=""/>
          <p:cNvCxnSpPr>
            <a:stCxn xmlns:a="http://schemas.openxmlformats.org/drawingml/2006/main" id="6" idx="6"/>
            <a:endCxn xmlns:a="http://schemas.openxmlformats.org/drawingml/2006/main" id="7" idx="2"/>
          </p:cNvCxnSpPr>
          <p:nvPr/>
        </p:nvCxnSpPr>
        <p:spPr>
          <a:xfrm xmlns:a="http://schemas.openxmlformats.org/drawingml/2006/main" flipH="1">
            <a:off x="8763000" y="3009900"/>
            <a:ext cx="1790700" cy="125730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D68A22"/>
            </a:solidFill>
            <a:prstDash val="solid"/>
            <a:tailEnd type="triangle" w="sm" len="sm"/>
          </a:ln>
        </p:spPr>
      </p:cxn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FC64532-63E4-4E47-858D-48A4047F0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619250"/>
            <a:ext cx="17621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hard rules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38BE65-3BAF-423F-B829-6D58884A4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8765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D68A22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D68A22"/>
                </a:solidFill>
                <a:latin typeface="Noto Sans"/>
                <a:ea typeface="Noto Sans"/>
                <a:cs typeface="Noto Sans"/>
              </a:rPr>
              <a:t>policy score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827250-E15D-4CC1-AEED-0F7081E43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4133850"/>
            <a:ext cx="2171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decision receipt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72F293-A25C-4365-AE12-4D36F1D6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394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4786E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6AC200-4757-4B2F-BF80-A10A8B255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943600"/>
            <a:ext cx="7048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A8CEC2"/>
                </a:solidFill>
                <a:latin typeface="Noto Sans"/>
                <a:ea typeface="Noto Sans"/>
                <a:cs typeface="Noto Sans"/>
              </a:defRPr>
            </a:pPr>
            <a:r>
              <a:rPr sz="1575" b="0">
                <a:solidFill>
                  <a:srgbClr val="A8CEC2"/>
                </a:solidFill>
                <a:latin typeface="Noto Sans"/>
                <a:ea typeface="Noto Sans"/>
                <a:cs typeface="Noto Sans"/>
              </a:rPr>
              <a:t>Ruby · офлайн · детерминированно · воспроизводимо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B224D63-61E8-407B-99A7-7FD4216FA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59436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500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Защита решения</a:t>
            </a:r>
          </a:p>
        </p:txBody>
      </p:sp>
    </p:spTree>
    <p:extLst>
      <p:ext uri="{BB962C8B-B14F-4D97-AF65-F5344CB8AC3E}">
        <p14:creationId xmlns:p14="http://schemas.microsoft.com/office/powerpoint/2010/main" val="97686199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C79C45-B732-4EBD-A2C3-855F4A4A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ЛОГИКА ВЫБОРА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77ECB4-02FC-4E88-AE17-DEC57F5D4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667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02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B676A1-447F-4C45-895D-93C4BFA87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Два уровня решения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CFB7AF9-9612-464C-AD3B-C9B312953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Никакая мягкая цель не может отменить ограничение безопасности.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FC2ECBD-CF85-43AB-B943-AC5E423AC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D3224E-075E-4AD4-85A0-B7157FA94B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71700"/>
            <a:ext cx="4762500" cy="350520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5CCB17-B6DA-4D89-BAAE-D66617521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2171700"/>
            <a:ext cx="4724400" cy="3505200"/>
          </a:xfrm>
          <a:prstGeom xmlns:a="http://schemas.openxmlformats.org/drawingml/2006/main" prst="roundRect">
            <a:avLst>
              <a:gd name="adj" fmla="val 4891"/>
            </a:avLst>
          </a:prstGeom>
          <a:solidFill xmlns:a="http://schemas.openxmlformats.org/drawingml/2006/main">
            <a:srgbClr val="EEF8F4"/>
          </a:solidFill>
          <a:ln xmlns:a="http://schemas.openxmlformats.org/drawingml/2006/main" w="19050">
            <a:solidFill>
              <a:srgbClr val="16866D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ABCA470-4F42-4A86-8FE2-6FC6305B5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00300"/>
            <a:ext cx="18859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B94742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B94742"/>
                </a:solidFill>
                <a:latin typeface="Noto Sans"/>
                <a:ea typeface="Noto Sans"/>
                <a:cs typeface="Noto Sans"/>
              </a:rPr>
              <a:t>1 · HARD GATE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2210EC-BDA3-4115-A0B5-2D75CF80B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52750"/>
            <a:ext cx="3962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Можно ли направить выплату?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FF0F92-D6FB-4A2B-8CBB-911480EBE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62350"/>
            <a:ext cx="38100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Статус и роль провайдера</a:t>
            </a:r>
          </a:p>
          <a:p xmlns:a="http://schemas.openxmlformats.org/drawingml/2006/main">
            <a:pPr algn="l">
              <a:def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Сумма и дневной лимит</a:t>
            </a:r>
          </a:p>
          <a:p xmlns:a="http://schemas.openxmlformats.org/drawingml/2006/main">
            <a:pPr algn="l">
              <a:def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In-progress и RPM</a:t>
            </a:r>
          </a:p>
          <a:p xmlns:a="http://schemas.openxmlformats.org/drawingml/2006/main">
            <a:pPr algn="l">
              <a:def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Банк, маржа, реквизиты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C68DFC0-C0E0-4369-9140-E414C659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720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94742"/>
                </a:solidFill>
                <a:latin typeface="Noto Sans"/>
                <a:ea typeface="Noto Sans"/>
                <a:cs typeface="Noto Sans"/>
              </a:defRPr>
            </a:pPr>
            <a:r>
              <a:rPr sz="1575" b="1">
                <a:solidFill>
                  <a:srgbClr val="B94742"/>
                </a:solidFill>
                <a:latin typeface="Noto Sans"/>
                <a:ea typeface="Noto Sans"/>
                <a:cs typeface="Noto Sans"/>
              </a:rPr>
              <a:t>Нарушение любого правила</a:t>
            </a:r>
          </a:p>
          <a:p xmlns:a="http://schemas.openxmlformats.org/drawingml/2006/main">
            <a:pPr algn="l">
              <a:defRPr sz="1575" b="1">
                <a:solidFill>
                  <a:srgbClr val="B94742"/>
                </a:solidFill>
                <a:latin typeface="Noto Sans"/>
                <a:ea typeface="Noto Sans"/>
                <a:cs typeface="Noto Sans"/>
              </a:defRPr>
            </a:pPr>
            <a:r>
              <a:rPr sz="1575" b="1">
                <a:solidFill>
                  <a:srgbClr val="B94742"/>
                </a:solidFill>
                <a:latin typeface="Noto Sans"/>
                <a:ea typeface="Noto Sans"/>
                <a:cs typeface="Noto Sans"/>
              </a:rPr>
              <a:t>исключает кандидата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926077-521F-4F76-9C10-5E1CAF16AB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400300"/>
            <a:ext cx="2000250" cy="361950"/>
          </a:xfrm>
          <a:prstGeom xmlns:a="http://schemas.openxmlformats.org/drawingml/2006/main" prst="roundRect">
            <a:avLst>
              <a:gd name="adj" fmla="val 47368"/>
            </a:avLst>
          </a:prstGeom>
          <a:solidFill xmlns:a="http://schemas.openxmlformats.org/drawingml/2006/main">
            <a:srgbClr val="C9F1E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rPr>
              <a:t>2 · SOFT POLICY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3217E4-1A48-4C57-91A8-35D0F1B26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952750"/>
            <a:ext cx="4000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Кто лучше среди допустимых?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4409B3E-F546-4BDC-AF77-552626CF5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3524250"/>
            <a:ext cx="39433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2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Σ raw × weight × direction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525407-B95C-4F0A-B3EA-A73C718F6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171950"/>
            <a:ext cx="40005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Доли количества и объёма</a:t>
            </a:r>
          </a:p>
          <a:p xmlns:a="http://schemas.openxmlformats.org/drawingml/2006/main">
            <a:pPr algn="l">
              <a:def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Конверсия, priority, сумма</a:t>
            </a:r>
          </a:p>
          <a:p xmlns:a="http://schemas.openxmlformats.org/drawingml/2006/main">
            <a:pPr algn="l">
              <a:def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Capacity, оборот, нагрузка</a:t>
            </a:r>
          </a:p>
          <a:p xmlns:a="http://schemas.openxmlformats.org/drawingml/2006/main">
            <a:pPr algn="l">
              <a:def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Latency и cost</a:t>
            </a:r>
          </a:p>
        </p:txBody>
      </p:sp>
      <p:cxnSp>
        <p:nvCxnSpPr>
          <p:cNvPr id="3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5372100" y="3924300"/>
            <a:ext cx="1447800" cy="0"/>
          </a:xfrm>
          <a:prstGeom xmlns:a="http://schemas.openxmlformats.org/drawingml/2006/main" prst="straightConnector1">
            <a:avLst/>
          </a:prstGeom>
          <a:ln xmlns:a="http://schemas.openxmlformats.org/drawingml/2006/main" w="38100">
            <a:solidFill>
              <a:srgbClr val="16866D"/>
            </a:solidFill>
            <a:prstDash val="solid"/>
            <a:tailEnd type="triangle" w="sm" len="sm"/>
          </a:ln>
        </p:spPr>
      </p:cxn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221CF89-B154-46CC-B7B1-4E6357D30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6019800"/>
            <a:ext cx="5257800" cy="400050"/>
          </a:xfrm>
          <a:prstGeom xmlns:a="http://schemas.openxmlformats.org/drawingml/2006/main" prst="roundRect">
            <a:avLst>
              <a:gd name="adj" fmla="val 42857"/>
            </a:avLst>
          </a:prstGeom>
          <a:solidFill xmlns:a="http://schemas.openxmlformats.org/drawingml/2006/main">
            <a:srgbClr val="0B2D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Нет одной главной мягкой метрики</a:t>
            </a:r>
          </a:p>
        </p:txBody>
      </p:sp>
    </p:spTree>
    <p:extLst>
      <p:ext uri="{BB962C8B-B14F-4D97-AF65-F5344CB8AC3E}">
        <p14:creationId xmlns:p14="http://schemas.microsoft.com/office/powerpoint/2010/main" val="202555868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BA81FFF9-FCB7-4240-8BE0-21D6A4E72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ИСПОЛНЕНИЕ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0243AA-E8F9-4274-B963-BC80F7CB8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667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03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306C3AA-21F8-4846-AFD8-0A5757DD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Жизненный цикл выплаты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CB5386-CA5A-4AFB-9D4B-A231F99E8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Каждая попытка проверяет актуальное состояние и оставляет проверяемую квитанцию.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2B4901-7C6F-4865-A62E-66C758923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6537E6A-ACCF-4186-966E-58D5597D9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76500"/>
            <a:ext cx="192405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FACFD6-FDC5-4997-98E1-A3A8BF22B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28900"/>
            <a:ext cx="4000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F1E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rPr>
              <a:t>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CEFDDE-79DC-4EED-B815-750F165D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0480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Проверить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7578E8-2756-4693-A12C-72B023C9A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63855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11 hard rules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6094320-514B-4810-91F1-22B49AB7F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2476500"/>
            <a:ext cx="192405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9A89FED-5910-45A1-A688-3AE42FF70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2628900"/>
            <a:ext cx="4000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F1E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D09EA3-2F93-4250-AD4C-73157448F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0480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Оценить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EB7B9B-8277-492A-8A95-F115DB7B0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0850" y="363855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10 факторов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4F9EAC-E9F5-4EFE-AC64-4B5D26E74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00650" y="2476500"/>
            <a:ext cx="192405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EEF8F4"/>
          </a:solidFill>
          <a:ln xmlns:a="http://schemas.openxmlformats.org/drawingml/2006/main" w="19050">
            <a:solidFill>
              <a:srgbClr val="1686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84E1BFC-62B5-490E-8AF5-D669217F2D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28900"/>
            <a:ext cx="4000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866D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E43138-972A-444A-9701-60FEE23D1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0480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Резерв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D837A8-9E45-4825-97D4-F06CD6A2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63855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slot · amount</a:t>
            </a:r>
          </a:p>
          <a:p xmlns:a="http://schemas.openxmlformats.org/drawingml/2006/main">
            <a:pPr algn="ctr">
              <a:def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requisite · RPM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FDEF87-DBEB-4748-9CF4-A4CE837F03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2476500"/>
            <a:ext cx="192405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BFD2540-4B1A-4658-983A-5A29E7881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628900"/>
            <a:ext cx="4000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F1E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rPr>
              <a:t>4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75EB5B6-9326-441F-9C4C-F545A648A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0480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Вызвать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8A626B-B9D0-4FDE-AFBB-37C2FADE6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363855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approved</a:t>
            </a:r>
          </a:p>
          <a:p xmlns:a="http://schemas.openxmlformats.org/drawingml/2006/main">
            <a:pPr algn="ctr">
              <a:def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rejected · expired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F2C287C-A9F8-4AED-8615-122B986DB1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86950" y="2476500"/>
            <a:ext cx="1924050" cy="16002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F06A18B-5563-4897-8584-101D65AEE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2628900"/>
            <a:ext cx="4000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C9F1E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0B2D24"/>
                </a:solidFill>
                <a:latin typeface="Noto Sans"/>
                <a:ea typeface="Noto Sans"/>
                <a:cs typeface="Noto Sans"/>
              </a:rPr>
              <a:t>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6324411-7310-4856-A208-1F161B599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048000"/>
            <a:ext cx="16573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Рассчитать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B526364-6B84-492A-8AB5-26E7B45CD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3638550"/>
            <a:ext cx="16573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27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commit · rollback</a:t>
            </a:r>
          </a:p>
        </p:txBody>
      </p:sp>
      <p:cxnSp>
        <p:nvCxnSpPr>
          <p:cNvPr id="63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2438400" y="32766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64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4781550" y="32766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65" name=""/>
          <p:cNvCxnSpPr>
            <a:stCxn xmlns:a="http://schemas.openxmlformats.org/drawingml/2006/main" id="14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7124700" y="32766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66D"/>
            </a:solidFill>
            <a:prstDash val="solid"/>
            <a:tailEnd type="triangle" w="sm" len="sm"/>
          </a:ln>
        </p:spPr>
      </p:cxnSp>
      <p:cxnSp>
        <p:nvCxnSpPr>
          <p:cNvPr id="66" name=""/>
          <p:cNvCxnSpPr>
            <a:stCxn xmlns:a="http://schemas.openxmlformats.org/drawingml/2006/main" id="18" idx="3"/>
            <a:endCxn xmlns:a="http://schemas.openxmlformats.org/drawingml/2006/main" id="22" idx="1"/>
          </p:cNvCxnSpPr>
          <p:nvPr/>
        </p:nvCxnSpPr>
        <p:spPr>
          <a:xfrm xmlns:a="http://schemas.openxmlformats.org/drawingml/2006/main">
            <a:off x="9467850" y="3276600"/>
            <a:ext cx="4191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16866D"/>
            </a:solidFill>
            <a:prstDash val="solid"/>
            <a:tailEnd type="triangle" w="sm" len="sm"/>
          </a:ln>
        </p:spPr>
      </p:cxn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2A97985-D761-4618-B139-B0E474A8C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4762500"/>
            <a:ext cx="3619500" cy="10287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B94742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4C3DD1-BB88-49AB-BD3E-9771E0564F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4914900"/>
            <a:ext cx="31242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B94742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B94742"/>
                </a:solidFill>
                <a:latin typeface="Noto Sans"/>
                <a:ea typeface="Noto Sans"/>
                <a:cs typeface="Noto Sans"/>
              </a:rPr>
              <a:t>rejected / expired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14244E6-F8E5-4182-9AFA-8D248D5B3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525780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освободить резерв</a:t>
            </a:r>
          </a:p>
          <a:p xmlns:a="http://schemas.openxmlformats.org/drawingml/2006/main">
            <a:pPr algn="ctr">
              <a:defRPr sz="1350" b="0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и пересчитать оставшихся</a:t>
            </a:r>
          </a:p>
        </p:txBody>
      </p:sp>
      <p:cxnSp>
        <p:nvCxnSpPr>
          <p:cNvPr id="70" name=""/>
          <p:cNvCxnSpPr>
            <a:stCxn xmlns:a="http://schemas.openxmlformats.org/drawingml/2006/main" id="22" idx="2"/>
            <a:endCxn xmlns:a="http://schemas.openxmlformats.org/drawingml/2006/main" id="30" idx="3"/>
          </p:cNvCxnSpPr>
          <p:nvPr/>
        </p:nvCxnSpPr>
        <p:spPr>
          <a:xfrm xmlns:a="http://schemas.openxmlformats.org/drawingml/2006/main" flipH="1">
            <a:off x="8039100" y="4076700"/>
            <a:ext cx="2809875" cy="1200150"/>
          </a:xfrm>
          <a:prstGeom xmlns:a="http://schemas.openxmlformats.org/drawingml/2006/main" prst="bentConnector5">
            <a:avLst>
              <a:gd name="adj1" fmla="val 0"/>
              <a:gd name="adj2" fmla="val 19048"/>
              <a:gd name="adj3" fmla="val 91864"/>
            </a:avLst>
          </a:prstGeom>
          <a:ln xmlns:a="http://schemas.openxmlformats.org/drawingml/2006/main" w="28575">
            <a:solidFill>
              <a:srgbClr val="B94742"/>
            </a:solidFill>
            <a:prstDash val="solid"/>
            <a:tailEnd type="triangle" w="sm" len="sm"/>
          </a:ln>
        </p:spPr>
      </p:cxnSp>
      <p:cxnSp>
        <p:nvCxnSpPr>
          <p:cNvPr id="71" name=""/>
          <p:cNvCxnSpPr>
            <a:stCxn xmlns:a="http://schemas.openxmlformats.org/drawingml/2006/main" id="30" idx="1"/>
            <a:endCxn xmlns:a="http://schemas.openxmlformats.org/drawingml/2006/main" id="10" idx="2"/>
          </p:cNvCxnSpPr>
          <p:nvPr/>
        </p:nvCxnSpPr>
        <p:spPr>
          <a:xfrm xmlns:a="http://schemas.openxmlformats.org/drawingml/2006/main" flipH="1" flipV="1">
            <a:off x="3819525" y="4076700"/>
            <a:ext cx="600075" cy="1200150"/>
          </a:xfrm>
          <a:prstGeom xmlns:a="http://schemas.openxmlformats.org/drawingml/2006/main" prst="bentConnector2">
            <a:avLst/>
          </a:prstGeom>
          <a:ln xmlns:a="http://schemas.openxmlformats.org/drawingml/2006/main" w="28575">
            <a:solidFill>
              <a:srgbClr val="B94742"/>
            </a:solidFill>
            <a:prstDash val="solid"/>
            <a:tailEnd type="triangle" w="sm" len="sm"/>
          </a:ln>
        </p:spPr>
      </p:cxn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B7FD3571-A967-439D-B719-4B58ACD4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493395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68A22"/>
                </a:solidFill>
                <a:latin typeface="Noto Sans"/>
                <a:ea typeface="Noto Sans"/>
                <a:cs typeface="Noto Sans"/>
              </a:defRPr>
            </a:pPr>
            <a:r>
              <a:rPr sz="1575" b="1">
                <a:solidFill>
                  <a:srgbClr val="D68A22"/>
                </a:solidFill>
                <a:latin typeface="Noto Sans"/>
                <a:ea typeface="Noto Sans"/>
                <a:cs typeface="Noto Sans"/>
              </a:rPr>
              <a:t>Внешний пул исчерпан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544D7E3-F806-46C2-BE0D-00923A92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5276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fallback → spacepayments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E647362-2505-4CC1-912E-9A7427E69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4150" y="6115050"/>
            <a:ext cx="6743700" cy="381000"/>
          </a:xfrm>
          <a:prstGeom xmlns:a="http://schemas.openxmlformats.org/drawingml/2006/main" prst="roundRect">
            <a:avLst>
              <a:gd name="adj" fmla="val 45000"/>
            </a:avLst>
          </a:prstGeom>
          <a:solidFill xmlns:a="http://schemas.openxmlformats.org/drawingml/2006/main">
            <a:srgbClr val="0B2D2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500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state_before · state_reserved · state_after</a:t>
            </a:r>
          </a:p>
        </p:txBody>
      </p:sp>
    </p:spTree>
    <p:extLst>
      <p:ext uri="{BB962C8B-B14F-4D97-AF65-F5344CB8AC3E}">
        <p14:creationId xmlns:p14="http://schemas.microsoft.com/office/powerpoint/2010/main" val="131080885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1A7BC98-A472-4D74-BB25-2509E36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ДОКАЗАТЕЛЬСТВО ВЫБОРА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C4D7B4-1BB6-41B5-A30A-1EB9AA1EE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667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04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1DED06-95C4-4E9E-9C54-BCA18066F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Почему Quickpay выбран для op_109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ADFE05-14BE-42B0-92BB-FE228FF39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Payflow отсеивается по банку. Quickpay и Vipay решают конфликт десяти факторов.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DF0D63C-2C87-4472-B64F-C7239754C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32C61B-5141-4313-9BB3-17BED6CF6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76450"/>
            <a:ext cx="2857500" cy="1504950"/>
          </a:xfrm>
          <a:prstGeom xmlns:a="http://schemas.openxmlformats.org/drawingml/2006/main" prst="roundRect">
            <a:avLst>
              <a:gd name="adj" fmla="val 11392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9525">
            <a:solidFill>
              <a:srgbClr val="B9474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7A3486-584B-4E0B-B738-BD1793A2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343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94742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B94742"/>
                </a:solidFill>
                <a:latin typeface="Noto Sans"/>
                <a:ea typeface="Noto Sans"/>
                <a:cs typeface="Noto Sans"/>
              </a:rPr>
              <a:t>PAYFLOW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EDAFE9C-9BE3-4B1A-B7BE-C3BB74952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2686050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Исключён до</a:t>
            </a:r>
          </a:p>
          <a:p xmlns:a="http://schemas.openxmlformats.org/drawingml/2006/main">
            <a:pPr algn="l">
              <a:def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scoring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E092B4C-08F9-445D-AD5B-CCCF35309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3257550"/>
            <a:ext cx="2381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bank_not_in_list · VTB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FC6E374-0BE3-40BA-8885-C613C3E7F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076450"/>
            <a:ext cx="3676650" cy="1504950"/>
          </a:xfrm>
          <a:prstGeom xmlns:a="http://schemas.openxmlformats.org/drawingml/2006/main" prst="roundRect">
            <a:avLst>
              <a:gd name="adj" fmla="val 11392"/>
            </a:avLst>
          </a:prstGeom>
          <a:solidFill xmlns:a="http://schemas.openxmlformats.org/drawingml/2006/main">
            <a:srgbClr val="C9F1E4"/>
          </a:solidFill>
          <a:ln xmlns:a="http://schemas.openxmlformats.org/drawingml/2006/main" w="19050">
            <a:solidFill>
              <a:srgbClr val="16866D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1B6A24-09EA-4044-AA18-A175F5CF1F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343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QUICKPAY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5E6790-C31E-4811-9DD4-C777E0E30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272415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0B2D24"/>
                </a:solidFill>
                <a:latin typeface="Noto Sans"/>
                <a:ea typeface="Noto Sans"/>
                <a:cs typeface="Noto Sans"/>
              </a:defRPr>
            </a:pPr>
            <a:r>
              <a:rPr sz="2850" b="1">
                <a:solidFill>
                  <a:srgbClr val="0B2D24"/>
                </a:solidFill>
                <a:latin typeface="Noto Sans"/>
                <a:ea typeface="Noto Sans"/>
                <a:cs typeface="Noto Sans"/>
              </a:rPr>
              <a:t>1.574225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B6F4496-A4B5-44ED-9E8D-E1485F746E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32385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выбран · approved · 20 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4CF06-45E8-4791-9573-47DB607F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076450"/>
            <a:ext cx="3752850" cy="1504950"/>
          </a:xfrm>
          <a:prstGeom xmlns:a="http://schemas.openxmlformats.org/drawingml/2006/main" prst="roundRect">
            <a:avLst>
              <a:gd name="adj" fmla="val 113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F33B807-E0AD-4059-B53C-BD2585A13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34315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315A6A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315A6A"/>
                </a:solidFill>
                <a:latin typeface="Noto Sans"/>
                <a:ea typeface="Noto Sans"/>
                <a:cs typeface="Noto Sans"/>
              </a:rPr>
              <a:t>VIPAY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49DDA7-5148-41D5-880B-43336A404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2724150"/>
            <a:ext cx="32194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8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28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1.533247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470C5EE-C3C6-441B-A930-5B0A3E361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3238500"/>
            <a:ext cx="32194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425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допустим · ниже на 0,040978</a:t>
            </a:r>
          </a:p>
        </p:txBody>
      </p:sp>
      <p:graphicFrame>
        <p:nvGraphicFramePr>
          <p:cNvPr id="37" name=""/>
          <p:cNvGraphicFramePr/>
          <p:nvPr/>
        </p:nvGraphicFramePr>
        <p:xfrm>
          <a:off xmlns:a="http://schemas.openxmlformats.org/drawingml/2006/main" x="609600" y="3829050"/>
          <a:ext xmlns:a="http://schemas.openxmlformats.org/drawingml/2006/main" cx="10934700" cy="20193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000500"/>
                <a:gridCol w="2047875"/>
                <a:gridCol w="2047875"/>
                <a:gridCol w="2838450"/>
              </a:tblGrid>
              <a:tr h="403860"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Группа вкладов</a:t>
                      </a:r>
                    </a:p>
                  </a:txBody>
                  <a:tcPr marL="95250" marR="95250" marT="76200" marB="76200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Quickpay</a:t>
                      </a:r>
                    </a:p>
                  </a:txBody>
                  <a:tcPr marL="95250" marR="95250" marT="76200" marB="76200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95250" marR="95250" marT="76200" marB="76200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Чьё преимущество</a:t>
                      </a:r>
                    </a:p>
                  </a:txBody>
                  <a:tcPr marL="95250" marR="95250" marT="76200" marB="76200" anchor="ctr">
                    <a:solidFill>
                      <a:srgbClr val="0B2D24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Целевые доли count + volume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−0,19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+0,03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Качество + priority + capacity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+2,08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+2,79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Vipay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Штрафы load + latency + cost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−0,32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−1,29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Quickpay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</a:tr>
              <a:tr h="403860">
                <a:tc>
                  <a:txBody>
                    <a:bodyPr/>
                    <a:lstStyle/>
                    <a:p>
                      <a:pPr algn="l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Итоговая взвешенная оценка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16866D"/>
                          </a:solidFill>
                          <a:latin typeface="Noto Sans"/>
                          <a:ea typeface="Noto Sans"/>
                          <a:cs typeface="Noto Sans"/>
                        </a:rPr>
                        <a:t>1,574225</a:t>
                      </a:r>
                    </a:p>
                  </a:txBody>
                  <a:tcPr marL="95250" marR="95250" marT="66675" marB="66675" anchor="ctr">
                    <a:solidFill>
                      <a:srgbClr val="C9F1E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1,533247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75" b="1">
                          <a:solidFill>
                            <a:srgbClr val="16866D"/>
                          </a:solidFill>
                          <a:latin typeface="Noto Sans"/>
                          <a:ea typeface="Noto Sans"/>
                          <a:cs typeface="Noto Sans"/>
                        </a:rPr>
                        <a:t>Quickpay</a:t>
                      </a:r>
                    </a:p>
                  </a:txBody>
                  <a:tcPr marL="95250" marR="95250" marT="66675" marB="66675" anchor="ctr">
                    <a:solidFill>
                      <a:srgbClr val="C9F1E4"/>
                    </a:solidFill>
                  </a:tcPr>
                </a:tc>
              </a:tr>
            </a:tbl>
          </a:graphicData>
        </a:graphic>
      </p:graphicFrame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20B3EA-24AF-4326-B6F0-1FBC5CE1C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115050"/>
            <a:ext cx="10896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Quickpay проигрывает по конверсии и priority, но выигрывает более низкими операционными штрафами.</a:t>
            </a:r>
          </a:p>
        </p:txBody>
      </p:sp>
    </p:spTree>
    <p:extLst>
      <p:ext uri="{BB962C8B-B14F-4D97-AF65-F5344CB8AC3E}">
        <p14:creationId xmlns:p14="http://schemas.microsoft.com/office/powerpoint/2010/main" val="108403889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A66F80F-BC46-45CA-A5C7-96E3423A2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ОТКАЗОУСТОЙЧИВОСТЬ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1A2D764-3A21-4BD8-A8AA-854A89DB2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667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05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D8A62-A870-410D-ABE6-FACF44A9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Три попытки завершают op_101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16F690-439E-4E27-9D3D-AB75F0D96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Два сбоя освобождают ресурсы. Третий провайдер одобряет выплату.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0180B5-2DE9-4C85-9C65-EF4A2C159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5D30159-67F1-4DB7-A8C3-95D3DC9F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90750"/>
            <a:ext cx="310515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BE8E6"/>
          </a:solidFill>
          <a:ln xmlns:a="http://schemas.openxmlformats.org/drawingml/2006/main" w="19050">
            <a:solidFill>
              <a:srgbClr val="B94742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F724DB-0F25-4656-83B7-0CC5B926F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3812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B94742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B94742"/>
                </a:solidFill>
                <a:latin typeface="Noto Sans"/>
                <a:ea typeface="Noto Sans"/>
                <a:cs typeface="Noto Sans"/>
              </a:rPr>
              <a:t>ПОПЫТКА 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B840F-A791-4718-A03F-91291F703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0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vipay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2E5582D-5440-49D3-91FE-686895B1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76575"/>
            <a:ext cx="2647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B94742"/>
                </a:solidFill>
                <a:latin typeface="Noto Sans"/>
                <a:ea typeface="Noto Sans"/>
                <a:cs typeface="Noto Sans"/>
              </a:defRPr>
            </a:pPr>
            <a:r>
              <a:rPr sz="1575" b="1">
                <a:solidFill>
                  <a:srgbClr val="B94742"/>
                </a:solidFill>
                <a:latin typeface="Noto Sans"/>
                <a:ea typeface="Noto Sans"/>
                <a:cs typeface="Noto Sans"/>
              </a:rPr>
              <a:t>rejected · 5 с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4B97D3C-83B3-439E-AEA7-5E48D84BC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190750"/>
            <a:ext cx="310515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FFF0D7"/>
          </a:solidFill>
          <a:ln xmlns:a="http://schemas.openxmlformats.org/drawingml/2006/main" w="19050">
            <a:solidFill>
              <a:srgbClr val="D68A2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45A4034-4824-46A7-83AF-2110C5A43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3812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D68A22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D68A22"/>
                </a:solidFill>
                <a:latin typeface="Noto Sans"/>
                <a:ea typeface="Noto Sans"/>
                <a:cs typeface="Noto Sans"/>
              </a:rPr>
              <a:t>ПОПЫТКА 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61A0EA-3860-4949-B7B5-2F785AAF3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270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payflow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806937-211D-4ECC-801E-756CD79DA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00600" y="3076575"/>
            <a:ext cx="2647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D68A22"/>
                </a:solidFill>
                <a:latin typeface="Noto Sans"/>
                <a:ea typeface="Noto Sans"/>
                <a:cs typeface="Noto Sans"/>
              </a:defRPr>
            </a:pPr>
            <a:r>
              <a:rPr sz="1575" b="1">
                <a:solidFill>
                  <a:srgbClr val="D68A22"/>
                </a:solidFill>
                <a:latin typeface="Noto Sans"/>
                <a:ea typeface="Noto Sans"/>
                <a:cs typeface="Noto Sans"/>
              </a:rPr>
              <a:t>expired · 20 с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E0FAED1-BBAC-47DF-AFE3-C9864E8C0B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2190750"/>
            <a:ext cx="3105150" cy="1200150"/>
          </a:xfrm>
          <a:prstGeom xmlns:a="http://schemas.openxmlformats.org/drawingml/2006/main" prst="roundRect">
            <a:avLst>
              <a:gd name="adj" fmla="val 14286"/>
            </a:avLst>
          </a:prstGeom>
          <a:solidFill xmlns:a="http://schemas.openxmlformats.org/drawingml/2006/main">
            <a:srgbClr val="C9F1E4"/>
          </a:solidFill>
          <a:ln xmlns:a="http://schemas.openxmlformats.org/drawingml/2006/main" w="19050">
            <a:solidFill>
              <a:srgbClr val="16866D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5470BCD-ACE9-44BE-B2D1-D5FD29B82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381250"/>
            <a:ext cx="1676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ПОПЫТКА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5FF5BE1-346D-46E1-9C4B-B6F6A30C1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70510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2025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quickpay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EF18133-E641-4048-98FF-1EE0D6C10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3076575"/>
            <a:ext cx="26479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57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approved · 25 с</a:t>
            </a:r>
          </a:p>
        </p:txBody>
      </p:sp>
      <p:cxnSp>
        <p:nvCxnSpPr>
          <p:cNvPr id="44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848100" y="2790825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B94742"/>
            </a:solidFill>
            <a:prstDash val="solid"/>
            <a:tailEnd type="triangle" w="sm" len="sm"/>
          </a:ln>
        </p:spPr>
      </p:cxnSp>
      <p:cxnSp>
        <p:nvCxnSpPr>
          <p:cNvPr id="45" name=""/>
          <p:cNvCxnSpPr>
            <a:stCxn xmlns:a="http://schemas.openxmlformats.org/drawingml/2006/main" id="10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7696200" y="2790825"/>
            <a:ext cx="7429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D68A22"/>
            </a:solidFill>
            <a:prstDash val="solid"/>
            <a:tailEnd type="triangle" w="sm" len="sm"/>
          </a:ln>
        </p:spPr>
      </p:cxnSp>
      <p:graphicFrame>
        <p:nvGraphicFramePr>
          <p:cNvPr id="46" name=""/>
          <p:cNvGraphicFramePr/>
          <p:nvPr/>
        </p:nvGraphicFramePr>
        <p:xfrm>
          <a:off xmlns:a="http://schemas.openxmlformats.org/drawingml/2006/main" x="742950" y="3810000"/>
          <a:ext xmlns:a="http://schemas.openxmlformats.org/drawingml/2006/main" cx="752475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952750"/>
                <a:gridCol w="1524000"/>
                <a:gridCol w="1524000"/>
                <a:gridCol w="1524000"/>
              </a:tblGrid>
              <a:tr h="419100"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Резерв Vipay</a:t>
                      </a:r>
                    </a:p>
                  </a:txBody>
                  <a:tcPr marL="95250" marR="95250" marT="76200" marB="76200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До</a:t>
                      </a:r>
                    </a:p>
                  </a:txBody>
                  <a:tcPr marL="95250" marR="95250" marT="76200" marB="76200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Резерв</a:t>
                      </a:r>
                    </a:p>
                  </a:txBody>
                  <a:tcPr marL="95250" marR="95250" marT="76200" marB="76200" anchor="ctr">
                    <a:solidFill>
                      <a:srgbClr val="0B2D2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  <a:latin typeface="Noto Sans"/>
                          <a:ea typeface="Noto Sans"/>
                          <a:cs typeface="Noto Sans"/>
                        </a:rPr>
                        <a:t>После отказа</a:t>
                      </a:r>
                    </a:p>
                  </a:txBody>
                  <a:tcPr marL="95250" marR="95250" marT="76200" marB="76200" anchor="ctr">
                    <a:solidFill>
                      <a:srgbClr val="0B2D24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Незавершённые операции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4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5</a:t>
                      </a:r>
                    </a:p>
                  </a:txBody>
                  <a:tcPr marL="95250" marR="95250" marT="66675" marB="66675" anchor="ctr">
                    <a:solidFill>
                      <a:srgbClr val="FB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4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Незавершённая сумма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380000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395000</a:t>
                      </a:r>
                    </a:p>
                  </a:txBody>
                  <a:tcPr marL="95250" marR="95250" marT="66675" marB="66675" anchor="ctr">
                    <a:solidFill>
                      <a:srgbClr val="FB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380000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Доступные реквизиты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12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11</a:t>
                      </a:r>
                    </a:p>
                  </a:txBody>
                  <a:tcPr marL="95250" marR="95250" marT="66675" marB="66675" anchor="ctr">
                    <a:solidFill>
                      <a:srgbClr val="FB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12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Одобрено за день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95250" marR="95250" marT="66675" marB="66675" anchor="ctr">
                    <a:solidFill>
                      <a:srgbClr val="FBE8E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15352E"/>
                          </a:solidFill>
                          <a:latin typeface="Noto Sans"/>
                          <a:ea typeface="Noto Sans"/>
                          <a:cs typeface="Noto Sans"/>
                        </a:rPr>
                        <a:t>3200000</a:t>
                      </a:r>
                    </a:p>
                  </a:txBody>
                  <a:tcPr marL="95250" marR="95250" marT="66675" marB="66675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11209DB-97C5-4A67-8D43-13DBC6AF98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810000"/>
            <a:ext cx="2857500" cy="2095500"/>
          </a:xfrm>
          <a:prstGeom xmlns:a="http://schemas.openxmlformats.org/drawingml/2006/main" prst="roundRect">
            <a:avLst>
              <a:gd name="adj" fmla="val 8182"/>
            </a:avLst>
          </a:prstGeom>
          <a:solidFill xmlns:a="http://schemas.openxmlformats.org/drawingml/2006/main">
            <a:srgbClr val="0B2D24"/>
          </a:solidFill>
          <a:ln xmlns:a="http://schemas.openxmlformats.org/drawingml/2006/main" w="0">
            <a:solidFill>
              <a:srgbClr val="0B2D2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47414F2-4CB3-4BFE-9AEB-40440DCADE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067175"/>
            <a:ext cx="23241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375" b="1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3375" b="1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50 с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9DD05D-2056-4ADC-9107-049879B8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4648200"/>
            <a:ext cx="2324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суммарная задержка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9083A0-8F91-4F0C-B700-E10D2E6DD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0" y="5124450"/>
            <a:ext cx="2133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54786E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7558A2-6BCD-45E6-80A1-3283F5B81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286375"/>
            <a:ext cx="232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725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100% восстановление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E87C-8F25-4388-8122-442CEC1F3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91250"/>
            <a:ext cx="10839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D68A22"/>
                </a:solidFill>
                <a:latin typeface="Noto Sans"/>
                <a:ea typeface="Noto Sans"/>
                <a:cs typeface="Noto Sans"/>
              </a:defRPr>
            </a:pPr>
            <a:r>
              <a:rPr sz="1575" b="1">
                <a:solidFill>
                  <a:srgbClr val="D68A22"/>
                </a:solidFill>
                <a:latin typeface="Noto Sans"/>
                <a:ea typeface="Noto Sans"/>
                <a:cs typeface="Noto Sans"/>
              </a:rPr>
              <a:t>op_103: Quickpay expired → SpacePayments approved</a:t>
            </a:r>
          </a:p>
        </p:txBody>
      </p:sp>
    </p:spTree>
    <p:extLst>
      <p:ext uri="{BB962C8B-B14F-4D97-AF65-F5344CB8AC3E}">
        <p14:creationId xmlns:p14="http://schemas.microsoft.com/office/powerpoint/2010/main" val="89199013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62ADC4C-8BFF-4F54-8F7C-FF9A7D7B7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POLICY LAB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3B6D7B-26DA-415C-B009-BB46BF5EE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667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06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84E969-24FE-4DED-9885-24353C6E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Цена изменения политики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917F29-0954-4C8C-A2DE-7C27538CB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Одинаковая очередь и approve_all изолируют влияние весов. Рекомендация тоже проходит replay.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E6ADDB-1B86-428F-9B7A-62F0876D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495300" y="2114550"/>
          <a:ext xmlns:a="http://schemas.openxmlformats.org/drawingml/2006/main" cx="733425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035c1291bcf4b73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98DB03C-AD5F-4514-B7FB-61894F659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2114550"/>
            <a:ext cx="3390900" cy="3714750"/>
          </a:xfrm>
          <a:prstGeom xmlns:a="http://schemas.openxmlformats.org/drawingml/2006/main" prst="roundRect">
            <a:avLst>
              <a:gd name="adj" fmla="val 50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81901BD-0329-4591-A795-923706AC7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343150"/>
            <a:ext cx="2895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B94742"/>
                </a:solidFill>
                <a:latin typeface="Noto Sans"/>
                <a:ea typeface="Noto Sans"/>
                <a:cs typeface="Noto Sans"/>
              </a:defRPr>
            </a:pPr>
            <a:r>
              <a:rPr sz="1425" b="1">
                <a:solidFill>
                  <a:srgbClr val="B94742"/>
                </a:solidFill>
                <a:latin typeface="Noto Sans"/>
                <a:ea typeface="Noto Sans"/>
                <a:cs typeface="Noto Sans"/>
              </a:rPr>
              <a:t>РЕКОМЕНДАЦИЯ ДЛЯ PAYFLOW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8AF0737-F191-4971-A96C-D6F49F881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819400"/>
            <a:ext cx="28956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175" b="1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2175" b="1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40 / 35 / 25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8645992-85B7-4A06-8C2C-8FBED7BED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238500"/>
            <a:ext cx="95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40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E6A08E-8D5A-424A-B971-2E8BD4374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3619500"/>
            <a:ext cx="2895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2325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40 / 10 / 50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0EEF7A8-9E58-4EA4-A470-937E04858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4067175"/>
            <a:ext cx="2895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Vipay · Payflow · Quickpay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AF952F-B672-4F39-BBF2-38DDB3B6D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33900"/>
            <a:ext cx="28194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1BAC873-8FB4-43B4-8014-91F99FAC8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4705350"/>
            <a:ext cx="1200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Payflow util.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64EAE2-E73B-4930-B596-632F3533B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863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99.63% → 98.03%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1EA97F-8D0E-44CF-A429-D1C240F52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067300"/>
            <a:ext cx="1200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Count error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14D71BA-99A3-4E48-8AD6-90D28D5BF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04825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30 → 20 п.п.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0CA01BB-D1CD-486C-8D1B-5D0B6521F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5429250"/>
            <a:ext cx="1200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Volume error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758E1AF-ECAF-4C86-A46E-A115D7EBB1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5410200"/>
            <a:ext cx="16573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D68A22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D68A22"/>
                </a:solidFill>
                <a:latin typeface="Noto Sans"/>
                <a:ea typeface="Noto Sans"/>
                <a:cs typeface="Noto Sans"/>
              </a:rPr>
              <a:t>56.27 → 81.15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2AF85F-D9A8-4647-94DE-1A603439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6153150"/>
            <a:ext cx="10572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Меньше риска по ёмкости, но хуже баланс объёма. Компромисс виден до применения.</a:t>
            </a:r>
          </a:p>
        </p:txBody>
      </p:sp>
    </p:spTree>
    <p:extLst>
      <p:ext uri="{BB962C8B-B14F-4D97-AF65-F5344CB8AC3E}">
        <p14:creationId xmlns:p14="http://schemas.microsoft.com/office/powerpoint/2010/main" val="49756155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CF8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1045BA-E905-413D-BBFE-EFE79083A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66700"/>
            <a:ext cx="4000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ПРОВЕРКА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D4B49F-5FD5-4F5B-B6A0-63B56CC084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3250" y="266700"/>
            <a:ext cx="781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350" b="1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07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AA8637E-ED0A-41E1-8F57-EB0431597D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85800"/>
            <a:ext cx="109347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4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Решение можно проверить за пять минут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13D677-AC8D-4B48-A118-60E84DEC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323975"/>
            <a:ext cx="1066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8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Без сервиса, базы данных, API-ключей и сетевого подключения.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DAC377-384A-4BFC-B985-2DE8471D2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21AE08-44EE-423C-BD4F-7D96F1C98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3431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1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29 / 0 / 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F35DCC-056F-4792-9C34-EFC0B4AD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480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валидатор</a:t>
            </a:r>
          </a:p>
          <a:p xmlns:a="http://schemas.openxmlformats.org/drawingml/2006/main">
            <a:pPr algn="ctr">
              <a:def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пройдено · ошибок · предупреждений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A4935C-6D44-40F1-98FC-0B58245B6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43150"/>
            <a:ext cx="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57C7F4E-6321-4D0A-A656-8FEC60CEA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23431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1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81 / 378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DC2071E-5FF4-4C97-9D05-F63C3A3FA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6150" y="30480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тесты</a:t>
            </a:r>
          </a:p>
          <a:p xmlns:a="http://schemas.openxmlformats.org/drawingml/2006/main">
            <a:pPr algn="ctr">
              <a:def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запуски · проверки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06406F-409F-4928-AD50-DD50EEA9E1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34100" y="2343150"/>
            <a:ext cx="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D870202-C6AB-42EB-BCE7-FB85BB643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23431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5352E"/>
                </a:solidFill>
                <a:latin typeface="Noto Sans"/>
                <a:ea typeface="Noto Sans"/>
                <a:cs typeface="Noto Sans"/>
              </a:defRPr>
            </a:pPr>
            <a:r>
              <a:rPr sz="3150" b="1">
                <a:solidFill>
                  <a:srgbClr val="15352E"/>
                </a:solidFill>
                <a:latin typeface="Noto Sans"/>
                <a:ea typeface="Noto Sans"/>
                <a:cs typeface="Noto Sans"/>
              </a:rPr>
              <a:t>10 из 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F05866-D7F4-49A9-9910-77534E2D5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30480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публичная очередь</a:t>
            </a:r>
          </a:p>
          <a:p xmlns:a="http://schemas.openxmlformats.org/drawingml/2006/main">
            <a:pPr algn="ctr">
              <a:def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операции покрыты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0B7D5D-6D0F-4CF9-BA4F-98C0C7050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343150"/>
            <a:ext cx="0" cy="1428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7D8D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129CE06-CD3B-4A89-A61D-11B35C952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43150"/>
            <a:ext cx="2381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31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100%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95747FB-2C6A-49FE-A372-F74A98E61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048000"/>
            <a:ext cx="23812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resilience demo</a:t>
            </a:r>
          </a:p>
          <a:p xmlns:a="http://schemas.openxmlformats.org/drawingml/2006/main">
            <a:pPr algn="ctr">
              <a:def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defRPr>
            </a:pPr>
            <a:r>
              <a:rPr sz="1500" b="0">
                <a:solidFill>
                  <a:srgbClr val="60726C"/>
                </a:solidFill>
                <a:latin typeface="Noto Sans"/>
                <a:ea typeface="Noto Sans"/>
                <a:cs typeface="Noto Sans"/>
              </a:rPr>
              <a:t>восстановление после сбоев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79435F-DCB5-4F6D-937F-44CB416E71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34700" cy="142875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B2D24"/>
          </a:solidFill>
          <a:ln xmlns:a="http://schemas.openxmlformats.org/drawingml/2006/main" w="0">
            <a:solidFill>
              <a:srgbClr val="0B2D24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4693E7-7E07-4A03-9BD8-2E719BD2D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5339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ruby bin/route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6ADB89-E600-41B4-9B95-F57378D6E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91490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ruby scripts/validate_10.rb routing_decisions.json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DA8D0DB-FC5D-49EA-A75C-DB60D7030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5339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C9F1E4"/>
                </a:solidFill>
                <a:latin typeface="Noto Sans"/>
                <a:ea typeface="Noto Sans"/>
                <a:cs typeface="Noto Sans"/>
              </a:defRPr>
            </a:pPr>
            <a:r>
              <a:rPr sz="1800" b="1">
                <a:solidFill>
                  <a:srgbClr val="C9F1E4"/>
                </a:solidFill>
                <a:latin typeface="Noto Sans"/>
                <a:ea typeface="Noto Sans"/>
                <a:cs typeface="Noto Sans"/>
              </a:rPr>
              <a:t>ruby bin/build_demo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EE21101-9DB3-47F0-8A39-221C386DF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4914900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l">
              <a:defRPr sz="1725" b="0">
                <a:solidFill>
                  <a:srgbClr val="FFFFFF"/>
                </a:solidFill>
                <a:latin typeface="Noto Sans"/>
                <a:ea typeface="Noto Sans"/>
                <a:cs typeface="Noto Sans"/>
              </a:defRPr>
            </a:pPr>
            <a:r>
              <a:rPr sz="1725" b="0">
                <a:solidFill>
                  <a:srgbClr val="FFFFFF"/>
                </a:solidFill>
                <a:latin typeface="Noto Sans"/>
                <a:ea typeface="Noto Sans"/>
                <a:cs typeface="Noto Sans"/>
              </a:rPr>
              <a:t>открыть demo/resilience_observatory.html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E4AFB75-2DC1-45DC-A104-B8B84737B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10820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6866D"/>
                </a:solidFill>
                <a:latin typeface="Noto Sans"/>
                <a:ea typeface="Noto Sans"/>
                <a:cs typeface="Noto Sans"/>
              </a:defRPr>
            </a:pPr>
            <a:r>
              <a:rPr sz="1650" b="1">
                <a:solidFill>
                  <a:srgbClr val="16866D"/>
                </a:solidFill>
                <a:latin typeface="Noto Sans"/>
                <a:ea typeface="Noto Sans"/>
                <a:cs typeface="Noto Sans"/>
              </a:rPr>
              <a:t>Главный путь по коду: router.rb → eligibility/rules.rb → scoring/policy.rb → provider_state.rb</a:t>
            </a:r>
          </a:p>
        </p:txBody>
      </p:sp>
    </p:spTree>
    <p:extLst>
      <p:ext uri="{BB962C8B-B14F-4D97-AF65-F5344CB8AC3E}">
        <p14:creationId xmlns:p14="http://schemas.microsoft.com/office/powerpoint/2010/main" val="7097136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2026-09-05T16:49:41.6300000Z</dcterms:created>
  <dcterms:modified xsi:type="dcterms:W3CDTF">2026-09-05T16:49:41.6300000Z</dcterms:modified>
</coreProperties>
</file>