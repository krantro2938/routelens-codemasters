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Ошибка количества</c:v>
          </c:tx>
          <c:spPr>
            <a:solidFill>
              <a:srgbClr val="16866D"/>
            </a:solidFill>
          </c:spPr>
          <c:invertIfNegative val="0"/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'Chart Data'!$A$2:$A$5</c:f>
              <c:strCache>
                <c:ptCount val="4"/>
                <c:pt idx="0">
                  <c:v>Balanced</c:v>
                </c:pt>
                <c:pt idx="1">
                  <c:v>Conversion</c:v>
                </c:pt>
                <c:pt idx="2">
                  <c:v>Cascade</c:v>
                </c:pt>
                <c:pt idx="3">
                  <c:v>Capacity</c:v>
                </c:pt>
              </c:strCache>
            </c:strRef>
          </c:cat>
          <c:val>
            <c:numRef>
              <c:f>'Chart Data'!$B$2:$B$5</c:f>
              <c:numCache>
                <c:formatCode>0.0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10</c:v>
                </c:pt>
                <c:pt idx="3">
                  <c:v>130</c:v>
                </c:pt>
              </c:numCache>
            </c:numRef>
          </c:val>
        </c:ser>
        <c:ser>
          <c:idx val="1"/>
          <c:order val="1"/>
          <c:tx>
            <c:v>Ошибка объёма</c:v>
          </c:tx>
          <c:spPr>
            <a:solidFill>
              <a:srgbClr val="C87912"/>
            </a:solidFill>
          </c:spPr>
          <c:invertIfNegative val="0"/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'Chart Data'!$C$2:$C$5</c:f>
              <c:strCache>
                <c:ptCount val="4"/>
                <c:pt idx="0">
                  <c:v>Balanced</c:v>
                </c:pt>
                <c:pt idx="1">
                  <c:v>Conversion</c:v>
                </c:pt>
                <c:pt idx="2">
                  <c:v>Cascade</c:v>
                </c:pt>
                <c:pt idx="3">
                  <c:v>Capacity</c:v>
                </c:pt>
              </c:strCache>
            </c:strRef>
          </c:cat>
          <c:val>
            <c:numRef>
              <c:f>'Chart Data'!$D$2:$D$5</c:f>
              <c:numCache>
                <c:formatCode>0.0</c:formatCode>
                <c:ptCount val="4"/>
                <c:pt idx="0">
                  <c:v>51.08</c:v>
                </c:pt>
                <c:pt idx="1">
                  <c:v>71.82</c:v>
                </c:pt>
                <c:pt idx="2">
                  <c:v>51.08</c:v>
                </c:pt>
                <c:pt idx="3">
                  <c:v>149.58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BD4CF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160"/>
          <c:min val="0"/>
        </c:scaling>
        <c:delete val="0"/>
        <c:axPos val="l"/>
        <c:majorGridlines>
          <c:spPr>
            <a:ln w="9525">
              <a:solidFill>
                <a:srgbClr val="E0E5E2"/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CBD4CF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125" b="0" i="0" u="none" strike="noStrike" kern="1200" baseline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</a:p>
        </c:txPr>
        <c:crossAx val="48650112"/>
        <c:crosses val="autoZero"/>
        <c:crossBetween val="between"/>
        <c:majorUnit val="40"/>
      </c:valAx>
      <c:spPr>
        <a:solidFill>
          <a:srgbClr val="F7F6F1"/>
        </a:solidFill>
        <a:ln w="0">
          <a:noFill/>
          <a:prstDash val="solid"/>
        </a:ln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en-US" sz="1200" b="0" i="0" u="none" strike="noStrike" kern="1200" baseline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defRPr>
          </a:pPr>
        </a:p>
      </c:txPr>
    </c:legend>
    <c:plotVisOnly val="1"/>
    <c:dispBlanksAs val="gap"/>
    <c:showDLblsOverMax val="0"/>
  </c:chart>
  <c:spPr>
    <a:solidFill>
      <a:srgbClr val="F7F6F1"/>
    </a:solidFill>
    <a:ln w="0">
      <a:noFill/>
      <a:prstDash val="solid"/>
    </a:ln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README.md</a:t>
            </a:r>
          </a:p>
          <a:p>
            <a:r>
              <a:t>RouteLens выбирает лучший допустимый маршрут и сохраняет доказательство каждого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Источники: lib/route_lens/eligibility/rules.rb, lib/route_lens/scoring/policy.rb, config/routing.yml</a:t>
            </a:r>
          </a:p>
          <a:p>
            <a:r>
              <a:t>Положительный traffic_percentage является мягкой целью количества. Ноль отключает обычный внешний маршрут.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Источники: lib/route_lens/router.rb, lib/route_lens/provider_state.rb</a:t>
            </a:r>
          </a:p>
          <a:p>
            <a:r>
              <a:t>После rejected или expired рейтинг не переиспользуется. Оставшиеся кандидаты проходят новый eligibility и новый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routing_decisions.json, операция op_109</a:t>
            </a:r>
          </a:p>
          <a:p>
            <a:r>
              <a:t>Выбран Vipay: 3.4732. Альтернатива Quickpay: -2.746254.</a:t>
            </a:r>
          </a:p>
          <a:p>
            <a:r>
              <a:t>Показаны суммы вкладов из score_breakdown. Итоговые scores берутся из артефакта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Источники: demo/resilience_decisions.json, demo/resilience_report.json</a:t>
            </a:r>
          </a:p>
          <a:p>
            <a:r>
              <a:t>op_101: Vipay expired  ·  Payflow approved. Итоговая задержка 102 c.</a:t>
            </a:r>
          </a:p>
          <a:p>
            <a:r>
              <a:t>op_102: Quickpay expired  ·  Payflow rejected  ·  SpacePayments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demo/policy_comparison.json</a:t>
            </a:r>
          </a:p>
          <a:p>
            <a:r>
              <a:t>Ошибки являются суммой абсолютных отклонений по внешним провайдерам в процентных пунктах.</a:t>
            </a:r>
          </a:p>
          <a:p>
            <a:r>
              <a:t>Replay рекомендации: Payflow 99.63% до 96.69%, count error 10 до 0, volume error 51.08 до 96.7.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Источники: README.md, scripts/validate_10.rb, полный набор test/**/*_test.rb</a:t>
            </a:r>
          </a:p>
          <a:p>
            <a:r>
              <a:t>Финал: решение воспроизводимо, объяснимо и имеет отдельный релизный путь для скрытой очереди.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2E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1" name="Rectangles 20"/>
          <p:cNvSpPr>
            <a:spLocks noGrp="1"/>
          </p:cNvSpPr>
          <p:nvPr/>
        </p:nvSpPr>
        <p:spPr>
          <a:xfrm>
            <a:off x="609600" y="4000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75" b="1">
                <a:solidFill>
                  <a:srgbClr val="C9F1E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1">
                <a:solidFill>
                  <a:srgbClr val="C9F1E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CODEMASTERS</a:t>
            </a:r>
            <a:endParaRPr sz="1275" b="1">
              <a:solidFill>
                <a:srgbClr val="C9F1E4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" name="Rectangles 1"/>
          <p:cNvSpPr>
            <a:spLocks noGrp="1"/>
          </p:cNvSpPr>
          <p:nvPr/>
        </p:nvSpPr>
        <p:spPr>
          <a:xfrm>
            <a:off x="609600" y="1333500"/>
            <a:ext cx="6572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5100" b="0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5100" b="0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RouteLens</a:t>
            </a:r>
            <a:endParaRPr sz="5100" b="0">
              <a:solidFill>
                <a:srgbClr val="FFFFF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3" name="Rectangles 2"/>
          <p:cNvSpPr>
            <a:spLocks noGrp="1"/>
          </p:cNvSpPr>
          <p:nvPr/>
        </p:nvSpPr>
        <p:spPr>
          <a:xfrm>
            <a:off x="647700" y="2238375"/>
            <a:ext cx="6191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2325" b="0">
                <a:solidFill>
                  <a:srgbClr val="C9F1E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325" b="0">
                <a:solidFill>
                  <a:srgbClr val="C9F1E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Объяснимый роутинг выплат</a:t>
            </a:r>
            <a:endParaRPr sz="2325" b="0">
              <a:solidFill>
                <a:srgbClr val="C9F1E4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4" name="Rectangles 3"/>
          <p:cNvSpPr>
            <a:spLocks noGrp="1"/>
          </p:cNvSpPr>
          <p:nvPr/>
        </p:nvSpPr>
        <p:spPr>
          <a:xfrm>
            <a:off x="647700" y="3352800"/>
            <a:ext cx="6191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950" b="0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950" b="0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Сначала допустимость. Затем оптимизация.</a:t>
            </a:r>
            <a:endParaRPr sz="1950" b="0">
              <a:solidFill>
                <a:srgbClr val="FFFFF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l">
              <a:defRPr sz="1950" b="0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950" b="0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После сбоя решение строится заново.</a:t>
            </a:r>
            <a:endParaRPr sz="1950" b="0">
              <a:solidFill>
                <a:srgbClr val="FFFFF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5" name="Straight Connector 4"/>
          <p:cNvSpPr>
            <a:spLocks noGrp="1"/>
          </p:cNvSpPr>
          <p:nvPr/>
        </p:nvSpPr>
        <p:spPr>
          <a:xfrm>
            <a:off x="8001000" y="1676400"/>
            <a:ext cx="0" cy="2762250"/>
          </a:xfrm>
          <a:prstGeom prst="line">
            <a:avLst/>
          </a:prstGeom>
          <a:noFill/>
          <a:ln w="19050">
            <a:solidFill>
              <a:srgbClr val="C9F1E4"/>
            </a:solidFill>
            <a:prstDash val="solid"/>
          </a:ln>
        </p:spPr>
      </p:sp>
      <p:sp>
        <p:nvSpPr>
          <p:cNvPr id="6" name="Oval 5"/>
          <p:cNvSpPr>
            <a:spLocks noGrp="1"/>
          </p:cNvSpPr>
          <p:nvPr/>
        </p:nvSpPr>
        <p:spPr>
          <a:xfrm>
            <a:off x="7829550" y="1638300"/>
            <a:ext cx="342900" cy="342900"/>
          </a:xfrm>
          <a:prstGeom prst="ellipse">
            <a:avLst/>
          </a:prstGeom>
          <a:solidFill>
            <a:srgbClr val="C9F1E4"/>
          </a:solidFill>
          <a:ln w="0">
            <a:solidFill>
              <a:srgbClr val="082E24"/>
            </a:solidFill>
            <a:prstDash val="solid"/>
          </a:ln>
        </p:spPr>
      </p:sp>
      <p:sp>
        <p:nvSpPr>
          <p:cNvPr id="7" name="Rectangles 6"/>
          <p:cNvSpPr>
            <a:spLocks noGrp="1"/>
          </p:cNvSpPr>
          <p:nvPr/>
        </p:nvSpPr>
        <p:spPr>
          <a:xfrm>
            <a:off x="8458200" y="143827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125" b="1">
                <a:solidFill>
                  <a:srgbClr val="C9F1E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125" b="1">
                <a:solidFill>
                  <a:srgbClr val="C9F1E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01</a:t>
            </a:r>
            <a:endParaRPr sz="1125" b="1">
              <a:solidFill>
                <a:srgbClr val="C9F1E4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8" name="Rectangles 7"/>
          <p:cNvSpPr>
            <a:spLocks noGrp="1"/>
          </p:cNvSpPr>
          <p:nvPr/>
        </p:nvSpPr>
        <p:spPr>
          <a:xfrm>
            <a:off x="8458200" y="173355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650" b="1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HARD GATE</a:t>
            </a:r>
            <a:endParaRPr sz="1650" b="1">
              <a:solidFill>
                <a:srgbClr val="FFFFF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9" name="Rectangles 8"/>
          <p:cNvSpPr>
            <a:spLocks noGrp="1"/>
          </p:cNvSpPr>
          <p:nvPr/>
        </p:nvSpPr>
        <p:spPr>
          <a:xfrm>
            <a:off x="8458200" y="2085975"/>
            <a:ext cx="295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75" b="0">
                <a:solidFill>
                  <a:srgbClr val="A8CEC2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0">
                <a:solidFill>
                  <a:srgbClr val="A8CEC2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допустимость</a:t>
            </a:r>
            <a:endParaRPr sz="1275" b="0">
              <a:solidFill>
                <a:srgbClr val="A8CEC2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0" name="Oval 9"/>
          <p:cNvSpPr>
            <a:spLocks noGrp="1"/>
          </p:cNvSpPr>
          <p:nvPr/>
        </p:nvSpPr>
        <p:spPr>
          <a:xfrm>
            <a:off x="7829550" y="3019425"/>
            <a:ext cx="342900" cy="342900"/>
          </a:xfrm>
          <a:prstGeom prst="ellipse">
            <a:avLst/>
          </a:prstGeom>
          <a:solidFill>
            <a:srgbClr val="16866D"/>
          </a:solidFill>
          <a:ln w="0">
            <a:solidFill>
              <a:srgbClr val="082E24"/>
            </a:solidFill>
            <a:prstDash val="solid"/>
          </a:ln>
        </p:spPr>
      </p:sp>
      <p:sp>
        <p:nvSpPr>
          <p:cNvPr id="11" name="Rectangles 10"/>
          <p:cNvSpPr>
            <a:spLocks noGrp="1"/>
          </p:cNvSpPr>
          <p:nvPr/>
        </p:nvSpPr>
        <p:spPr>
          <a:xfrm>
            <a:off x="8458200" y="2819400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125" b="1">
                <a:solidFill>
                  <a:srgbClr val="C9F1E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125" b="1">
                <a:solidFill>
                  <a:srgbClr val="C9F1E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02</a:t>
            </a:r>
            <a:endParaRPr sz="1125" b="1">
              <a:solidFill>
                <a:srgbClr val="C9F1E4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2" name="Rectangles 11"/>
          <p:cNvSpPr>
            <a:spLocks noGrp="1"/>
          </p:cNvSpPr>
          <p:nvPr/>
        </p:nvSpPr>
        <p:spPr>
          <a:xfrm>
            <a:off x="8458200" y="3114675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650" b="1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POLICY SCORE</a:t>
            </a:r>
            <a:endParaRPr sz="1650" b="1">
              <a:solidFill>
                <a:srgbClr val="FFFFF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3" name="Rectangles 12"/>
          <p:cNvSpPr>
            <a:spLocks noGrp="1"/>
          </p:cNvSpPr>
          <p:nvPr/>
        </p:nvSpPr>
        <p:spPr>
          <a:xfrm>
            <a:off x="8458200" y="3467100"/>
            <a:ext cx="295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75" b="0">
                <a:solidFill>
                  <a:srgbClr val="A8CEC2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0">
                <a:solidFill>
                  <a:srgbClr val="A8CEC2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лучший кандидат</a:t>
            </a:r>
            <a:endParaRPr sz="1275" b="0">
              <a:solidFill>
                <a:srgbClr val="A8CEC2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4" name="Oval 13"/>
          <p:cNvSpPr>
            <a:spLocks noGrp="1"/>
          </p:cNvSpPr>
          <p:nvPr/>
        </p:nvSpPr>
        <p:spPr>
          <a:xfrm>
            <a:off x="7829550" y="4400550"/>
            <a:ext cx="342900" cy="342900"/>
          </a:xfrm>
          <a:prstGeom prst="ellipse">
            <a:avLst/>
          </a:prstGeom>
          <a:solidFill>
            <a:srgbClr val="C9F1E4"/>
          </a:solidFill>
          <a:ln w="0">
            <a:solidFill>
              <a:srgbClr val="082E24"/>
            </a:solidFill>
            <a:prstDash val="solid"/>
          </a:ln>
        </p:spPr>
      </p:sp>
      <p:sp>
        <p:nvSpPr>
          <p:cNvPr id="15" name="Rectangles 14"/>
          <p:cNvSpPr>
            <a:spLocks noGrp="1"/>
          </p:cNvSpPr>
          <p:nvPr/>
        </p:nvSpPr>
        <p:spPr>
          <a:xfrm>
            <a:off x="8458200" y="4200525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125" b="1">
                <a:solidFill>
                  <a:srgbClr val="C9F1E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125" b="1">
                <a:solidFill>
                  <a:srgbClr val="C9F1E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03</a:t>
            </a:r>
            <a:endParaRPr sz="1125" b="1">
              <a:solidFill>
                <a:srgbClr val="C9F1E4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6" name="Rectangles 15"/>
          <p:cNvSpPr>
            <a:spLocks noGrp="1"/>
          </p:cNvSpPr>
          <p:nvPr/>
        </p:nvSpPr>
        <p:spPr>
          <a:xfrm>
            <a:off x="8458200" y="44958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650" b="1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650" b="1">
                <a:solidFill>
                  <a:srgbClr val="FFFFF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DECISION RECEIPT</a:t>
            </a:r>
            <a:endParaRPr sz="1650" b="1">
              <a:solidFill>
                <a:srgbClr val="FFFFF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7" name="Rectangles 16"/>
          <p:cNvSpPr>
            <a:spLocks noGrp="1"/>
          </p:cNvSpPr>
          <p:nvPr/>
        </p:nvSpPr>
        <p:spPr>
          <a:xfrm>
            <a:off x="8458200" y="4848225"/>
            <a:ext cx="2952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75" b="0">
                <a:solidFill>
                  <a:srgbClr val="A8CEC2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0">
                <a:solidFill>
                  <a:srgbClr val="A8CEC2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доказательство</a:t>
            </a:r>
            <a:endParaRPr sz="1275" b="0">
              <a:solidFill>
                <a:srgbClr val="A8CEC2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8" name="Straight Connector 17"/>
          <p:cNvSpPr>
            <a:spLocks noGrp="1"/>
          </p:cNvSpPr>
          <p:nvPr/>
        </p:nvSpPr>
        <p:spPr>
          <a:xfrm>
            <a:off x="609600" y="5943600"/>
            <a:ext cx="10972800" cy="0"/>
          </a:xfrm>
          <a:prstGeom prst="line">
            <a:avLst/>
          </a:prstGeom>
          <a:noFill/>
          <a:ln w="9525">
            <a:solidFill>
              <a:srgbClr val="365B50"/>
            </a:solidFill>
            <a:prstDash val="solid"/>
          </a:ln>
        </p:spPr>
      </p:sp>
      <p:sp>
        <p:nvSpPr>
          <p:cNvPr id="19" name="Rectangles 18"/>
          <p:cNvSpPr>
            <a:spLocks noGrp="1"/>
          </p:cNvSpPr>
          <p:nvPr/>
        </p:nvSpPr>
        <p:spPr>
          <a:xfrm>
            <a:off x="628650" y="6076950"/>
            <a:ext cx="723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75" b="0">
                <a:solidFill>
                  <a:srgbClr val="A8CEC2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0">
                <a:solidFill>
                  <a:srgbClr val="A8CEC2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Ruby · офлайн · детерминированно · воспроизводимо</a:t>
            </a:r>
            <a:endParaRPr sz="1275" b="0">
              <a:solidFill>
                <a:srgbClr val="A8CEC2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0" name="Rectangles 19"/>
          <p:cNvSpPr>
            <a:spLocks noGrp="1"/>
          </p:cNvSpPr>
          <p:nvPr/>
        </p:nvSpPr>
        <p:spPr>
          <a:xfrm>
            <a:off x="9353550" y="6076950"/>
            <a:ext cx="2228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r">
              <a:defRPr sz="1275" b="1">
                <a:solidFill>
                  <a:srgbClr val="C9F1E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1">
                <a:solidFill>
                  <a:srgbClr val="C9F1E4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Защита решения</a:t>
            </a:r>
            <a:endParaRPr sz="1275" b="1">
              <a:solidFill>
                <a:srgbClr val="C9F1E4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" name="Rectangles 24"/>
          <p:cNvSpPr>
            <a:spLocks noGrp="1"/>
          </p:cNvSpPr>
          <p:nvPr/>
        </p:nvSpPr>
        <p:spPr>
          <a:xfrm>
            <a:off x="533400" y="247650"/>
            <a:ext cx="1476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CODEMASTERS</a:t>
            </a:r>
            <a:endParaRPr sz="12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" name="Rectangles 1"/>
          <p:cNvSpPr>
            <a:spLocks noGrp="1"/>
          </p:cNvSpPr>
          <p:nvPr/>
        </p:nvSpPr>
        <p:spPr>
          <a:xfrm>
            <a:off x="2038350" y="247650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/</a:t>
            </a:r>
            <a:endParaRPr sz="12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3" name="Rectangles 2"/>
          <p:cNvSpPr>
            <a:spLocks noGrp="1"/>
          </p:cNvSpPr>
          <p:nvPr/>
        </p:nvSpPr>
        <p:spPr>
          <a:xfrm>
            <a:off x="2286000" y="247650"/>
            <a:ext cx="447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ЛОГИКА ВЫБОРА</a:t>
            </a:r>
            <a:endParaRPr sz="12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4" name="Rectangles 3"/>
          <p:cNvSpPr>
            <a:spLocks noGrp="1"/>
          </p:cNvSpPr>
          <p:nvPr/>
        </p:nvSpPr>
        <p:spPr>
          <a:xfrm>
            <a:off x="10858500" y="24765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r">
              <a:defRPr sz="1200" b="1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02</a:t>
            </a:r>
            <a:endParaRPr sz="1200" b="1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5" name="Rectangles 4"/>
          <p:cNvSpPr>
            <a:spLocks noGrp="1"/>
          </p:cNvSpPr>
          <p:nvPr/>
        </p:nvSpPr>
        <p:spPr>
          <a:xfrm>
            <a:off x="533400" y="66675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3225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3225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Два уровня решения</a:t>
            </a:r>
            <a:endParaRPr sz="3225" b="0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6" name="Rectangles 5"/>
          <p:cNvSpPr>
            <a:spLocks noGrp="1"/>
          </p:cNvSpPr>
          <p:nvPr/>
        </p:nvSpPr>
        <p:spPr>
          <a:xfrm>
            <a:off x="552450" y="1276350"/>
            <a:ext cx="10820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Мягкая цель никогда не отменяет ограничение безопасности.</a:t>
            </a:r>
            <a:endParaRPr sz="1575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7" name="Straight Connector 6"/>
          <p:cNvSpPr>
            <a:spLocks noGrp="1"/>
          </p:cNvSpPr>
          <p:nvPr/>
        </p:nvSpPr>
        <p:spPr>
          <a:xfrm>
            <a:off x="533400" y="1790700"/>
            <a:ext cx="11125200" cy="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8" name="Rectangles 7"/>
          <p:cNvSpPr>
            <a:spLocks noGrp="1"/>
          </p:cNvSpPr>
          <p:nvPr/>
        </p:nvSpPr>
        <p:spPr>
          <a:xfrm>
            <a:off x="609600" y="2152650"/>
            <a:ext cx="819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3375" b="0">
                <a:solidFill>
                  <a:srgbClr val="B84943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3375" b="0">
                <a:solidFill>
                  <a:srgbClr val="B84943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01</a:t>
            </a:r>
            <a:endParaRPr sz="3375" b="0">
              <a:solidFill>
                <a:srgbClr val="B84943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9" name="Rectangles 8"/>
          <p:cNvSpPr>
            <a:spLocks noGrp="1"/>
          </p:cNvSpPr>
          <p:nvPr/>
        </p:nvSpPr>
        <p:spPr>
          <a:xfrm>
            <a:off x="609600" y="2781300"/>
            <a:ext cx="219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350" b="1">
                <a:solidFill>
                  <a:srgbClr val="B84943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350" b="1">
                <a:solidFill>
                  <a:srgbClr val="B84943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HARD GATE</a:t>
            </a:r>
            <a:endParaRPr sz="1350" b="1">
              <a:solidFill>
                <a:srgbClr val="B84943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0" name="Rectangles 9"/>
          <p:cNvSpPr>
            <a:spLocks noGrp="1"/>
          </p:cNvSpPr>
          <p:nvPr/>
        </p:nvSpPr>
        <p:spPr>
          <a:xfrm>
            <a:off x="609600" y="3171825"/>
            <a:ext cx="4381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2175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175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Можно ли направить выплату?</a:t>
            </a:r>
            <a:endParaRPr sz="2175" b="1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1" name="Rectangles 10"/>
          <p:cNvSpPr>
            <a:spLocks noGrp="1"/>
          </p:cNvSpPr>
          <p:nvPr/>
        </p:nvSpPr>
        <p:spPr>
          <a:xfrm>
            <a:off x="609600" y="3790950"/>
            <a:ext cx="4191000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6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6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Статус и роль провайдера</a:t>
            </a:r>
            <a:endParaRPr sz="165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l">
              <a:defRPr sz="16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6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Сумма и дневной лимит</a:t>
            </a:r>
            <a:endParaRPr sz="165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l">
              <a:defRPr sz="16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6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In-progress и RPM</a:t>
            </a:r>
            <a:endParaRPr sz="165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l">
              <a:defRPr sz="16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6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Банк, маржа, реквизиты</a:t>
            </a:r>
            <a:endParaRPr sz="165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2" name="Straight Connector 11"/>
          <p:cNvSpPr>
            <a:spLocks noGrp="1"/>
          </p:cNvSpPr>
          <p:nvPr/>
        </p:nvSpPr>
        <p:spPr>
          <a:xfrm>
            <a:off x="609600" y="5524500"/>
            <a:ext cx="4286250" cy="0"/>
          </a:xfrm>
          <a:prstGeom prst="line">
            <a:avLst/>
          </a:prstGeom>
          <a:noFill/>
          <a:ln w="28575">
            <a:solidFill>
              <a:srgbClr val="B84943"/>
            </a:solidFill>
            <a:prstDash val="solid"/>
          </a:ln>
        </p:spPr>
      </p:sp>
      <p:sp>
        <p:nvSpPr>
          <p:cNvPr id="13" name="Rectangles 12"/>
          <p:cNvSpPr>
            <a:spLocks noGrp="1"/>
          </p:cNvSpPr>
          <p:nvPr/>
        </p:nvSpPr>
        <p:spPr>
          <a:xfrm>
            <a:off x="609600" y="5619750"/>
            <a:ext cx="43338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500" b="1">
                <a:solidFill>
                  <a:srgbClr val="B84943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00" b="1">
                <a:solidFill>
                  <a:srgbClr val="B84943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Нарушение любого правила исключает кандидата</a:t>
            </a:r>
            <a:endParaRPr sz="1500" b="1">
              <a:solidFill>
                <a:srgbClr val="B84943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4" name="Straight Connector 13"/>
          <p:cNvSpPr>
            <a:spLocks noGrp="1"/>
          </p:cNvSpPr>
          <p:nvPr/>
        </p:nvSpPr>
        <p:spPr>
          <a:xfrm>
            <a:off x="5905500" y="2143125"/>
            <a:ext cx="0" cy="390525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15" name="Rectangles 14"/>
          <p:cNvSpPr>
            <a:spLocks noGrp="1"/>
          </p:cNvSpPr>
          <p:nvPr/>
        </p:nvSpPr>
        <p:spPr>
          <a:xfrm>
            <a:off x="6591300" y="2152650"/>
            <a:ext cx="819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3375" b="0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3375" b="0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02</a:t>
            </a:r>
            <a:endParaRPr sz="3375" b="0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6" name="Rectangles 15"/>
          <p:cNvSpPr>
            <a:spLocks noGrp="1"/>
          </p:cNvSpPr>
          <p:nvPr/>
        </p:nvSpPr>
        <p:spPr>
          <a:xfrm>
            <a:off x="6591300" y="278130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35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35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SOFT POLICY</a:t>
            </a:r>
            <a:endParaRPr sz="135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7" name="Rectangles 16"/>
          <p:cNvSpPr>
            <a:spLocks noGrp="1"/>
          </p:cNvSpPr>
          <p:nvPr/>
        </p:nvSpPr>
        <p:spPr>
          <a:xfrm>
            <a:off x="6591300" y="3171825"/>
            <a:ext cx="4857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2175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175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Кто лучше среди допустимых?</a:t>
            </a:r>
            <a:endParaRPr sz="2175" b="1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8" name="Rectangles 17"/>
          <p:cNvSpPr>
            <a:spLocks noGrp="1"/>
          </p:cNvSpPr>
          <p:nvPr/>
        </p:nvSpPr>
        <p:spPr>
          <a:xfrm>
            <a:off x="6591300" y="3781425"/>
            <a:ext cx="4667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232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32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Σ raw × weight × direction</a:t>
            </a:r>
            <a:endParaRPr sz="2325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9" name="Rectangles 18"/>
          <p:cNvSpPr>
            <a:spLocks noGrp="1"/>
          </p:cNvSpPr>
          <p:nvPr/>
        </p:nvSpPr>
        <p:spPr>
          <a:xfrm>
            <a:off x="6591300" y="4438650"/>
            <a:ext cx="4572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6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6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Доли количества и объёма</a:t>
            </a:r>
            <a:endParaRPr sz="165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l">
              <a:defRPr sz="16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6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Конверсия, priority, сумма</a:t>
            </a:r>
            <a:endParaRPr sz="165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l">
              <a:defRPr sz="16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6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Capacity, оборот, нагрузка</a:t>
            </a:r>
            <a:endParaRPr sz="165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l">
              <a:defRPr sz="16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6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Latency и cost</a:t>
            </a:r>
            <a:endParaRPr sz="165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0" name="Straight Connector 19"/>
          <p:cNvSpPr>
            <a:spLocks noGrp="1"/>
          </p:cNvSpPr>
          <p:nvPr/>
        </p:nvSpPr>
        <p:spPr>
          <a:xfrm>
            <a:off x="6591300" y="5905500"/>
            <a:ext cx="4667250" cy="0"/>
          </a:xfrm>
          <a:prstGeom prst="line">
            <a:avLst/>
          </a:prstGeom>
          <a:noFill/>
          <a:ln w="28575">
            <a:solidFill>
              <a:srgbClr val="16866D"/>
            </a:solidFill>
            <a:prstDash val="solid"/>
          </a:ln>
        </p:spPr>
      </p:sp>
      <p:sp>
        <p:nvSpPr>
          <p:cNvPr id="21" name="Rectangles 20"/>
          <p:cNvSpPr>
            <a:spLocks noGrp="1"/>
          </p:cNvSpPr>
          <p:nvPr/>
        </p:nvSpPr>
        <p:spPr>
          <a:xfrm>
            <a:off x="6591300" y="5991225"/>
            <a:ext cx="4667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5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Нет одной главной мягкой метрики</a:t>
            </a:r>
            <a:endParaRPr sz="15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2" name="Straight Connector 21"/>
          <p:cNvSpPr>
            <a:spLocks noGrp="1"/>
          </p:cNvSpPr>
          <p:nvPr/>
        </p:nvSpPr>
        <p:spPr>
          <a:xfrm>
            <a:off x="533400" y="6515100"/>
            <a:ext cx="11125200" cy="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23" name="Rectangles 22"/>
          <p:cNvSpPr>
            <a:spLocks noGrp="1"/>
          </p:cNvSpPr>
          <p:nvPr/>
        </p:nvSpPr>
        <p:spPr>
          <a:xfrm>
            <a:off x="533400" y="6572250"/>
            <a:ext cx="6858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9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RouteLens · объяснимый роутинг выплат</a:t>
            </a:r>
            <a:endParaRPr sz="90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4" name="Rectangles 23"/>
          <p:cNvSpPr>
            <a:spLocks noGrp="1"/>
          </p:cNvSpPr>
          <p:nvPr/>
        </p:nvSpPr>
        <p:spPr>
          <a:xfrm>
            <a:off x="9620250" y="6572250"/>
            <a:ext cx="20383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r">
              <a:defRPr sz="9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CODEMASTERS</a:t>
            </a:r>
            <a:endParaRPr sz="9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angles 42">
            <a:extLst xmlns:a="http://schemas.openxmlformats.org/drawingml/2006/main">
              <a:ext uri="{FF2B5EF4-FFF2-40B4-BE49-F238E27FC236}">
                <a16:creationId xmlns:a16="http://schemas.microsoft.com/office/drawing/2014/main" id="{E67B6AA4-E873-4BBB-9897-7D1A3D34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ИСПОЛНЕНИЕ</a:t>
            </a:r>
            <a:endParaRPr sz="1200" b="1">
              <a:solidFill>
                <a:srgbClr val="16866D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2" name="Rectangles 1">
            <a:extLst xmlns:a="http://schemas.openxmlformats.org/drawingml/2006/main">
              <a:ext uri="{FF2B5EF4-FFF2-40B4-BE49-F238E27FC236}">
                <a16:creationId xmlns:a16="http://schemas.microsoft.com/office/drawing/2014/main" id="{591A28A3-B97B-46B1-A4AE-A53500D1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20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03</a:t>
            </a:r>
            <a:endParaRPr sz="1200" b="1">
              <a:solidFill>
                <a:srgbClr val="68766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3" name="Rectangles 2">
            <a:extLst xmlns:a="http://schemas.openxmlformats.org/drawingml/2006/main">
              <a:ext uri="{FF2B5EF4-FFF2-40B4-BE49-F238E27FC236}">
                <a16:creationId xmlns:a16="http://schemas.microsoft.com/office/drawing/2014/main" id="{4AD4F809-E062-4EDF-8BB5-57E78CC1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3225" b="0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Жизненный цикл выплаты</a:t>
            </a:r>
            <a:endParaRPr sz="3225" b="0">
              <a:solidFill>
                <a:srgbClr val="14251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4" name="Rectangles 3">
            <a:extLst xmlns:a="http://schemas.openxmlformats.org/drawingml/2006/main">
              <a:ext uri="{FF2B5EF4-FFF2-40B4-BE49-F238E27FC236}">
                <a16:creationId xmlns:a16="http://schemas.microsoft.com/office/drawing/2014/main" id="{15423F7D-F9B2-4C17-9372-C74943EF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763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57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Каждая попытка проверяет актуальное состояние и оставляет проверяемую квитанцию.</a:t>
            </a:r>
            <a:endParaRPr sz="1575" b="0">
              <a:solidFill>
                <a:srgbClr val="68766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5" name="Straight Connector 4">
            <a:extLst xmlns:a="http://schemas.openxmlformats.org/drawingml/2006/main">
              <a:ext uri="{FF2B5EF4-FFF2-40B4-BE49-F238E27FC236}">
                <a16:creationId xmlns:a16="http://schemas.microsoft.com/office/drawing/2014/main" id="{EA1B62DA-5A1C-4CCC-8BE6-941BDCCD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6" name="Rectangles 5">
            <a:extLst xmlns:a="http://schemas.openxmlformats.org/drawingml/2006/main">
              <a:ext uri="{FF2B5EF4-FFF2-40B4-BE49-F238E27FC236}">
                <a16:creationId xmlns:a16="http://schemas.microsoft.com/office/drawing/2014/main" id="{3DBE359F-32BF-470E-8FA4-7FE30988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01</a:t>
            </a:r>
            <a:endParaRPr sz="1050" b="1">
              <a:solidFill>
                <a:srgbClr val="68766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7" name="Rectangles 6">
            <a:extLst xmlns:a="http://schemas.openxmlformats.org/drawingml/2006/main">
              <a:ext uri="{FF2B5EF4-FFF2-40B4-BE49-F238E27FC236}">
                <a16:creationId xmlns:a16="http://schemas.microsoft.com/office/drawing/2014/main" id="{8F060C61-6FC5-4938-A2FC-B962E4128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81250"/>
            <a:ext cx="1562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Проверить</a:t>
            </a:r>
            <a:endParaRPr sz="1500" b="1">
              <a:solidFill>
                <a:srgbClr val="14251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8" name="Rectangles 7">
            <a:extLst xmlns:a="http://schemas.openxmlformats.org/drawingml/2006/main">
              <a:ext uri="{FF2B5EF4-FFF2-40B4-BE49-F238E27FC236}">
                <a16:creationId xmlns:a16="http://schemas.microsoft.com/office/drawing/2014/main" id="{76EC7160-7812-45EA-9A99-687F4B053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9557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11 hard rules</a:t>
            </a:r>
            <a:endParaRPr sz="1125" b="0">
              <a:solidFill>
                <a:srgbClr val="68766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AF823AA0-9EBD-43CA-9DF7-9ECEAC68A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333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19050">
            <a:solidFill>
              <a:srgbClr val="14251F"/>
            </a:solidFill>
            <a:prstDash val="solid"/>
          </a:ln>
        </p:spPr>
      </p:sp>
      <p:sp>
        <p:nvSpPr>
          <p:cNvPr id="10" name="Rectangles 9">
            <a:extLst xmlns:a="http://schemas.openxmlformats.org/drawingml/2006/main">
              <a:ext uri="{FF2B5EF4-FFF2-40B4-BE49-F238E27FC236}">
                <a16:creationId xmlns:a16="http://schemas.microsoft.com/office/drawing/2014/main" id="{669C2D13-7EA1-4318-AF3D-4A4ED209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145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02</a:t>
            </a:r>
            <a:endParaRPr sz="1050" b="1">
              <a:solidFill>
                <a:srgbClr val="68766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11" name="Rectangles 10">
            <a:extLst xmlns:a="http://schemas.openxmlformats.org/drawingml/2006/main">
              <a:ext uri="{FF2B5EF4-FFF2-40B4-BE49-F238E27FC236}">
                <a16:creationId xmlns:a16="http://schemas.microsoft.com/office/drawing/2014/main" id="{E9B6DD16-BB3A-4EAE-B8F1-EBD002AF6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381250"/>
            <a:ext cx="1562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Оценить</a:t>
            </a:r>
            <a:endParaRPr sz="1500" b="1">
              <a:solidFill>
                <a:srgbClr val="14251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12" name="Rectangles 11">
            <a:extLst xmlns:a="http://schemas.openxmlformats.org/drawingml/2006/main">
              <a:ext uri="{FF2B5EF4-FFF2-40B4-BE49-F238E27FC236}">
                <a16:creationId xmlns:a16="http://schemas.microsoft.com/office/drawing/2014/main" id="{EE809B04-15E5-45C6-8441-1B2D1351B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69557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10 факторов</a:t>
            </a:r>
            <a:endParaRPr sz="1125" b="0">
              <a:solidFill>
                <a:srgbClr val="68766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13" name="Oval 12">
            <a:extLst xmlns:a="http://schemas.openxmlformats.org/drawingml/2006/main">
              <a:ext uri="{FF2B5EF4-FFF2-40B4-BE49-F238E27FC236}">
                <a16:creationId xmlns:a16="http://schemas.microsoft.com/office/drawing/2014/main" id="{678BD02F-D066-4B04-A704-09BCFAA6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333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19050">
            <a:solidFill>
              <a:srgbClr val="14251F"/>
            </a:solidFill>
            <a:prstDash val="solid"/>
          </a:ln>
        </p:spPr>
      </p:sp>
      <p:sp>
        <p:nvSpPr>
          <p:cNvPr id="14" name="Rectangles 13">
            <a:extLst xmlns:a="http://schemas.openxmlformats.org/drawingml/2006/main">
              <a:ext uri="{FF2B5EF4-FFF2-40B4-BE49-F238E27FC236}">
                <a16:creationId xmlns:a16="http://schemas.microsoft.com/office/drawing/2014/main" id="{0E979139-CF30-4432-B35E-96C7B0BF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1145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03</a:t>
            </a:r>
            <a:endParaRPr sz="1050" b="1">
              <a:solidFill>
                <a:srgbClr val="16866D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15" name="Rectangles 14">
            <a:extLst xmlns:a="http://schemas.openxmlformats.org/drawingml/2006/main">
              <a:ext uri="{FF2B5EF4-FFF2-40B4-BE49-F238E27FC236}">
                <a16:creationId xmlns:a16="http://schemas.microsoft.com/office/drawing/2014/main" id="{A9DFDA6A-A1AF-4FBC-AC65-572D9147D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81250"/>
            <a:ext cx="1562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Резерв</a:t>
            </a:r>
            <a:endParaRPr sz="1500" b="1">
              <a:solidFill>
                <a:srgbClr val="14251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16" name="Rectangles 15">
            <a:extLst xmlns:a="http://schemas.openxmlformats.org/drawingml/2006/main">
              <a:ext uri="{FF2B5EF4-FFF2-40B4-BE49-F238E27FC236}">
                <a16:creationId xmlns:a16="http://schemas.microsoft.com/office/drawing/2014/main" id="{B345D82B-71F0-4364-B2F7-1567416FD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9557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slot · amount</a:t>
            </a:r>
            <a:endParaRPr sz="1125" b="0">
              <a:solidFill>
                <a:srgbClr val="68766F"/>
              </a:solidFill>
              <a:latin typeface="Noto Sans"/>
              <a:ea typeface="Noto Sans"/>
              <a:cs typeface="Noto Sans"/>
            </a:endParaRPr>
          </a:p>
          <a:p xmlns:a="http://schemas.openxmlformats.org/drawingml/2006/main">
            <a:pPr algn="ctr">
              <a:buNone/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requisite · RPM</a:t>
            </a:r>
            <a:endParaRPr sz="1125" b="0">
              <a:solidFill>
                <a:srgbClr val="68766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17" name="Oval 16">
            <a:extLst xmlns:a="http://schemas.openxmlformats.org/drawingml/2006/main">
              <a:ext uri="{FF2B5EF4-FFF2-40B4-BE49-F238E27FC236}">
                <a16:creationId xmlns:a16="http://schemas.microsoft.com/office/drawing/2014/main" id="{1D6601CD-878A-4BEF-9AC9-0FC0EA88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333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66D"/>
          </a:solidFill>
          <a:ln xmlns:a="http://schemas.openxmlformats.org/drawingml/2006/main" w="19050">
            <a:solidFill>
              <a:srgbClr val="16866D"/>
            </a:solidFill>
            <a:prstDash val="solid"/>
          </a:ln>
        </p:spPr>
      </p:sp>
      <p:sp>
        <p:nvSpPr>
          <p:cNvPr id="18" name="Rectangles 17">
            <a:extLst xmlns:a="http://schemas.openxmlformats.org/drawingml/2006/main">
              <a:ext uri="{FF2B5EF4-FFF2-40B4-BE49-F238E27FC236}">
                <a16:creationId xmlns:a16="http://schemas.microsoft.com/office/drawing/2014/main" id="{0A20D2F3-39D8-448C-B805-A003661A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145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04</a:t>
            </a:r>
            <a:endParaRPr sz="1050" b="1">
              <a:solidFill>
                <a:srgbClr val="68766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19" name="Rectangles 18">
            <a:extLst xmlns:a="http://schemas.openxmlformats.org/drawingml/2006/main">
              <a:ext uri="{FF2B5EF4-FFF2-40B4-BE49-F238E27FC236}">
                <a16:creationId xmlns:a16="http://schemas.microsoft.com/office/drawing/2014/main" id="{31E43C26-E447-49AB-8FB4-C2B3636D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1562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Вызвать</a:t>
            </a:r>
            <a:endParaRPr sz="1500" b="1">
              <a:solidFill>
                <a:srgbClr val="14251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20" name="Rectangles 19">
            <a:extLst xmlns:a="http://schemas.openxmlformats.org/drawingml/2006/main">
              <a:ext uri="{FF2B5EF4-FFF2-40B4-BE49-F238E27FC236}">
                <a16:creationId xmlns:a16="http://schemas.microsoft.com/office/drawing/2014/main" id="{AE021F46-E007-4B32-A3A3-9B32A169A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69557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approved</a:t>
            </a:r>
            <a:endParaRPr sz="1125" b="0">
              <a:solidFill>
                <a:srgbClr val="68766F"/>
              </a:solidFill>
              <a:latin typeface="Noto Sans"/>
              <a:ea typeface="Noto Sans"/>
              <a:cs typeface="Noto Sans"/>
            </a:endParaRPr>
          </a:p>
          <a:p xmlns:a="http://schemas.openxmlformats.org/drawingml/2006/main">
            <a:pPr algn="ctr">
              <a:buNone/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rejected · expired</a:t>
            </a:r>
            <a:endParaRPr sz="1125" b="0">
              <a:solidFill>
                <a:srgbClr val="68766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E8C99A6D-6DC4-4117-A20E-76CB44F9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333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19050">
            <a:solidFill>
              <a:srgbClr val="14251F"/>
            </a:solidFill>
            <a:prstDash val="solid"/>
          </a:ln>
        </p:spPr>
      </p:sp>
      <p:sp>
        <p:nvSpPr>
          <p:cNvPr id="22" name="Rectangles 21">
            <a:extLst xmlns:a="http://schemas.openxmlformats.org/drawingml/2006/main">
              <a:ext uri="{FF2B5EF4-FFF2-40B4-BE49-F238E27FC236}">
                <a16:creationId xmlns:a16="http://schemas.microsoft.com/office/drawing/2014/main" id="{38B323B8-1F68-4638-A39B-63BC6C211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1145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050" b="1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05</a:t>
            </a:r>
            <a:endParaRPr sz="1050" b="1">
              <a:solidFill>
                <a:srgbClr val="68766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23" name="Rectangles 22">
            <a:extLst xmlns:a="http://schemas.openxmlformats.org/drawingml/2006/main">
              <a:ext uri="{FF2B5EF4-FFF2-40B4-BE49-F238E27FC236}">
                <a16:creationId xmlns:a16="http://schemas.microsoft.com/office/drawing/2014/main" id="{2CAE7BE6-325D-4506-B32B-14285C0E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381250"/>
            <a:ext cx="1562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Рассчитать</a:t>
            </a:r>
            <a:endParaRPr sz="1500" b="1">
              <a:solidFill>
                <a:srgbClr val="14251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24" name="Rectangles 23">
            <a:extLst xmlns:a="http://schemas.openxmlformats.org/drawingml/2006/main">
              <a:ext uri="{FF2B5EF4-FFF2-40B4-BE49-F238E27FC236}">
                <a16:creationId xmlns:a16="http://schemas.microsoft.com/office/drawing/2014/main" id="{C0663A32-0360-4C30-A08E-819AEE6CB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95575"/>
            <a:ext cx="179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commit · rollback</a:t>
            </a:r>
            <a:endParaRPr sz="1125" b="0">
              <a:solidFill>
                <a:srgbClr val="68766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25" name="Oval 24">
            <a:extLst xmlns:a="http://schemas.openxmlformats.org/drawingml/2006/main">
              <a:ext uri="{FF2B5EF4-FFF2-40B4-BE49-F238E27FC236}">
                <a16:creationId xmlns:a16="http://schemas.microsoft.com/office/drawing/2014/main" id="{A21F716C-B841-4809-B54C-369B978E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3333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19050">
            <a:solidFill>
              <a:srgbClr val="14251F"/>
            </a:solidFill>
            <a:prstDash val="solid"/>
          </a:ln>
        </p:spPr>
      </p:sp>
      <p:cxnSp>
        <p:nvCxnSpPr>
          <p:cNvPr id="105" name="Straight Arrow Connector 67"/>
          <p:cNvCxnSpPr>
            <a:stCxn xmlns:a="http://schemas.openxmlformats.org/drawingml/2006/main" id="9" idx="6"/>
            <a:endCxn xmlns:a="http://schemas.openxmlformats.org/drawingml/2006/main" id="13" idx="2"/>
          </p:cNvCxnSpPr>
          <p:nvPr/>
        </p:nvCxnSpPr>
        <p:spPr>
          <a:xfrm xmlns:a="http://schemas.openxmlformats.org/drawingml/2006/main">
            <a:off x="1400175" y="3533775"/>
            <a:ext cx="2000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866D"/>
            </a:solidFill>
            <a:prstDash val="solid"/>
            <a:tailEnd type="triangle" w="sm" len="sm"/>
          </a:ln>
        </p:spPr>
      </p:cxnSp>
      <p:cxnSp>
        <p:nvCxnSpPr>
          <p:cNvPr id="106" name="Straight Arrow Connector 68"/>
          <p:cNvCxnSpPr>
            <a:stCxn xmlns:a="http://schemas.openxmlformats.org/drawingml/2006/main" id="13" idx="6"/>
            <a:endCxn xmlns:a="http://schemas.openxmlformats.org/drawingml/2006/main" id="17" idx="2"/>
          </p:cNvCxnSpPr>
          <p:nvPr/>
        </p:nvCxnSpPr>
        <p:spPr>
          <a:xfrm xmlns:a="http://schemas.openxmlformats.org/drawingml/2006/main">
            <a:off x="3800475" y="3533775"/>
            <a:ext cx="2000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866D"/>
            </a:solidFill>
            <a:prstDash val="solid"/>
            <a:tailEnd type="triangle" w="sm" len="sm"/>
          </a:ln>
        </p:spPr>
      </p:cxnSp>
      <p:cxnSp>
        <p:nvCxnSpPr>
          <p:cNvPr id="107" name="Straight Arrow Connector 69"/>
          <p:cNvCxnSpPr>
            <a:stCxn xmlns:a="http://schemas.openxmlformats.org/drawingml/2006/main" id="17" idx="6"/>
            <a:endCxn xmlns:a="http://schemas.openxmlformats.org/drawingml/2006/main" id="21" idx="2"/>
          </p:cNvCxnSpPr>
          <p:nvPr/>
        </p:nvCxnSpPr>
        <p:spPr>
          <a:xfrm xmlns:a="http://schemas.openxmlformats.org/drawingml/2006/main">
            <a:off x="6200775" y="3533775"/>
            <a:ext cx="2000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866D"/>
            </a:solidFill>
            <a:prstDash val="solid"/>
            <a:tailEnd type="triangle" w="sm" len="sm"/>
          </a:ln>
        </p:spPr>
      </p:cxnSp>
      <p:cxnSp>
        <p:nvCxnSpPr>
          <p:cNvPr id="108" name="Straight Arrow Connector 70"/>
          <p:cNvCxnSpPr>
            <a:stCxn xmlns:a="http://schemas.openxmlformats.org/drawingml/2006/main" id="21" idx="6"/>
            <a:endCxn xmlns:a="http://schemas.openxmlformats.org/drawingml/2006/main" id="25" idx="2"/>
          </p:cNvCxnSpPr>
          <p:nvPr/>
        </p:nvCxnSpPr>
        <p:spPr>
          <a:xfrm xmlns:a="http://schemas.openxmlformats.org/drawingml/2006/main">
            <a:off x="8601075" y="3533775"/>
            <a:ext cx="2000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866D"/>
            </a:solidFill>
            <a:prstDash val="solid"/>
            <a:tailEnd type="triangle" w="sm" len="sm"/>
          </a:ln>
        </p:spPr>
      </p:cxnSp>
      <p:sp>
        <p:nvSpPr>
          <p:cNvPr id="30" name="Rectangles 29">
            <a:extLst xmlns:a="http://schemas.openxmlformats.org/drawingml/2006/main">
              <a:ext uri="{FF2B5EF4-FFF2-40B4-BE49-F238E27FC236}">
                <a16:creationId xmlns:a16="http://schemas.microsoft.com/office/drawing/2014/main" id="{E6501248-B2F4-4345-BC32-0A72B49F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80047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approved</a:t>
            </a:r>
            <a:endParaRPr sz="1125" b="1">
              <a:solidFill>
                <a:srgbClr val="16866D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31" name="Rectangles 30">
            <a:extLst xmlns:a="http://schemas.openxmlformats.org/drawingml/2006/main">
              <a:ext uri="{FF2B5EF4-FFF2-40B4-BE49-F238E27FC236}">
                <a16:creationId xmlns:a16="http://schemas.microsoft.com/office/drawing/2014/main" id="{9E87BBF5-09C0-4F2B-8729-E20A7C76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5730" y="4714875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4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Rectangles 31">
            <a:extLst xmlns:a="http://schemas.openxmlformats.org/drawingml/2006/main">
              <a:ext uri="{FF2B5EF4-FFF2-40B4-BE49-F238E27FC236}">
                <a16:creationId xmlns:a16="http://schemas.microsoft.com/office/drawing/2014/main" id="{F2976A04-F822-49CF-9D8A-C8AC35A0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857750"/>
            <a:ext cx="2000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84943"/>
                </a:solidFill>
                <a:latin typeface="Noto Sans"/>
                <a:ea typeface="Noto Sans"/>
                <a:cs typeface="Noto Sans"/>
              </a:defRPr>
            </a:pPr>
            <a:r>
              <a:rPr sz="1125" b="1">
                <a:solidFill>
                  <a:srgbClr val="B84943"/>
                </a:solidFill>
                <a:latin typeface="Noto Sans"/>
                <a:ea typeface="Noto Sans"/>
                <a:cs typeface="Noto Sans"/>
              </a:rPr>
              <a:t>REJECTED / EXPIRED</a:t>
            </a:r>
            <a:endParaRPr sz="1125" b="1">
              <a:solidFill>
                <a:srgbClr val="B84943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33" name="Rectangles 32">
            <a:extLst xmlns:a="http://schemas.openxmlformats.org/drawingml/2006/main">
              <a:ext uri="{FF2B5EF4-FFF2-40B4-BE49-F238E27FC236}">
                <a16:creationId xmlns:a16="http://schemas.microsoft.com/office/drawing/2014/main" id="{9923EF9E-5C3D-4A05-AA01-25227D9A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1244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425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Освободить резерв и заново оценить оставшихся</a:t>
            </a:r>
            <a:endParaRPr sz="1425" b="1">
              <a:solidFill>
                <a:srgbClr val="14251F"/>
              </a:solidFill>
              <a:latin typeface="Noto Sans"/>
              <a:ea typeface="Noto Sans"/>
              <a:cs typeface="Noto Sans"/>
            </a:endParaRPr>
          </a:p>
        </p:txBody>
      </p:sp>
      <p:cxnSp>
        <p:nvCxnSpPr>
          <p:cNvPr id="113" name="Elbow Connector 76"/>
          <p:cNvCxnSpPr>
            <a:stCxn xmlns:a="http://schemas.openxmlformats.org/drawingml/2006/main" id="31" idx="1"/>
            <a:endCxn xmlns:a="http://schemas.openxmlformats.org/drawingml/2006/main" id="13" idx="4"/>
          </p:cNvCxnSpPr>
          <p:nvPr/>
        </p:nvCxnSpPr>
        <p:spPr>
          <a:xfrm xmlns:a="http://schemas.openxmlformats.org/drawingml/2006/main" rot="0" flipH="1" flipV="1">
            <a:off x="3600450" y="3733800"/>
            <a:ext cx="335280" cy="1419225"/>
          </a:xfrm>
          <a:prstGeom xmlns:a="http://schemas.openxmlformats.org/drawingml/2006/main" prst="bentConnector2">
            <a:avLst/>
          </a:prstGeom>
          <a:ln xmlns:a="http://schemas.openxmlformats.org/drawingml/2006/main" w="19050">
            <a:solidFill>
              <a:srgbClr val="B84943"/>
            </a:solidFill>
            <a:prstDash val="solid"/>
            <a:tailEnd type="triangle" w="sm" len="sm"/>
          </a:ln>
        </p:spPr>
      </p:cxnSp>
      <p:sp>
        <p:nvSpPr>
          <p:cNvPr id="36" name="Rectangles 35">
            <a:extLst xmlns:a="http://schemas.openxmlformats.org/drawingml/2006/main">
              <a:ext uri="{FF2B5EF4-FFF2-40B4-BE49-F238E27FC236}">
                <a16:creationId xmlns:a16="http://schemas.microsoft.com/office/drawing/2014/main" id="{3AFB4A5C-C6D0-4ED5-8290-69410DD5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67250"/>
            <a:ext cx="2343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1125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Если внешний пул исчерпан</a:t>
            </a:r>
            <a:endParaRPr sz="1125" b="0">
              <a:solidFill>
                <a:srgbClr val="68766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37" name="Rectangles 36">
            <a:extLst xmlns:a="http://schemas.openxmlformats.org/drawingml/2006/main">
              <a:ext uri="{FF2B5EF4-FFF2-40B4-BE49-F238E27FC236}">
                <a16:creationId xmlns:a16="http://schemas.microsoft.com/office/drawing/2014/main" id="{018F2A9A-6DD5-4C84-BA0B-C784E00B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81575"/>
            <a:ext cx="2343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9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fallback</a:t>
            </a:r>
            <a:endParaRPr sz="1950" b="1">
              <a:solidFill>
                <a:srgbClr val="16866D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38" name="Rectangles 37">
            <a:extLst xmlns:a="http://schemas.openxmlformats.org/drawingml/2006/main">
              <a:ext uri="{FF2B5EF4-FFF2-40B4-BE49-F238E27FC236}">
                <a16:creationId xmlns:a16="http://schemas.microsoft.com/office/drawing/2014/main" id="{2A81BCFB-86DA-4805-ACE0-D57BFB1A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3530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4251F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14251F"/>
                </a:solidFill>
                <a:latin typeface="Noto Sans"/>
                <a:ea typeface="Noto Sans"/>
                <a:cs typeface="Noto Sans"/>
              </a:rPr>
              <a:t>spacepayments</a:t>
            </a:r>
            <a:endParaRPr sz="1350" b="1">
              <a:solidFill>
                <a:srgbClr val="14251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39" name="Rectangles 38">
            <a:extLst xmlns:a="http://schemas.openxmlformats.org/drawingml/2006/main">
              <a:ext uri="{FF2B5EF4-FFF2-40B4-BE49-F238E27FC236}">
                <a16:creationId xmlns:a16="http://schemas.microsoft.com/office/drawing/2014/main" id="{716D0C00-2420-4711-AB6B-A8E1ABD8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6076950"/>
            <a:ext cx="731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state_before   /   state_reserved   /   state_after</a:t>
            </a:r>
            <a:endParaRPr sz="1350" b="1">
              <a:solidFill>
                <a:srgbClr val="16866D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40" name="Straight Connector 39">
            <a:extLst xmlns:a="http://schemas.openxmlformats.org/drawingml/2006/main">
              <a:ext uri="{FF2B5EF4-FFF2-40B4-BE49-F238E27FC236}">
                <a16:creationId xmlns:a16="http://schemas.microsoft.com/office/drawing/2014/main" id="{2956BD4B-4E2B-4332-BA13-A14C41E24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4CF"/>
            </a:solidFill>
            <a:prstDash val="solid"/>
          </a:ln>
        </p:spPr>
      </p:sp>
      <p:sp>
        <p:nvSpPr>
          <p:cNvPr id="41" name="Rectangles 40">
            <a:extLst xmlns:a="http://schemas.openxmlformats.org/drawingml/2006/main">
              <a:ext uri="{FF2B5EF4-FFF2-40B4-BE49-F238E27FC236}">
                <a16:creationId xmlns:a16="http://schemas.microsoft.com/office/drawing/2014/main" id="{01631612-E8CA-46FE-9198-4452C9D6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defRPr>
            </a:pPr>
            <a:r>
              <a:rPr sz="900" b="0">
                <a:solidFill>
                  <a:srgbClr val="68766F"/>
                </a:solidFill>
                <a:latin typeface="Noto Sans"/>
                <a:ea typeface="Noto Sans"/>
                <a:cs typeface="Noto Sans"/>
              </a:rPr>
              <a:t>RouteLens · объяснимый роутинг выплат</a:t>
            </a:r>
            <a:endParaRPr sz="900" b="0">
              <a:solidFill>
                <a:srgbClr val="68766F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42" name="Rectangles 41">
            <a:extLst xmlns:a="http://schemas.openxmlformats.org/drawingml/2006/main">
              <a:ext uri="{FF2B5EF4-FFF2-40B4-BE49-F238E27FC236}">
                <a16:creationId xmlns:a16="http://schemas.microsoft.com/office/drawing/2014/main" id="{89488D40-6E30-49DA-B700-15CF9E8F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9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CODEMASTERS</a:t>
            </a:r>
            <a:endParaRPr sz="900" b="1">
              <a:solidFill>
                <a:srgbClr val="16866D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78" name="Retry entry anchor">
            <a:extLst xmlns:a="http://schemas.openxmlformats.org/drawingml/2006/main">
              <a:ext uri="{FF2B5EF4-FFF2-40B4-BE49-F238E27FC236}">
                <a16:creationId xmlns:a16="http://schemas.microsoft.com/office/drawing/2014/main" id="{82FD656C-9D10-4DEC-A1B8-02C6B188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958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22" name=""/>
          <p:cNvCxnSpPr>
            <a:stCxn xmlns:a="http://schemas.openxmlformats.org/drawingml/2006/main" id="21" idx="4"/>
            <a:endCxn xmlns:a="http://schemas.openxmlformats.org/drawingml/2006/main" id="78" idx="0"/>
          </p:cNvCxnSpPr>
          <p:nvPr/>
        </p:nvCxnSpPr>
        <p:spPr>
          <a:xfrm xmlns:a="http://schemas.openxmlformats.org/drawingml/2006/main">
            <a:off x="8401050" y="3733800"/>
            <a:ext cx="0" cy="9620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4943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658009881"/>
      </p:ext>
    </p:extLst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7" name="Rectangles 26"/>
          <p:cNvSpPr>
            <a:spLocks noGrp="1"/>
          </p:cNvSpPr>
          <p:nvPr/>
        </p:nvSpPr>
        <p:spPr>
          <a:xfrm>
            <a:off x="533400" y="247650"/>
            <a:ext cx="1476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CODEMASTERS</a:t>
            </a:r>
            <a:endParaRPr sz="12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" name="Rectangles 1"/>
          <p:cNvSpPr>
            <a:spLocks noGrp="1"/>
          </p:cNvSpPr>
          <p:nvPr/>
        </p:nvSpPr>
        <p:spPr>
          <a:xfrm>
            <a:off x="2038350" y="247650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/</a:t>
            </a:r>
            <a:endParaRPr sz="12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3" name="Rectangles 2"/>
          <p:cNvSpPr>
            <a:spLocks noGrp="1"/>
          </p:cNvSpPr>
          <p:nvPr/>
        </p:nvSpPr>
        <p:spPr>
          <a:xfrm>
            <a:off x="2286000" y="247650"/>
            <a:ext cx="447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ДОКАЗАТЕЛЬСТВО ВЫБОРА</a:t>
            </a:r>
            <a:endParaRPr sz="12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4" name="Rectangles 3"/>
          <p:cNvSpPr>
            <a:spLocks noGrp="1"/>
          </p:cNvSpPr>
          <p:nvPr/>
        </p:nvSpPr>
        <p:spPr>
          <a:xfrm>
            <a:off x="10858500" y="24765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r">
              <a:defRPr sz="1200" b="1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04</a:t>
            </a:r>
            <a:endParaRPr sz="1200" b="1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5" name="Rectangles 4"/>
          <p:cNvSpPr>
            <a:spLocks noGrp="1"/>
          </p:cNvSpPr>
          <p:nvPr/>
        </p:nvSpPr>
        <p:spPr>
          <a:xfrm>
            <a:off x="533400" y="66675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3225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3225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Почему Vipay выбран для op_109</a:t>
            </a:r>
            <a:endParaRPr sz="3225" b="0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6" name="Rectangles 5"/>
          <p:cNvSpPr>
            <a:spLocks noGrp="1"/>
          </p:cNvSpPr>
          <p:nvPr/>
        </p:nvSpPr>
        <p:spPr>
          <a:xfrm>
            <a:off x="552450" y="1276350"/>
            <a:ext cx="10820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Payflow исключён по банку. Два допустимых кандидата сравниваются по всем десяти факторам.</a:t>
            </a:r>
            <a:endParaRPr sz="1575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7" name="Straight Connector 6"/>
          <p:cNvSpPr>
            <a:spLocks noGrp="1"/>
          </p:cNvSpPr>
          <p:nvPr/>
        </p:nvSpPr>
        <p:spPr>
          <a:xfrm>
            <a:off x="533400" y="1790700"/>
            <a:ext cx="11125200" cy="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8" name="Rectangles 7"/>
          <p:cNvSpPr>
            <a:spLocks noGrp="1"/>
          </p:cNvSpPr>
          <p:nvPr/>
        </p:nvSpPr>
        <p:spPr>
          <a:xfrm>
            <a:off x="609600" y="2076450"/>
            <a:ext cx="1524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ВЫБРАН</a:t>
            </a:r>
            <a:endParaRPr sz="12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9" name="Rectangles 8"/>
          <p:cNvSpPr>
            <a:spLocks noGrp="1"/>
          </p:cNvSpPr>
          <p:nvPr/>
        </p:nvSpPr>
        <p:spPr>
          <a:xfrm>
            <a:off x="609600" y="2362200"/>
            <a:ext cx="27146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625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Vipay</a:t>
            </a:r>
            <a:endParaRPr sz="2625" b="1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0" name="Rectangles 9"/>
          <p:cNvSpPr>
            <a:spLocks noGrp="1"/>
          </p:cNvSpPr>
          <p:nvPr/>
        </p:nvSpPr>
        <p:spPr>
          <a:xfrm>
            <a:off x="609600" y="2809875"/>
            <a:ext cx="304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3150" b="0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3150" b="0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3.473200</a:t>
            </a:r>
            <a:endParaRPr sz="3150" b="0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1" name="Rectangles 10"/>
          <p:cNvSpPr>
            <a:spLocks noGrp="1"/>
          </p:cNvSpPr>
          <p:nvPr/>
        </p:nvSpPr>
        <p:spPr>
          <a:xfrm>
            <a:off x="609600" y="3343275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3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approved · 49 с</a:t>
            </a:r>
            <a:endParaRPr sz="135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2" name="Straight Connector 11"/>
          <p:cNvSpPr>
            <a:spLocks noGrp="1"/>
          </p:cNvSpPr>
          <p:nvPr/>
        </p:nvSpPr>
        <p:spPr>
          <a:xfrm>
            <a:off x="4095750" y="2076450"/>
            <a:ext cx="0" cy="152400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13" name="Rectangles 12"/>
          <p:cNvSpPr>
            <a:spLocks noGrp="1"/>
          </p:cNvSpPr>
          <p:nvPr/>
        </p:nvSpPr>
        <p:spPr>
          <a:xfrm>
            <a:off x="4533900" y="2076450"/>
            <a:ext cx="1524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ДОПУСТИМ</a:t>
            </a:r>
            <a:endParaRPr sz="1200" b="1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4" name="Rectangles 13"/>
          <p:cNvSpPr>
            <a:spLocks noGrp="1"/>
          </p:cNvSpPr>
          <p:nvPr/>
        </p:nvSpPr>
        <p:spPr>
          <a:xfrm>
            <a:off x="4533900" y="2362200"/>
            <a:ext cx="2476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625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Quickpay</a:t>
            </a:r>
            <a:endParaRPr sz="2625" b="1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5" name="Rectangles 14"/>
          <p:cNvSpPr>
            <a:spLocks noGrp="1"/>
          </p:cNvSpPr>
          <p:nvPr/>
        </p:nvSpPr>
        <p:spPr>
          <a:xfrm>
            <a:off x="4533900" y="2809875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3150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3150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-2.746254</a:t>
            </a:r>
            <a:endParaRPr sz="3150" b="0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6" name="Rectangles 15"/>
          <p:cNvSpPr>
            <a:spLocks noGrp="1"/>
          </p:cNvSpPr>
          <p:nvPr/>
        </p:nvSpPr>
        <p:spPr>
          <a:xfrm>
            <a:off x="4533900" y="33432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3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ниже на 6,219454</a:t>
            </a:r>
            <a:endParaRPr sz="135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7" name="Straight Connector 16"/>
          <p:cNvSpPr>
            <a:spLocks noGrp="1"/>
          </p:cNvSpPr>
          <p:nvPr/>
        </p:nvSpPr>
        <p:spPr>
          <a:xfrm>
            <a:off x="7962900" y="2076450"/>
            <a:ext cx="0" cy="152400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18" name="Rectangles 17"/>
          <p:cNvSpPr>
            <a:spLocks noGrp="1"/>
          </p:cNvSpPr>
          <p:nvPr/>
        </p:nvSpPr>
        <p:spPr>
          <a:xfrm>
            <a:off x="8401050" y="20764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B84943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B84943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ИСКЛЮЧЁН ДО SCORING</a:t>
            </a:r>
            <a:endParaRPr sz="1200" b="1">
              <a:solidFill>
                <a:srgbClr val="B84943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9" name="Rectangles 18"/>
          <p:cNvSpPr>
            <a:spLocks noGrp="1"/>
          </p:cNvSpPr>
          <p:nvPr/>
        </p:nvSpPr>
        <p:spPr>
          <a:xfrm>
            <a:off x="8401050" y="2362200"/>
            <a:ext cx="2857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625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Payflow</a:t>
            </a:r>
            <a:endParaRPr sz="2625" b="1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0" name="Rectangles 19"/>
          <p:cNvSpPr>
            <a:spLocks noGrp="1"/>
          </p:cNvSpPr>
          <p:nvPr/>
        </p:nvSpPr>
        <p:spPr>
          <a:xfrm>
            <a:off x="8401050" y="2895600"/>
            <a:ext cx="2857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800" b="1">
                <a:solidFill>
                  <a:srgbClr val="B84943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800" b="1">
                <a:solidFill>
                  <a:srgbClr val="B84943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bank_not_in_list</a:t>
            </a:r>
            <a:endParaRPr sz="1800" b="1">
              <a:solidFill>
                <a:srgbClr val="B84943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1" name="Rectangles 20"/>
          <p:cNvSpPr>
            <a:spLocks noGrp="1"/>
          </p:cNvSpPr>
          <p:nvPr/>
        </p:nvSpPr>
        <p:spPr>
          <a:xfrm>
            <a:off x="8401050" y="33432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3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35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операция через VTB</a:t>
            </a:r>
            <a:endParaRPr sz="135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graphicFrame>
        <p:nvGraphicFramePr>
          <p:cNvPr id="48" name="Table 47"/>
          <p:cNvGraphicFramePr/>
          <p:nvPr/>
        </p:nvGraphicFramePr>
        <p:xfrm>
          <a:off x="609600" y="3905250"/>
          <a:ext cx="10972800" cy="2076450"/>
        </p:xfrm>
        <a:graphic>
          <a:graphicData uri="http://schemas.openxmlformats.org/drawingml/2006/table">
            <a:tbl>
              <a:tblPr/>
              <a:tblGrid>
                <a:gridCol w="4000500"/>
                <a:gridCol w="2047875"/>
                <a:gridCol w="2047875"/>
                <a:gridCol w="2876550"/>
              </a:tblGrid>
              <a:tr h="415290"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Группа вкладов</a:t>
                      </a:r>
                      <a:endParaRPr sz="1425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Vipay</a:t>
                      </a:r>
                      <a:endParaRPr sz="1425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Quickpay</a:t>
                      </a:r>
                      <a:endParaRPr sz="1425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Преимущество</a:t>
                      </a:r>
                      <a:endParaRPr sz="1425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Целевые доли count + volume</a:t>
                      </a:r>
                      <a:endParaRPr sz="1425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+1,88</a:t>
                      </a:r>
                      <a:endParaRPr sz="1425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-4,44</a:t>
                      </a:r>
                      <a:endParaRPr sz="1425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Vipay</a:t>
                      </a:r>
                      <a:endParaRPr sz="1425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Качество и бизнес-факторы</a:t>
                      </a:r>
                      <a:endParaRPr sz="1425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+2,98</a:t>
                      </a:r>
                      <a:endParaRPr sz="1425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+1,74</a:t>
                      </a:r>
                      <a:endParaRPr sz="1425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Vipay</a:t>
                      </a:r>
                      <a:endParaRPr sz="1425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Штрафы load + latency + cost</a:t>
                      </a:r>
                      <a:endParaRPr sz="1425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-1,39</a:t>
                      </a:r>
                      <a:endParaRPr sz="1425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-0,05</a:t>
                      </a:r>
                      <a:endParaRPr sz="1425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Quickpay</a:t>
                      </a:r>
                      <a:endParaRPr sz="1425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  <a:tr h="415290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Итоговая взвешенная оценка</a:t>
                      </a:r>
                      <a:endParaRPr sz="1425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6866D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3,473200</a:t>
                      </a:r>
                      <a:endParaRPr sz="1425" b="1">
                        <a:solidFill>
                          <a:srgbClr val="16866D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C9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-2,746254</a:t>
                      </a:r>
                      <a:endParaRPr sz="1425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16866D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Vipay</a:t>
                      </a:r>
                      <a:endParaRPr sz="1425" b="1">
                        <a:solidFill>
                          <a:srgbClr val="16866D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C9F1E4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s 22"/>
          <p:cNvSpPr>
            <a:spLocks noGrp="1"/>
          </p:cNvSpPr>
          <p:nvPr/>
        </p:nvSpPr>
        <p:spPr>
          <a:xfrm>
            <a:off x="609600" y="6096000"/>
            <a:ext cx="1097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15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Vipay выигрывает с преимуществом 6,2195 балла.</a:t>
            </a:r>
            <a:endParaRPr sz="15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4" name="Straight Connector 23"/>
          <p:cNvSpPr>
            <a:spLocks noGrp="1"/>
          </p:cNvSpPr>
          <p:nvPr/>
        </p:nvSpPr>
        <p:spPr>
          <a:xfrm>
            <a:off x="533400" y="6515100"/>
            <a:ext cx="11125200" cy="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25" name="Rectangles 24"/>
          <p:cNvSpPr>
            <a:spLocks noGrp="1"/>
          </p:cNvSpPr>
          <p:nvPr/>
        </p:nvSpPr>
        <p:spPr>
          <a:xfrm>
            <a:off x="533400" y="6572250"/>
            <a:ext cx="6858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9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RouteLens · объяснимый роутинг выплат</a:t>
            </a:r>
            <a:endParaRPr sz="90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6" name="Rectangles 25"/>
          <p:cNvSpPr>
            <a:spLocks noGrp="1"/>
          </p:cNvSpPr>
          <p:nvPr/>
        </p:nvSpPr>
        <p:spPr>
          <a:xfrm>
            <a:off x="9620250" y="6572250"/>
            <a:ext cx="20383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r">
              <a:defRPr sz="9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CODEMASTERS</a:t>
            </a:r>
            <a:endParaRPr sz="9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Rectangles 25"/>
          <p:cNvSpPr>
            <a:spLocks noGrp="1"/>
          </p:cNvSpPr>
          <p:nvPr/>
        </p:nvSpPr>
        <p:spPr>
          <a:xfrm>
            <a:off x="533400" y="2476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ОТКАЗОУСТОЙЧИВОСТЬ</a:t>
            </a:r>
            <a:endParaRPr sz="12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" name="Rectangles 1"/>
          <p:cNvSpPr>
            <a:spLocks noGrp="1"/>
          </p:cNvSpPr>
          <p:nvPr/>
        </p:nvSpPr>
        <p:spPr>
          <a:xfrm>
            <a:off x="10858500" y="24765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r">
              <a:defRPr sz="1200" b="1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05</a:t>
            </a:r>
            <a:endParaRPr sz="1200" b="1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3" name="Rectangles 2"/>
          <p:cNvSpPr>
            <a:spLocks noGrp="1"/>
          </p:cNvSpPr>
          <p:nvPr/>
        </p:nvSpPr>
        <p:spPr>
          <a:xfrm>
            <a:off x="533400" y="66675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3225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3225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Две попытки завершают op_101</a:t>
            </a:r>
            <a:endParaRPr sz="3225" b="0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4" name="Rectangles 3"/>
          <p:cNvSpPr>
            <a:spLocks noGrp="1"/>
          </p:cNvSpPr>
          <p:nvPr/>
        </p:nvSpPr>
        <p:spPr>
          <a:xfrm>
            <a:off x="552450" y="1276350"/>
            <a:ext cx="10820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Первый сбой освобождает ресурсы. Следующий провайдер получает новый расчёт.</a:t>
            </a:r>
            <a:endParaRPr sz="1575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5" name="Straight Connector 4"/>
          <p:cNvSpPr>
            <a:spLocks noGrp="1"/>
          </p:cNvSpPr>
          <p:nvPr/>
        </p:nvSpPr>
        <p:spPr>
          <a:xfrm>
            <a:off x="533400" y="1790700"/>
            <a:ext cx="11125200" cy="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6" name="Rectangles 5"/>
          <p:cNvSpPr>
            <a:spLocks noGrp="1"/>
          </p:cNvSpPr>
          <p:nvPr/>
        </p:nvSpPr>
        <p:spPr>
          <a:xfrm>
            <a:off x="1905000" y="211455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1125" b="1">
                <a:solidFill>
                  <a:srgbClr val="C87912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125" b="1">
                <a:solidFill>
                  <a:srgbClr val="C87912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ПОПЫТКА 1</a:t>
            </a:r>
            <a:endParaRPr sz="1125" b="1">
              <a:solidFill>
                <a:srgbClr val="C87912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7" name="Rectangles 6"/>
          <p:cNvSpPr>
            <a:spLocks noGrp="1"/>
          </p:cNvSpPr>
          <p:nvPr/>
        </p:nvSpPr>
        <p:spPr>
          <a:xfrm>
            <a:off x="1714500" y="2381250"/>
            <a:ext cx="2476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2100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100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vipay</a:t>
            </a:r>
            <a:endParaRPr sz="2100" b="1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8" name="Oval 7"/>
          <p:cNvSpPr>
            <a:spLocks noGrp="1"/>
          </p:cNvSpPr>
          <p:nvPr/>
        </p:nvSpPr>
        <p:spPr>
          <a:xfrm>
            <a:off x="2800350" y="2924175"/>
            <a:ext cx="304800" cy="304800"/>
          </a:xfrm>
          <a:prstGeom prst="ellipse">
            <a:avLst/>
          </a:prstGeom>
          <a:solidFill>
            <a:srgbClr val="C87912"/>
          </a:solidFill>
          <a:ln w="0">
            <a:solidFill>
              <a:srgbClr val="C87912"/>
            </a:solidFill>
            <a:prstDash val="solid"/>
          </a:ln>
        </p:spPr>
      </p:sp>
      <p:sp>
        <p:nvSpPr>
          <p:cNvPr id="9" name="Rectangles 8"/>
          <p:cNvSpPr>
            <a:spLocks noGrp="1"/>
          </p:cNvSpPr>
          <p:nvPr/>
        </p:nvSpPr>
        <p:spPr>
          <a:xfrm>
            <a:off x="1714500" y="33528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1425" b="1">
                <a:solidFill>
                  <a:srgbClr val="C87912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425" b="1">
                <a:solidFill>
                  <a:srgbClr val="C87912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expired · 47 с</a:t>
            </a:r>
            <a:endParaRPr sz="1425" b="1">
              <a:solidFill>
                <a:srgbClr val="C87912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0" name="Rectangles 9"/>
          <p:cNvSpPr>
            <a:spLocks noGrp="1"/>
          </p:cNvSpPr>
          <p:nvPr/>
        </p:nvSpPr>
        <p:spPr>
          <a:xfrm>
            <a:off x="8191500" y="211455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112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12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ПОПЫТКА 2</a:t>
            </a:r>
            <a:endParaRPr sz="1125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1" name="Rectangles 10"/>
          <p:cNvSpPr>
            <a:spLocks noGrp="1"/>
          </p:cNvSpPr>
          <p:nvPr/>
        </p:nvSpPr>
        <p:spPr>
          <a:xfrm>
            <a:off x="8001000" y="2381250"/>
            <a:ext cx="2476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2100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100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payflow</a:t>
            </a:r>
            <a:endParaRPr sz="2100" b="1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2" name="Oval 11"/>
          <p:cNvSpPr>
            <a:spLocks noGrp="1"/>
          </p:cNvSpPr>
          <p:nvPr/>
        </p:nvSpPr>
        <p:spPr>
          <a:xfrm>
            <a:off x="9086850" y="2924175"/>
            <a:ext cx="304800" cy="304800"/>
          </a:xfrm>
          <a:prstGeom prst="ellipse">
            <a:avLst/>
          </a:prstGeom>
          <a:solidFill>
            <a:srgbClr val="16866D"/>
          </a:solidFill>
          <a:ln w="0">
            <a:solidFill>
              <a:srgbClr val="16866D"/>
            </a:solidFill>
            <a:prstDash val="solid"/>
          </a:ln>
        </p:spPr>
      </p:sp>
      <p:sp>
        <p:nvSpPr>
          <p:cNvPr id="13" name="Rectangles 12"/>
          <p:cNvSpPr>
            <a:spLocks noGrp="1"/>
          </p:cNvSpPr>
          <p:nvPr/>
        </p:nvSpPr>
        <p:spPr>
          <a:xfrm>
            <a:off x="8001000" y="33528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142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42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approved · 55 с</a:t>
            </a:r>
            <a:endParaRPr sz="1425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cxnSp>
        <p:nvCxnSpPr>
          <p:cNvPr id="39" name="Straight Arrow Connector 38"/>
          <p:cNvCxnSpPr>
            <a:stCxn id="8" idx="6"/>
            <a:endCxn id="12" idx="2"/>
          </p:cNvCxnSpPr>
          <p:nvPr/>
        </p:nvCxnSpPr>
        <p:spPr>
          <a:xfrm>
            <a:off x="3105150" y="3076575"/>
            <a:ext cx="5981700" cy="0"/>
          </a:xfrm>
          <a:prstGeom prst="straightConnector1">
            <a:avLst/>
          </a:prstGeom>
          <a:ln w="19050">
            <a:solidFill>
              <a:srgbClr val="C87912"/>
            </a:solidFill>
            <a:prstDash val="solid"/>
            <a:tailEnd type="triangle" w="sm" len="sm"/>
          </a:ln>
        </p:spPr>
      </p:cxnSp>
      <p:graphicFrame>
        <p:nvGraphicFramePr>
          <p:cNvPr id="40" name="Table 39"/>
          <p:cNvGraphicFramePr/>
          <p:nvPr/>
        </p:nvGraphicFramePr>
        <p:xfrm>
          <a:off x="609600" y="3943350"/>
          <a:ext cx="7524750" cy="2114550"/>
        </p:xfrm>
        <a:graphic>
          <a:graphicData uri="http://schemas.openxmlformats.org/drawingml/2006/table">
            <a:tbl>
              <a:tblPr/>
              <a:tblGrid>
                <a:gridCol w="2952750"/>
                <a:gridCol w="1524000"/>
                <a:gridCol w="1524000"/>
                <a:gridCol w="1524000"/>
              </a:tblGrid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Резерв Vipay</a:t>
                      </a:r>
                      <a:endParaRPr sz="1350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До</a:t>
                      </a:r>
                      <a:endParaRPr sz="1350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Резерв</a:t>
                      </a:r>
                      <a:endParaRPr sz="1350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После сбоя</a:t>
                      </a:r>
                      <a:endParaRPr sz="1350" b="1">
                        <a:solidFill>
                          <a:srgbClr val="FFFFF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57150" marB="57150" anchor="ctr">
                    <a:solidFill>
                      <a:srgbClr val="082E24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Незавершённые операции</a:t>
                      </a:r>
                      <a:endParaRPr sz="1350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4</a:t>
                      </a:r>
                      <a:endParaRPr sz="1350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5</a:t>
                      </a:r>
                      <a:endParaRPr sz="1350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6E4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4</a:t>
                      </a:r>
                      <a:endParaRPr sz="1350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Незавершённая сумма</a:t>
                      </a:r>
                      <a:endParaRPr sz="1350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380000</a:t>
                      </a:r>
                      <a:endParaRPr sz="1350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395000</a:t>
                      </a:r>
                      <a:endParaRPr sz="1350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6E4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380000</a:t>
                      </a:r>
                      <a:endParaRPr sz="1350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Доступные реквизиты</a:t>
                      </a:r>
                      <a:endParaRPr sz="1350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12</a:t>
                      </a:r>
                      <a:endParaRPr sz="1350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11</a:t>
                      </a:r>
                      <a:endParaRPr sz="1350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6E4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12</a:t>
                      </a:r>
                      <a:endParaRPr sz="1350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Одобрено за день</a:t>
                      </a:r>
                      <a:endParaRPr sz="1350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3200000</a:t>
                      </a:r>
                      <a:endParaRPr sz="1350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3200000</a:t>
                      </a:r>
                      <a:endParaRPr sz="1350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6E4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4251F"/>
                          </a:solidFill>
                          <a:latin typeface="Noto Sans" panose="020B0502040504020204"/>
                          <a:ea typeface="Noto Sans" panose="020B0502040504020204"/>
                          <a:cs typeface="Noto Sans" panose="020B0502040504020204"/>
                        </a:rPr>
                        <a:t>3200000</a:t>
                      </a:r>
                      <a:endParaRPr sz="1350" b="0">
                        <a:solidFill>
                          <a:srgbClr val="14251F"/>
                        </a:solidFill>
                        <a:latin typeface="Noto Sans" panose="020B0502040504020204"/>
                        <a:ea typeface="Noto Sans" panose="020B0502040504020204"/>
                        <a:cs typeface="Noto Sans" panose="020B0502040504020204"/>
                      </a:endParaRPr>
                    </a:p>
                  </a:txBody>
                  <a:tcPr marL="76200" marR="76200" marT="47625" marB="476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traight Connector 15"/>
          <p:cNvSpPr>
            <a:spLocks noGrp="1"/>
          </p:cNvSpPr>
          <p:nvPr/>
        </p:nvSpPr>
        <p:spPr>
          <a:xfrm>
            <a:off x="8591550" y="3943350"/>
            <a:ext cx="0" cy="211455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17" name="Rectangles 16"/>
          <p:cNvSpPr>
            <a:spLocks noGrp="1"/>
          </p:cNvSpPr>
          <p:nvPr/>
        </p:nvSpPr>
        <p:spPr>
          <a:xfrm>
            <a:off x="9010650" y="4000500"/>
            <a:ext cx="2190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3675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3675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102 с</a:t>
            </a:r>
            <a:endParaRPr sz="3675" b="0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8" name="Rectangles 17"/>
          <p:cNvSpPr>
            <a:spLocks noGrp="1"/>
          </p:cNvSpPr>
          <p:nvPr/>
        </p:nvSpPr>
        <p:spPr>
          <a:xfrm>
            <a:off x="9010650" y="4591050"/>
            <a:ext cx="2190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суммарная задержка</a:t>
            </a:r>
            <a:endParaRPr sz="1275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9" name="Straight Connector 18"/>
          <p:cNvSpPr>
            <a:spLocks noGrp="1"/>
          </p:cNvSpPr>
          <p:nvPr/>
        </p:nvSpPr>
        <p:spPr>
          <a:xfrm>
            <a:off x="9105900" y="5095875"/>
            <a:ext cx="2000250" cy="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20" name="Rectangles 19"/>
          <p:cNvSpPr>
            <a:spLocks noGrp="1"/>
          </p:cNvSpPr>
          <p:nvPr/>
        </p:nvSpPr>
        <p:spPr>
          <a:xfrm>
            <a:off x="9010650" y="5219700"/>
            <a:ext cx="2190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285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85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100%</a:t>
            </a:r>
            <a:endParaRPr sz="285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1" name="Rectangles 20"/>
          <p:cNvSpPr>
            <a:spLocks noGrp="1"/>
          </p:cNvSpPr>
          <p:nvPr/>
        </p:nvSpPr>
        <p:spPr>
          <a:xfrm>
            <a:off x="9010650" y="5676900"/>
            <a:ext cx="2190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восстановление</a:t>
            </a:r>
            <a:endParaRPr sz="1275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2" name="Rectangles 21"/>
          <p:cNvSpPr>
            <a:spLocks noGrp="1"/>
          </p:cNvSpPr>
          <p:nvPr/>
        </p:nvSpPr>
        <p:spPr>
          <a:xfrm>
            <a:off x="609600" y="6162675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1425" b="1">
                <a:solidFill>
                  <a:srgbClr val="C87912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425" b="1">
                <a:solidFill>
                  <a:srgbClr val="C87912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op_102: Quickpay expired  ·  Payflow rejected  ·  SpacePayments approved</a:t>
            </a:r>
            <a:endParaRPr sz="1425" b="1">
              <a:solidFill>
                <a:srgbClr val="C87912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3" name="Straight Connector 22"/>
          <p:cNvSpPr>
            <a:spLocks noGrp="1"/>
          </p:cNvSpPr>
          <p:nvPr/>
        </p:nvSpPr>
        <p:spPr>
          <a:xfrm>
            <a:off x="533400" y="6515100"/>
            <a:ext cx="11125200" cy="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24" name="Rectangles 23"/>
          <p:cNvSpPr>
            <a:spLocks noGrp="1"/>
          </p:cNvSpPr>
          <p:nvPr/>
        </p:nvSpPr>
        <p:spPr>
          <a:xfrm>
            <a:off x="533400" y="6572250"/>
            <a:ext cx="6858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9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RouteLens · объяснимый роутинг выплат</a:t>
            </a:r>
            <a:endParaRPr sz="90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5" name="Rectangles 24"/>
          <p:cNvSpPr>
            <a:spLocks noGrp="1"/>
          </p:cNvSpPr>
          <p:nvPr/>
        </p:nvSpPr>
        <p:spPr>
          <a:xfrm>
            <a:off x="9620250" y="6572250"/>
            <a:ext cx="20383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r">
              <a:defRPr sz="9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CODEMASTERS</a:t>
            </a:r>
            <a:endParaRPr sz="9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Rectangles 28"/>
          <p:cNvSpPr>
            <a:spLocks noGrp="1"/>
          </p:cNvSpPr>
          <p:nvPr/>
        </p:nvSpPr>
        <p:spPr>
          <a:xfrm>
            <a:off x="533400" y="247650"/>
            <a:ext cx="1476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CODEMASTERS</a:t>
            </a:r>
            <a:endParaRPr sz="12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" name="Rectangles 1"/>
          <p:cNvSpPr>
            <a:spLocks noGrp="1"/>
          </p:cNvSpPr>
          <p:nvPr/>
        </p:nvSpPr>
        <p:spPr>
          <a:xfrm>
            <a:off x="2038350" y="247650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/</a:t>
            </a:r>
            <a:endParaRPr sz="12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3" name="Rectangles 2"/>
          <p:cNvSpPr>
            <a:spLocks noGrp="1"/>
          </p:cNvSpPr>
          <p:nvPr/>
        </p:nvSpPr>
        <p:spPr>
          <a:xfrm>
            <a:off x="2286000" y="247650"/>
            <a:ext cx="447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POLICY LAB</a:t>
            </a:r>
            <a:endParaRPr sz="12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4" name="Rectangles 3"/>
          <p:cNvSpPr>
            <a:spLocks noGrp="1"/>
          </p:cNvSpPr>
          <p:nvPr/>
        </p:nvSpPr>
        <p:spPr>
          <a:xfrm>
            <a:off x="10858500" y="24765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r">
              <a:defRPr sz="1200" b="1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06</a:t>
            </a:r>
            <a:endParaRPr sz="1200" b="1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5" name="Rectangles 4"/>
          <p:cNvSpPr>
            <a:spLocks noGrp="1"/>
          </p:cNvSpPr>
          <p:nvPr/>
        </p:nvSpPr>
        <p:spPr>
          <a:xfrm>
            <a:off x="533400" y="66675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3225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3225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Цена изменения политики</a:t>
            </a:r>
            <a:endParaRPr sz="3225" b="0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6" name="Rectangles 5"/>
          <p:cNvSpPr>
            <a:spLocks noGrp="1"/>
          </p:cNvSpPr>
          <p:nvPr/>
        </p:nvSpPr>
        <p:spPr>
          <a:xfrm>
            <a:off x="552450" y="1276350"/>
            <a:ext cx="10820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Одинаковая очередь и approve_all изолируют влияние весов. Рекомендация тоже проходит replay.</a:t>
            </a:r>
            <a:endParaRPr sz="1575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7" name="Straight Connector 6"/>
          <p:cNvSpPr>
            <a:spLocks noGrp="1"/>
          </p:cNvSpPr>
          <p:nvPr/>
        </p:nvSpPr>
        <p:spPr>
          <a:xfrm>
            <a:off x="533400" y="1790700"/>
            <a:ext cx="11125200" cy="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="400050" y="2076450"/>
          <a:ext cx="7334250" cy="38576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traight Connector 8"/>
          <p:cNvSpPr>
            <a:spLocks noGrp="1"/>
          </p:cNvSpPr>
          <p:nvPr/>
        </p:nvSpPr>
        <p:spPr>
          <a:xfrm>
            <a:off x="7981950" y="2133600"/>
            <a:ext cx="0" cy="379095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10" name="Rectangles 9"/>
          <p:cNvSpPr>
            <a:spLocks noGrp="1"/>
          </p:cNvSpPr>
          <p:nvPr/>
        </p:nvSpPr>
        <p:spPr>
          <a:xfrm>
            <a:off x="8439150" y="21145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REPLAY РЕКОМЕНДАЦИИ</a:t>
            </a:r>
            <a:endParaRPr sz="12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1" name="Rectangles 10"/>
          <p:cNvSpPr>
            <a:spLocks noGrp="1"/>
          </p:cNvSpPr>
          <p:nvPr/>
        </p:nvSpPr>
        <p:spPr>
          <a:xfrm>
            <a:off x="8439150" y="25336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500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00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Доли трафика</a:t>
            </a:r>
            <a:endParaRPr sz="1500" b="1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2" name="Rectangles 11"/>
          <p:cNvSpPr>
            <a:spLocks noGrp="1"/>
          </p:cNvSpPr>
          <p:nvPr/>
        </p:nvSpPr>
        <p:spPr>
          <a:xfrm>
            <a:off x="8439150" y="2857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12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12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Vipay · Payflow · Quickpay</a:t>
            </a:r>
            <a:endParaRPr sz="1125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3" name="Rectangles 12"/>
          <p:cNvSpPr>
            <a:spLocks noGrp="1"/>
          </p:cNvSpPr>
          <p:nvPr/>
        </p:nvSpPr>
        <p:spPr>
          <a:xfrm>
            <a:off x="8439150" y="3219450"/>
            <a:ext cx="285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202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02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40 / 35 / 25</a:t>
            </a:r>
            <a:endParaRPr sz="2025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4" name="Rectangles 13"/>
          <p:cNvSpPr>
            <a:spLocks noGrp="1"/>
          </p:cNvSpPr>
          <p:nvPr/>
        </p:nvSpPr>
        <p:spPr>
          <a:xfrm>
            <a:off x="8439150" y="360045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225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25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40 / 10 / 50</a:t>
            </a:r>
            <a:endParaRPr sz="225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5" name="Straight Connector 14"/>
          <p:cNvSpPr>
            <a:spLocks noGrp="1"/>
          </p:cNvSpPr>
          <p:nvPr/>
        </p:nvSpPr>
        <p:spPr>
          <a:xfrm>
            <a:off x="8439150" y="4267200"/>
            <a:ext cx="2857500" cy="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16" name="Rectangles 15"/>
          <p:cNvSpPr>
            <a:spLocks noGrp="1"/>
          </p:cNvSpPr>
          <p:nvPr/>
        </p:nvSpPr>
        <p:spPr>
          <a:xfrm>
            <a:off x="8439150" y="44386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Payflow util.</a:t>
            </a:r>
            <a:endParaRPr sz="120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7" name="Rectangles 16"/>
          <p:cNvSpPr>
            <a:spLocks noGrp="1"/>
          </p:cNvSpPr>
          <p:nvPr/>
        </p:nvSpPr>
        <p:spPr>
          <a:xfrm>
            <a:off x="9582150" y="4438650"/>
            <a:ext cx="895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99.63%</a:t>
            </a:r>
            <a:endParaRPr sz="120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8" name="Rectangles 17"/>
          <p:cNvSpPr>
            <a:spLocks noGrp="1"/>
          </p:cNvSpPr>
          <p:nvPr/>
        </p:nvSpPr>
        <p:spPr>
          <a:xfrm>
            <a:off x="10515600" y="4438650"/>
            <a:ext cx="781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r">
              <a:defRPr sz="127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96.69%</a:t>
            </a:r>
            <a:endParaRPr sz="1275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9" name="Rectangles 18"/>
          <p:cNvSpPr>
            <a:spLocks noGrp="1"/>
          </p:cNvSpPr>
          <p:nvPr/>
        </p:nvSpPr>
        <p:spPr>
          <a:xfrm>
            <a:off x="8439150" y="48958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Count, п.п.</a:t>
            </a:r>
            <a:endParaRPr sz="120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0" name="Rectangles 19"/>
          <p:cNvSpPr>
            <a:spLocks noGrp="1"/>
          </p:cNvSpPr>
          <p:nvPr/>
        </p:nvSpPr>
        <p:spPr>
          <a:xfrm>
            <a:off x="9582150" y="4895850"/>
            <a:ext cx="895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10</a:t>
            </a:r>
            <a:endParaRPr sz="120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1" name="Rectangles 20"/>
          <p:cNvSpPr>
            <a:spLocks noGrp="1"/>
          </p:cNvSpPr>
          <p:nvPr/>
        </p:nvSpPr>
        <p:spPr>
          <a:xfrm>
            <a:off x="10515600" y="4895850"/>
            <a:ext cx="781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r">
              <a:defRPr sz="127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0</a:t>
            </a:r>
            <a:endParaRPr sz="1275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2" name="Rectangles 21"/>
          <p:cNvSpPr>
            <a:spLocks noGrp="1"/>
          </p:cNvSpPr>
          <p:nvPr/>
        </p:nvSpPr>
        <p:spPr>
          <a:xfrm>
            <a:off x="8439150" y="53530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Volume, п.п.</a:t>
            </a:r>
            <a:endParaRPr sz="120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3" name="Rectangles 22"/>
          <p:cNvSpPr>
            <a:spLocks noGrp="1"/>
          </p:cNvSpPr>
          <p:nvPr/>
        </p:nvSpPr>
        <p:spPr>
          <a:xfrm>
            <a:off x="9582150" y="5353050"/>
            <a:ext cx="895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r">
              <a:defRPr sz="12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51.08</a:t>
            </a:r>
            <a:endParaRPr sz="120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4" name="Rectangles 23"/>
          <p:cNvSpPr>
            <a:spLocks noGrp="1"/>
          </p:cNvSpPr>
          <p:nvPr/>
        </p:nvSpPr>
        <p:spPr>
          <a:xfrm>
            <a:off x="10515600" y="5353050"/>
            <a:ext cx="781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r">
              <a:defRPr sz="1275" b="1">
                <a:solidFill>
                  <a:srgbClr val="C87912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1">
                <a:solidFill>
                  <a:srgbClr val="C87912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96.7</a:t>
            </a:r>
            <a:endParaRPr sz="1275" b="1">
              <a:solidFill>
                <a:srgbClr val="C87912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5" name="Rectangles 24"/>
          <p:cNvSpPr>
            <a:spLocks noGrp="1"/>
          </p:cNvSpPr>
          <p:nvPr/>
        </p:nvSpPr>
        <p:spPr>
          <a:xfrm>
            <a:off x="609600" y="6153150"/>
            <a:ext cx="1097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1425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425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Риск по ёмкости ниже, баланс объёма хуже. Компромисс виден до применения.</a:t>
            </a:r>
            <a:endParaRPr sz="1425" b="1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6" name="Straight Connector 25"/>
          <p:cNvSpPr>
            <a:spLocks noGrp="1"/>
          </p:cNvSpPr>
          <p:nvPr/>
        </p:nvSpPr>
        <p:spPr>
          <a:xfrm>
            <a:off x="533400" y="6515100"/>
            <a:ext cx="11125200" cy="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27" name="Rectangles 26"/>
          <p:cNvSpPr>
            <a:spLocks noGrp="1"/>
          </p:cNvSpPr>
          <p:nvPr/>
        </p:nvSpPr>
        <p:spPr>
          <a:xfrm>
            <a:off x="533400" y="6572250"/>
            <a:ext cx="6858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9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RouteLens · объяснимый роутинг выплат</a:t>
            </a:r>
            <a:endParaRPr sz="90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8" name="Rectangles 27"/>
          <p:cNvSpPr>
            <a:spLocks noGrp="1"/>
          </p:cNvSpPr>
          <p:nvPr/>
        </p:nvSpPr>
        <p:spPr>
          <a:xfrm>
            <a:off x="9620250" y="6572250"/>
            <a:ext cx="20383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r">
              <a:defRPr sz="9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CODEMASTERS</a:t>
            </a:r>
            <a:endParaRPr sz="9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6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Rectangles 30"/>
          <p:cNvSpPr>
            <a:spLocks noGrp="1"/>
          </p:cNvSpPr>
          <p:nvPr/>
        </p:nvSpPr>
        <p:spPr>
          <a:xfrm>
            <a:off x="533400" y="247650"/>
            <a:ext cx="1476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CODEMASTERS</a:t>
            </a:r>
            <a:endParaRPr sz="12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" name="Rectangles 1"/>
          <p:cNvSpPr>
            <a:spLocks noGrp="1"/>
          </p:cNvSpPr>
          <p:nvPr/>
        </p:nvSpPr>
        <p:spPr>
          <a:xfrm>
            <a:off x="2038350" y="247650"/>
            <a:ext cx="19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/</a:t>
            </a:r>
            <a:endParaRPr sz="12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3" name="Rectangles 2"/>
          <p:cNvSpPr>
            <a:spLocks noGrp="1"/>
          </p:cNvSpPr>
          <p:nvPr/>
        </p:nvSpPr>
        <p:spPr>
          <a:xfrm>
            <a:off x="2286000" y="247650"/>
            <a:ext cx="447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ПРОВЕРКА</a:t>
            </a:r>
            <a:endParaRPr sz="12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4" name="Rectangles 3"/>
          <p:cNvSpPr>
            <a:spLocks noGrp="1"/>
          </p:cNvSpPr>
          <p:nvPr/>
        </p:nvSpPr>
        <p:spPr>
          <a:xfrm>
            <a:off x="10858500" y="247650"/>
            <a:ext cx="80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r">
              <a:defRPr sz="1200" b="1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07</a:t>
            </a:r>
            <a:endParaRPr sz="1200" b="1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5" name="Rectangles 4"/>
          <p:cNvSpPr>
            <a:spLocks noGrp="1"/>
          </p:cNvSpPr>
          <p:nvPr/>
        </p:nvSpPr>
        <p:spPr>
          <a:xfrm>
            <a:off x="533400" y="66675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3225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3225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Решение проверяется за пять минут</a:t>
            </a:r>
            <a:endParaRPr sz="3225" b="0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6" name="Rectangles 5"/>
          <p:cNvSpPr>
            <a:spLocks noGrp="1"/>
          </p:cNvSpPr>
          <p:nvPr/>
        </p:nvSpPr>
        <p:spPr>
          <a:xfrm>
            <a:off x="552450" y="1276350"/>
            <a:ext cx="10820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5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Без сервиса, базы данных, API-ключей и сетевого подключения.</a:t>
            </a:r>
            <a:endParaRPr sz="1575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7" name="Straight Connector 6"/>
          <p:cNvSpPr>
            <a:spLocks noGrp="1"/>
          </p:cNvSpPr>
          <p:nvPr/>
        </p:nvSpPr>
        <p:spPr>
          <a:xfrm>
            <a:off x="533400" y="1790700"/>
            <a:ext cx="11125200" cy="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8" name="Rectangles 7"/>
          <p:cNvSpPr>
            <a:spLocks noGrp="1"/>
          </p:cNvSpPr>
          <p:nvPr/>
        </p:nvSpPr>
        <p:spPr>
          <a:xfrm>
            <a:off x="514350" y="2095500"/>
            <a:ext cx="26289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2925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925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29 / 0 / 0</a:t>
            </a:r>
            <a:endParaRPr sz="2925" b="0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9" name="Rectangles 8"/>
          <p:cNvSpPr>
            <a:spLocks noGrp="1"/>
          </p:cNvSpPr>
          <p:nvPr/>
        </p:nvSpPr>
        <p:spPr>
          <a:xfrm>
            <a:off x="514350" y="27622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валидатор</a:t>
            </a:r>
            <a:endParaRPr sz="1275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ctr">
              <a:def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пройдено · ошибок · предупреждений</a:t>
            </a:r>
            <a:endParaRPr sz="1275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0" name="Straight Connector 9"/>
          <p:cNvSpPr>
            <a:spLocks noGrp="1"/>
          </p:cNvSpPr>
          <p:nvPr/>
        </p:nvSpPr>
        <p:spPr>
          <a:xfrm>
            <a:off x="3257550" y="2152650"/>
            <a:ext cx="0" cy="135255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11" name="Rectangles 10"/>
          <p:cNvSpPr>
            <a:spLocks noGrp="1"/>
          </p:cNvSpPr>
          <p:nvPr/>
        </p:nvSpPr>
        <p:spPr>
          <a:xfrm>
            <a:off x="3371850" y="2095500"/>
            <a:ext cx="26289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2925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925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154 / 839</a:t>
            </a:r>
            <a:endParaRPr sz="2925" b="0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2" name="Rectangles 11"/>
          <p:cNvSpPr>
            <a:spLocks noGrp="1"/>
          </p:cNvSpPr>
          <p:nvPr/>
        </p:nvSpPr>
        <p:spPr>
          <a:xfrm>
            <a:off x="3371850" y="27622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тесты</a:t>
            </a:r>
            <a:endParaRPr sz="1275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ctr">
              <a:def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запуски · проверки</a:t>
            </a:r>
            <a:endParaRPr sz="1275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3" name="Straight Connector 12"/>
          <p:cNvSpPr>
            <a:spLocks noGrp="1"/>
          </p:cNvSpPr>
          <p:nvPr/>
        </p:nvSpPr>
        <p:spPr>
          <a:xfrm>
            <a:off x="6115050" y="2152650"/>
            <a:ext cx="0" cy="135255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14" name="Rectangles 13"/>
          <p:cNvSpPr>
            <a:spLocks noGrp="1"/>
          </p:cNvSpPr>
          <p:nvPr/>
        </p:nvSpPr>
        <p:spPr>
          <a:xfrm>
            <a:off x="6229350" y="2095500"/>
            <a:ext cx="26289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2925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925" b="0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10 из 10</a:t>
            </a:r>
            <a:endParaRPr sz="2925" b="0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5" name="Rectangles 14"/>
          <p:cNvSpPr>
            <a:spLocks noGrp="1"/>
          </p:cNvSpPr>
          <p:nvPr/>
        </p:nvSpPr>
        <p:spPr>
          <a:xfrm>
            <a:off x="6229350" y="27622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публичная очередь</a:t>
            </a:r>
            <a:endParaRPr sz="1275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ctr">
              <a:def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операции покрыты</a:t>
            </a:r>
            <a:endParaRPr sz="1275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6" name="Straight Connector 15"/>
          <p:cNvSpPr>
            <a:spLocks noGrp="1"/>
          </p:cNvSpPr>
          <p:nvPr/>
        </p:nvSpPr>
        <p:spPr>
          <a:xfrm>
            <a:off x="8972550" y="2152650"/>
            <a:ext cx="0" cy="135255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17" name="Rectangles 16"/>
          <p:cNvSpPr>
            <a:spLocks noGrp="1"/>
          </p:cNvSpPr>
          <p:nvPr/>
        </p:nvSpPr>
        <p:spPr>
          <a:xfrm>
            <a:off x="9086850" y="2095500"/>
            <a:ext cx="26289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2925" b="0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2925" b="0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100%</a:t>
            </a:r>
            <a:endParaRPr sz="2925" b="0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8" name="Rectangles 17"/>
          <p:cNvSpPr>
            <a:spLocks noGrp="1"/>
          </p:cNvSpPr>
          <p:nvPr/>
        </p:nvSpPr>
        <p:spPr>
          <a:xfrm>
            <a:off x="9086850" y="27622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resilience demo</a:t>
            </a:r>
            <a:endParaRPr sz="1275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  <a:p>
            <a:pPr algn="ctr">
              <a:def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75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восстановление после сбоев</a:t>
            </a:r>
            <a:endParaRPr sz="1275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19" name="Straight Connector 18"/>
          <p:cNvSpPr>
            <a:spLocks noGrp="1"/>
          </p:cNvSpPr>
          <p:nvPr/>
        </p:nvSpPr>
        <p:spPr>
          <a:xfrm>
            <a:off x="533400" y="3895725"/>
            <a:ext cx="11125200" cy="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20" name="Rectangles 19"/>
          <p:cNvSpPr>
            <a:spLocks noGrp="1"/>
          </p:cNvSpPr>
          <p:nvPr/>
        </p:nvSpPr>
        <p:spPr>
          <a:xfrm>
            <a:off x="609600" y="4171950"/>
            <a:ext cx="447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01  ОСНОВНОЙ ПРОГОН</a:t>
            </a:r>
            <a:endParaRPr sz="12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1" name="Rectangles 20"/>
          <p:cNvSpPr>
            <a:spLocks noGrp="1"/>
          </p:cNvSpPr>
          <p:nvPr/>
        </p:nvSpPr>
        <p:spPr>
          <a:xfrm>
            <a:off x="609600" y="4562475"/>
            <a:ext cx="4476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875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ruby bin/route</a:t>
            </a:r>
            <a:endParaRPr sz="1875" b="1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2" name="Rectangles 21"/>
          <p:cNvSpPr>
            <a:spLocks noGrp="1"/>
          </p:cNvSpPr>
          <p:nvPr/>
        </p:nvSpPr>
        <p:spPr>
          <a:xfrm>
            <a:off x="609600" y="4972050"/>
            <a:ext cx="495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5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ruby scripts/validate_10.rb routing_decisions.json</a:t>
            </a:r>
            <a:endParaRPr sz="150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3" name="Straight Connector 22"/>
          <p:cNvSpPr>
            <a:spLocks noGrp="1"/>
          </p:cNvSpPr>
          <p:nvPr/>
        </p:nvSpPr>
        <p:spPr>
          <a:xfrm>
            <a:off x="6096000" y="4114800"/>
            <a:ext cx="0" cy="139065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24" name="Rectangles 23"/>
          <p:cNvSpPr>
            <a:spLocks noGrp="1"/>
          </p:cNvSpPr>
          <p:nvPr/>
        </p:nvSpPr>
        <p:spPr>
          <a:xfrm>
            <a:off x="6686550" y="4171950"/>
            <a:ext cx="447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2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02  ДЕМО ОТКАЗОВ</a:t>
            </a:r>
            <a:endParaRPr sz="12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5" name="Rectangles 24"/>
          <p:cNvSpPr>
            <a:spLocks noGrp="1"/>
          </p:cNvSpPr>
          <p:nvPr/>
        </p:nvSpPr>
        <p:spPr>
          <a:xfrm>
            <a:off x="6686550" y="4562475"/>
            <a:ext cx="4476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875" b="1">
                <a:solidFill>
                  <a:srgbClr val="14251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ruby bin/build_demo</a:t>
            </a:r>
            <a:endParaRPr sz="1875" b="1">
              <a:solidFill>
                <a:srgbClr val="14251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6" name="Rectangles 25"/>
          <p:cNvSpPr>
            <a:spLocks noGrp="1"/>
          </p:cNvSpPr>
          <p:nvPr/>
        </p:nvSpPr>
        <p:spPr>
          <a:xfrm>
            <a:off x="6686550" y="4972050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15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5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открыть demo/resilience_observatory.html</a:t>
            </a:r>
            <a:endParaRPr sz="150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7" name="Rectangles 26"/>
          <p:cNvSpPr>
            <a:spLocks noGrp="1"/>
          </p:cNvSpPr>
          <p:nvPr/>
        </p:nvSpPr>
        <p:spPr>
          <a:xfrm>
            <a:off x="609600" y="5905500"/>
            <a:ext cx="10972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ctr">
              <a:defRPr sz="142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1425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router.rb   ·   eligibility/rules.rb   ·   scoring/policy.rb   ·   provider_state.rb</a:t>
            </a:r>
            <a:endParaRPr sz="1425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28" name="Straight Connector 27"/>
          <p:cNvSpPr>
            <a:spLocks noGrp="1"/>
          </p:cNvSpPr>
          <p:nvPr/>
        </p:nvSpPr>
        <p:spPr>
          <a:xfrm>
            <a:off x="533400" y="6515100"/>
            <a:ext cx="11125200" cy="0"/>
          </a:xfrm>
          <a:prstGeom prst="line">
            <a:avLst/>
          </a:prstGeom>
          <a:noFill/>
          <a:ln w="9525">
            <a:solidFill>
              <a:srgbClr val="CBD4CF"/>
            </a:solidFill>
            <a:prstDash val="solid"/>
          </a:ln>
        </p:spPr>
      </p:sp>
      <p:sp>
        <p:nvSpPr>
          <p:cNvPr id="29" name="Rectangles 28"/>
          <p:cNvSpPr>
            <a:spLocks noGrp="1"/>
          </p:cNvSpPr>
          <p:nvPr/>
        </p:nvSpPr>
        <p:spPr>
          <a:xfrm>
            <a:off x="533400" y="6572250"/>
            <a:ext cx="6858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l">
              <a:defRPr sz="9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00" b="0">
                <a:solidFill>
                  <a:srgbClr val="68766F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RouteLens · объяснимый роутинг выплат</a:t>
            </a:r>
            <a:endParaRPr sz="900" b="0">
              <a:solidFill>
                <a:srgbClr val="68766F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  <p:sp>
        <p:nvSpPr>
          <p:cNvPr id="30" name="Rectangles 29"/>
          <p:cNvSpPr>
            <a:spLocks noGrp="1"/>
          </p:cNvSpPr>
          <p:nvPr/>
        </p:nvSpPr>
        <p:spPr>
          <a:xfrm>
            <a:off x="9620250" y="6572250"/>
            <a:ext cx="20383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Autofit/>
          </a:bodyPr>
          <a:lstStyle/>
          <a:p>
            <a:pPr algn="r">
              <a:defRPr sz="9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defRPr>
            </a:pPr>
            <a:r>
              <a:rPr sz="900" b="1">
                <a:solidFill>
                  <a:srgbClr val="16866D"/>
                </a:solidFill>
                <a:latin typeface="Noto Sans" panose="020B0502040504020204"/>
                <a:ea typeface="Noto Sans" panose="020B0502040504020204"/>
                <a:cs typeface="Noto Sans" panose="020B0502040504020204"/>
              </a:rPr>
              <a:t>CODEMASTERS</a:t>
            </a:r>
            <a:endParaRPr sz="900" b="1">
              <a:solidFill>
                <a:srgbClr val="16866D"/>
              </a:solidFill>
              <a:latin typeface="Noto Sans" panose="020B0502040504020204"/>
              <a:ea typeface="Noto Sans" panose="020B0502040504020204"/>
              <a:cs typeface="Noto Sans" panose="020B0502040504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3317</Words>
  <Application>WPS Presentation</Application>
  <PresentationFormat>Converted Presentation</PresentationFormat>
  <Paragraphs>385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7" baseType="lpstr">
      <vt:lpstr>Arial</vt:lpstr>
      <vt:lpstr>SimSun</vt:lpstr>
      <vt:lpstr>Wingdings</vt:lpstr>
      <vt:lpstr>Noto Sans</vt:lpstr>
      <vt:lpstr>Microsoft YaHei</vt:lpstr>
      <vt:lpstr>Noto Sans CJK SC</vt:lpstr>
      <vt:lpstr>Arial Unicode MS</vt:lpstr>
      <vt:lpstr>Calibri</vt:lpstr>
      <vt:lpstr>Trebuchet MS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alex</cp:lastModifiedBy>
  <cp:revision>1</cp:revision>
  <dcterms:created xsi:type="dcterms:W3CDTF">2026-09-06T16:09:45Z</dcterms:created>
  <dcterms:modified xsi:type="dcterms:W3CDTF">2026-09-06T16:09:45Z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