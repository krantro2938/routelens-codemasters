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858757a38a46cc" /><Relationship Type="http://schemas.openxmlformats.org/officeDocument/2006/relationships/extended-properties" Target="/docProps/app.xml" Id="Rf241ce3ea05c4efb" /><Relationship Type="http://schemas.openxmlformats.org/officeDocument/2006/relationships/officeDocument" Target="/ppt/presentation.xml" Id="R3fa0ed55064240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c2c8e8ec1844d1"/>
  </p:sldMasterIdLst>
  <p:notesMasterIdLst>
    <p:notesMasterId xmlns:r="http://schemas.openxmlformats.org/officeDocument/2006/relationships" r:id="R4dc16d2d11c1441e"/>
  </p:notesMasterIdLst>
  <p:sldIdLst>
    <p:sldId xmlns:r="http://schemas.openxmlformats.org/officeDocument/2006/relationships" id="256" r:id="Rd8eca323ea594b05"/>
    <p:sldId xmlns:r="http://schemas.openxmlformats.org/officeDocument/2006/relationships" id="257" r:id="R7d8f1d2b630a481b"/>
    <p:sldId xmlns:r="http://schemas.openxmlformats.org/officeDocument/2006/relationships" id="258" r:id="R57cf83fe4ad54833"/>
    <p:sldId xmlns:r="http://schemas.openxmlformats.org/officeDocument/2006/relationships" id="259" r:id="R96c9f78c69f74158"/>
    <p:sldId xmlns:r="http://schemas.openxmlformats.org/officeDocument/2006/relationships" id="260" r:id="R970344a5f0624b6c"/>
    <p:sldId xmlns:r="http://schemas.openxmlformats.org/officeDocument/2006/relationships" id="261" r:id="R2cc11ffd80a2441b"/>
    <p:sldId xmlns:r="http://schemas.openxmlformats.org/officeDocument/2006/relationships" id="262" r:id="R4a03092a185e42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ae38dd6c7642d7" /><Relationship Type="http://schemas.openxmlformats.org/officeDocument/2006/relationships/slideMaster" Target="/ppt/slideMasters/slideMaster1.xml" Id="Rbac2c8e8ec1844d1" /><Relationship Type="http://schemas.openxmlformats.org/officeDocument/2006/relationships/notesMaster" Target="/ppt/notesMasters/notesMaster1.xml" Id="R4dc16d2d11c1441e" /><Relationship Type="http://schemas.openxmlformats.org/officeDocument/2006/relationships/presProps" Target="/ppt/presProps.xml" Id="R8ba7afe356d04b49" /><Relationship Type="http://schemas.openxmlformats.org/officeDocument/2006/relationships/tableStyles" Target="/ppt/tableStyles.xml" Id="R001425244cd14457" /><Relationship Type="http://schemas.openxmlformats.org/officeDocument/2006/relationships/slide" Target="/ppt/slides/slide1.xml" Id="Rd8eca323ea594b05" /><Relationship Type="http://schemas.openxmlformats.org/officeDocument/2006/relationships/slide" Target="/ppt/slides/slide2.xml" Id="R7d8f1d2b630a481b" /><Relationship Type="http://schemas.openxmlformats.org/officeDocument/2006/relationships/slide" Target="/ppt/slides/slide3.xml" Id="R57cf83fe4ad54833" /><Relationship Type="http://schemas.openxmlformats.org/officeDocument/2006/relationships/slide" Target="/ppt/slides/slide4.xml" Id="R96c9f78c69f74158" /><Relationship Type="http://schemas.openxmlformats.org/officeDocument/2006/relationships/slide" Target="/ppt/slides/slide5.xml" Id="R970344a5f0624b6c" /><Relationship Type="http://schemas.openxmlformats.org/officeDocument/2006/relationships/slide" Target="/ppt/slides/slide6.xml" Id="R2cc11ffd80a2441b" /><Relationship Type="http://schemas.openxmlformats.org/officeDocument/2006/relationships/slide" Target="/ppt/slides/slide7.xml" Id="R4a03092a185e42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097155922c4a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831fa2c8bf412d" /><Relationship Type="http://schemas.openxmlformats.org/officeDocument/2006/relationships/notesMaster" Target="/ppt/notesMasters/notesMaster1.xml" Id="R2f4cbc07bdf049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9ad8f56ba24078" /><Relationship Type="http://schemas.openxmlformats.org/officeDocument/2006/relationships/notesMaster" Target="/ppt/notesMasters/notesMaster1.xml" Id="Rff152a84f96e44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278b20d0da49b2" /><Relationship Type="http://schemas.openxmlformats.org/officeDocument/2006/relationships/notesMaster" Target="/ppt/notesMasters/notesMaster1.xml" Id="Rd0b23dcfdcb141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0a2b229dba4897" /><Relationship Type="http://schemas.openxmlformats.org/officeDocument/2006/relationships/notesMaster" Target="/ppt/notesMasters/notesMaster1.xml" Id="R9091787b462a48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2b0ce7438943b4" /><Relationship Type="http://schemas.openxmlformats.org/officeDocument/2006/relationships/notesMaster" Target="/ppt/notesMasters/notesMaster1.xml" Id="R6372e8218fbd4c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75445fc0fc4a10" /><Relationship Type="http://schemas.openxmlformats.org/officeDocument/2006/relationships/notesMaster" Target="/ppt/notesMasters/notesMaster1.xml" Id="R0b1164879bd441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33bcbc4b7243a6" /><Relationship Type="http://schemas.openxmlformats.org/officeDocument/2006/relationships/notesMaster" Target="/ppt/notesMasters/notesMaster1.xml" Id="Rec16a25442b448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README.md</a:t>
            </a:r>
          </a:p>
          <a:p xmlns:a="http://schemas.openxmlformats.org/drawingml/2006/main">
            <a:r>
              <a:t>RouteLens выбирает лучший допустимый маршрут и сохраняет доказательство каждого решения.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lib/route_lens/eligibility/rules.rb, lib/route_lens/scoring/policy.rb, config/routing.yml</a:t>
            </a:r>
          </a:p>
          <a:p xmlns:a="http://schemas.openxmlformats.org/drawingml/2006/main">
            <a:r>
              <a:t>Положительный traffic_percentage является мягкой целью количества. Ноль отключает обычный внешний маршрут.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lib/route_lens/router.rb, lib/route_lens/provider_state.rb</a:t>
            </a:r>
          </a:p>
          <a:p xmlns:a="http://schemas.openxmlformats.org/drawingml/2006/main">
            <a:r>
              <a:t>После rejected или expired рейтинг не переиспользуется. Оставшиеся кандидаты проходят новый eligibility и новый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routing_decisions.json, операция op_109</a:t>
            </a:r>
          </a:p>
          <a:p xmlns:a="http://schemas.openxmlformats.org/drawingml/2006/main">
            <a:r>
              <a:t>Выбран Vipay: 3.4732. Альтернатива Quickpay: -2.746254.</a:t>
            </a:r>
          </a:p>
          <a:p xmlns:a="http://schemas.openxmlformats.org/drawingml/2006/main">
            <a:r>
              <a:t>Показаны суммы вкладов из score_breakdown. Итоговые scores берутся из артефакта решения.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demo/resilience_decisions.json, demo/resilience_report.json</a:t>
            </a:r>
          </a:p>
          <a:p xmlns:a="http://schemas.openxmlformats.org/drawingml/2006/main">
            <a:r>
              <a:t>op_101: Vipay expired  ·  Payflow approved. Итоговая задержка 102 c.</a:t>
            </a:r>
          </a:p>
          <a:p xmlns:a="http://schemas.openxmlformats.org/drawingml/2006/main">
            <a:r>
              <a:t>op_102: Quickpay expired  ·  Payflow rejected  ·  SpacePayments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demo/policy_comparison.json</a:t>
            </a:r>
          </a:p>
          <a:p xmlns:a="http://schemas.openxmlformats.org/drawingml/2006/main">
            <a:r>
              <a:t>Ошибки являются суммой абсолютных отклонений по внешним провайдерам в процентных пунктах.</a:t>
            </a:r>
          </a:p>
          <a:p xmlns:a="http://schemas.openxmlformats.org/drawingml/2006/main">
            <a:r>
              <a:t>Replay рекомендации: Payflow 99.63% до 96.69%, count error 10 до 0, volume error 51.08 до 96.7.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README.md, scripts/validate_10.rb, полный набор test/**/*_test.rb</a:t>
            </a:r>
          </a:p>
          <a:p xmlns:a="http://schemas.openxmlformats.org/drawingml/2006/main">
            <a:r>
              <a:t>Финал: решение воспроизводимо, объяснимо и имеет отдельный релизный путь для скрытой очереди.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48fd9559aa4b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34b7bbb6e64f50" /><Relationship Type="http://schemas.openxmlformats.org/officeDocument/2006/relationships/slideLayout" Target="/ppt/slideLayouts/slideLayout1.xml" Id="Rda105c8160074b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105c8160074b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862a8e4dd48ff" /><Relationship Type="http://schemas.openxmlformats.org/officeDocument/2006/relationships/notesSlide" Target="/ppt/notesSlides/notesSlide1.xml" Id="R7c11a9f7fdec41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914bd53284153" /><Relationship Type="http://schemas.openxmlformats.org/officeDocument/2006/relationships/notesSlide" Target="/ppt/notesSlides/notesSlide2.xml" Id="R6155cf2521254c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374dadb66949ea" /><Relationship Type="http://schemas.openxmlformats.org/officeDocument/2006/relationships/notesSlide" Target="/ppt/notesSlides/notesSlide3.xml" Id="R71d4d0c99f9948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193cf8e9a4170" /><Relationship Type="http://schemas.openxmlformats.org/officeDocument/2006/relationships/notesSlide" Target="/ppt/notesSlides/notesSlide4.xml" Id="R9ad2de79fc774a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ea492718fc4d5a" /><Relationship Type="http://schemas.openxmlformats.org/officeDocument/2006/relationships/notesSlide" Target="/ppt/notesSlides/notesSlide5.xml" Id="R6cbcc5c5050a4f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51ef0a70544f3" /><Relationship Type="http://schemas.openxmlformats.org/officeDocument/2006/relationships/chart" Target="/ppt/slides/charts/chart1.xml" Id="R775b5daf2ed7407b" /><Relationship Type="http://schemas.openxmlformats.org/officeDocument/2006/relationships/notesSlide" Target="/ppt/notesSlides/notesSlide6.xml" Id="R7c1de5c84bf44d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3517023ae4044" /><Relationship Type="http://schemas.openxmlformats.org/officeDocument/2006/relationships/notesSlide" Target="/ppt/notesSlides/notesSlide7.xml" Id="Re3034580bef94da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Ошибка количества</c:v>
          </c:tx>
          <c:spPr>
            <a:solidFill xmlns:a="http://schemas.openxmlformats.org/drawingml/2006/main">
              <a:srgbClr val="16866D"/>
            </a:solidFill>
          </c:spPr>
          <c:cat>
            <c:strRef>
              <c:f>'Chart Data'!$A$2:$A$5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10</c:v>
                </c:pt>
                <c:pt idx="3">
                  <c:v>130</c:v>
                </c:pt>
              </c:numCache>
            </c:numRef>
          </c:val>
        </c:ser>
        <c:ser>
          <c:idx val="1"/>
          <c:order val="1"/>
          <c:tx>
            <c:v>Ошибка объёма</c:v>
          </c:tx>
          <c:spPr>
            <a:solidFill xmlns:a="http://schemas.openxmlformats.org/drawingml/2006/main">
              <a:srgbClr val="C87912"/>
            </a:solidFill>
          </c:spPr>
          <c:cat>
            <c:strRef>
              <c:f>'Chart Data'!$C$2:$C$5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Data'!$D$2:$D$5</c:f>
              <c:numCache>
                <c:formatCode>0.0</c:formatCode>
                <c:ptCount val="4"/>
                <c:pt idx="0">
                  <c:v>51.08</c:v>
                </c:pt>
                <c:pt idx="1">
                  <c:v>71.82</c:v>
                </c:pt>
                <c:pt idx="2">
                  <c:v>51.08</c:v>
                </c:pt>
                <c:pt idx="3">
                  <c:v>149.58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4251F"/>
                  </a:solidFill>
                  <a:latin typeface="Noto Sans"/>
                  <a:ea typeface="Noto Sans"/>
                  <a:cs typeface="Noto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4C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1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5E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BD4C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  <c:majorUnit val="40"/>
      </c:valAx>
      <c:spPr>
        <a:solidFill xmlns:a="http://schemas.openxmlformats.org/drawingml/2006/main">
          <a:srgbClr val="F7F6F1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68766F"/>
              </a:solidFill>
              <a:latin typeface="Noto Sans"/>
              <a:ea typeface="Noto Sans"/>
              <a:cs typeface="Noto Sans"/>
            </a:defRPr>
          </a:pPr>
        </a:p>
      </c:txPr>
    </c:legend>
    <c:plotVisOnly val="1"/>
  </c:chart>
  <c:spPr>
    <a:solidFill xmlns:a="http://schemas.openxmlformats.org/drawingml/2006/main">
      <a:srgbClr val="F7F6F1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2E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88C93-345C-4619-8B33-438F769A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F97067-5462-4A61-9752-BEB286C3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657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510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RouteLens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4075D-BF5F-4A88-91F6-E9A1A9FA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Объяснимый роутинг выплат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5E0DA-AF72-40AF-8AC4-8E129FA2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Сначала допустимость. Затем оптимизация.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После сбоя решение строится заново.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19051-8EE3-42C3-890E-E740168D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76400"/>
            <a:ext cx="0" cy="2762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F1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616EB-0364-44A5-B8FD-ADF684A5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638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1E4"/>
          </a:solidFill>
          <a:ln xmlns:a="http://schemas.openxmlformats.org/drawingml/2006/main" w="0">
            <a:solidFill>
              <a:srgbClr val="082E2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75FB0-A3F4-4669-9A1E-C6CC857D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38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47C36-CCC7-474C-AE8F-72E50A7A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33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HARD 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06B7E-2FF1-4FD2-8127-5DCC73F6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85975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допустимость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33840-B96C-43D3-8A3B-C4785805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194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6D"/>
          </a:solidFill>
          <a:ln xmlns:a="http://schemas.openxmlformats.org/drawingml/2006/main" w="0">
            <a:solidFill>
              <a:srgbClr val="082E2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BA230F-C917-4B5B-8327-37059028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20E23-8351-4BD9-92A6-C504E25D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146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POLICY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6BCA4A-F3BB-48C6-9863-FF23BEC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67100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лучший кандидат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E412D-CC3B-4F5D-93D8-86C1E513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00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1E4"/>
          </a:solidFill>
          <a:ln xmlns:a="http://schemas.openxmlformats.org/drawingml/2006/main" w="0">
            <a:solidFill>
              <a:srgbClr val="082E2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20E9AA-4674-404E-85BF-5D9E4A27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00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F8B87B-33B5-47C0-B070-C2CBD384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495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DECISION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6E767-B714-448D-9BD5-F03DF1D9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48225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доказательство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C3DE2-05D4-4AF5-B184-E5CEDE52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65B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080630-A1AB-46E6-9659-DB9A8D4E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76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Ruby · офлайн · детерминированно · воспроизводимо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2682D0-CC46-4994-9DFA-9268F57D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076950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Защита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15844981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BD23A0-5E68-4DB0-B937-A7B258C1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28B62-5B45-4DA1-9DFB-B494E102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5446C-05DC-4754-84F9-A82215CD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ЛОГИКА ВЫБОРА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42BAF-9FFA-4699-BB9D-DB4692DA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671090-38D9-4F61-BD51-1284A0F0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Два уровня решения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906D3-974A-492E-91CE-5466C20E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Мягкая цель никогда не отменяет ограничение безопасности.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621EA-0213-4DC1-A1A6-C58221B5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A6670-9D0C-4A3A-9D47-71D8839B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0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3375" b="0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EE0BD-77B6-4ECC-AA21-63499ADD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HARD 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15893-B3E4-4278-A23C-B428C0D0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Можно ли направить выплату?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7DC77-4B93-433F-ADD7-A66030B2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4191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Статус и роль провайдера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Сумма и дневной лимит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In-progress и RPM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Банк, маржа, реквизиты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1F8E1-712E-4922-8398-0C4B4E99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428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49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2B58C-EA5A-4ECF-88B7-8EA20CA8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4333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Нарушение любого правила исключает кандидата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9A370D-4136-4D2A-B8FB-E688DF62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43125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FA5B3-4989-431F-8B31-B9B378F4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5265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0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3375" b="0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F3863E-385F-44C2-AA73-D5C7CADC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81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SOFT POLICY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2FE82-6373-4FC5-B21B-5061DBA4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7182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Кто лучше среди допустимых?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04664E-AB29-4191-A40C-9F91C14A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81425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Σ raw × weight × direction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0CBC0F-102F-4F4D-9DB4-D5303CBF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38650"/>
            <a:ext cx="457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Доли количества и объёма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Конверсия, priority, сумма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Capacity, оборот, нагрузка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Latency и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ADFE9-E6D2-42F8-9A91-1F2F0CB5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90550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86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205BDD-C9BB-4327-9EA7-F681792D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991225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Нет одной главной мягкой метрики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75F99A-9BC3-4AD6-B4E2-4264587D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1367E7-C742-4A85-B927-25A8C946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508A51-9C12-4DF4-AD43-09535003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4228684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7DF7DE8-1314-444B-AD3B-A181A230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ИСПОЛНЕНИЕ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CAEC5-B9CB-4827-BF73-D401BFF9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731BC-212A-4AA3-BBF4-950D4796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Жизненный цикл выплаты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C64A9-F83E-4872-8B53-CD889745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Каждая попытка проверяет актуальное состояние и оставляет проверяемую квитанцию.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97EC1-1FD4-4EBD-B12E-4A5C7B2F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7C803-448F-428F-9F0A-C8AC3174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CA1E24-3DEB-4817-90B9-EA0FA801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Проверить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F2FB6-FE01-47CD-965D-A7877635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11 hard rules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6E9B5-9392-4BE4-B380-1327F6F8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5D807-B971-499C-938D-E24EE843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D65371-5214-4E89-BDA7-15094046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Оценить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060FE-FD8D-4EDD-AC42-DBFBD253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10 факторов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5C754B-6E72-4567-8EE3-C470B442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6C240-5A50-4446-8D67-63B559BF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C5ADDB-9ED2-4261-B730-655E32F7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Резерв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072D32-244E-4F3A-9E80-30793E69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slot · amount</a:t>
            </a:r>
          </a:p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requisite · RPM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B69FA9-5CBC-4F55-B8B8-6C54BD76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6D"/>
          </a:solidFill>
          <a:ln xmlns:a="http://schemas.openxmlformats.org/drawingml/2006/main" w="19050">
            <a:solidFill>
              <a:srgbClr val="16866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8A89A-163D-44AE-AF3B-A167D766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372FB-9F23-48ED-8767-E8F2402E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Вызвать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3DD9E4-8D51-467A-9617-64567063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approved</a:t>
            </a:r>
          </a:p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rejected · expired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6BF5EF-A991-40E6-8473-085DEE9A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745148-E6BC-4D63-8DC2-60247063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71A76E-FDF8-4454-9156-AAB87260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Рассчитать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930636-4F89-48F4-A978-E7C80047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commit · rollback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D2B4AD-D26D-4701-9D8F-CD374AF0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cxnSp>
        <p:nvCxnSpPr>
          <p:cNvPr id="68" name=""/>
          <p:cNvCxnSpPr>
            <a:stCxn xmlns:a="http://schemas.openxmlformats.org/drawingml/2006/main" id="9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14001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13" idx="6"/>
            <a:endCxn xmlns:a="http://schemas.openxmlformats.org/drawingml/2006/main" id="17" idx="2"/>
          </p:cNvCxnSpPr>
          <p:nvPr/>
        </p:nvCxnSpPr>
        <p:spPr>
          <a:xfrm xmlns:a="http://schemas.openxmlformats.org/drawingml/2006/main">
            <a:off x="38004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17" idx="6"/>
            <a:endCxn xmlns:a="http://schemas.openxmlformats.org/drawingml/2006/main" id="21" idx="2"/>
          </p:cNvCxnSpPr>
          <p:nvPr/>
        </p:nvCxnSpPr>
        <p:spPr>
          <a:xfrm xmlns:a="http://schemas.openxmlformats.org/drawingml/2006/main">
            <a:off x="62007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21" idx="6"/>
            <a:endCxn xmlns:a="http://schemas.openxmlformats.org/drawingml/2006/main" id="25" idx="2"/>
          </p:cNvCxnSpPr>
          <p:nvPr/>
        </p:nvCxnSpPr>
        <p:spPr>
          <a:xfrm xmlns:a="http://schemas.openxmlformats.org/drawingml/2006/main">
            <a:off x="86010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623D38-CE34-4773-95E4-A22019AF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004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approved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5C8E25-6788-4689-9186-454A26F2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14875"/>
            <a:ext cx="4343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4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4C1D6E-B104-40DD-A66F-82D20961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57750"/>
            <a:ext cx="2000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REJECTED / EXPIRED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219EE6-35BB-445F-BA8B-F82E3E9B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1244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Освободить резерв и заново оценить оставшихся</a:t>
            </a:r>
          </a:p>
        </p:txBody>
      </p:sp>
      <p:cxnSp>
        <p:nvCxnSpPr>
          <p:cNvPr id="76" name=""/>
          <p:cNvCxnSpPr>
            <a:stCxn xmlns:a="http://schemas.openxmlformats.org/drawingml/2006/main" id="21" idx="4"/>
            <a:endCxn xmlns:a="http://schemas.openxmlformats.org/drawingml/2006/main" id="31" idx="3"/>
          </p:cNvCxnSpPr>
          <p:nvPr/>
        </p:nvCxnSpPr>
        <p:spPr>
          <a:xfrm xmlns:a="http://schemas.openxmlformats.org/drawingml/2006/main" flipH="1">
            <a:off x="8343900" y="3733800"/>
            <a:ext cx="228600" cy="1419225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B84943"/>
            </a:solidFill>
            <a:prstDash val="solid"/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31" idx="1"/>
            <a:endCxn xmlns:a="http://schemas.openxmlformats.org/drawingml/2006/main" id="13" idx="4"/>
          </p:cNvCxnSpPr>
          <p:nvPr/>
        </p:nvCxnSpPr>
        <p:spPr>
          <a:xfrm xmlns:a="http://schemas.openxmlformats.org/drawingml/2006/main" flipH="1" flipV="1">
            <a:off x="3600450" y="3733800"/>
            <a:ext cx="400050" cy="1419225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B84943"/>
            </a:solidFill>
            <a:prstDash val="solid"/>
            <a:tailEnd type="triangle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C95C87-2A2A-4615-8A69-DE1AF6B2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67250"/>
            <a:ext cx="2343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Если внешний пул исчерпан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63C23F-A6FB-4399-8D59-76E829B3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81575"/>
            <a:ext cx="234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fallback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BE1735-33D3-4ACA-9B66-2848F8C5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530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spacepayments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FF57F5-FE7A-4BEE-88E1-C3086A0D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607695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state_before   /   state_reserved   /   state_after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9D130A-2901-48E0-94D1-F2A5D2E4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4984EA-2886-4F75-B7F4-F2644302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FA3F4D-820E-4B6D-8D5A-0CA4C434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5627792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103BF2-5FE7-4968-8190-D95C9D15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5ED1A6-AC80-485A-90B7-7A3E96ED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DC8E8-DB82-4CB5-8BCE-1D9E147C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ДОКАЗАТЕЛЬСТВО ВЫБОРА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14A60-66B4-4F18-892A-F07BC5F8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2656D-3978-43A6-AEF4-10E83E27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Почему Vipay выбран для op_109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5F138-23D6-4399-82FF-5897675A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Payflow исключён по банку. Два допустимых кандидата сравниваются по всем десяти факторам.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86147-B9B9-4660-8DAF-78D4FB64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27ADBE-708D-49F2-963B-6A1EC5EB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ВЫБРАН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164C2-37F9-4F57-A324-A0EF8A9A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714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Vipay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8C468-7E79-4131-8DE7-511CF58A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3150" b="0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3.473200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6796A-51B6-48D2-8C4A-A678B760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approved · 49 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C7DA80-9B4F-4043-A0EF-CF01EBC9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76450"/>
            <a:ext cx="0" cy="152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C461D2-913B-4AEB-B871-9B183ECF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ДОПУСТИМ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77D0F-0177-4EC4-958F-84091F84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622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Quickpay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9C9A9-F75C-43AE-8A7F-BD229994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0987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150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-2.746254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0ED9E9-693F-4312-A180-BD00D728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43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ниже на 6,219454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C05078-DAE9-4202-9A21-1055A5CD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76450"/>
            <a:ext cx="0" cy="152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BA690-2ECA-4E56-B4B3-C6139A53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76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ИСКЛЮЧЁН ДО SCORING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35FC55-19E6-412D-A05A-BAFE215C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622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Payflow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6D18A1-F5E4-4313-B302-8A114275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956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bank_not_in_list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A0251-25F8-45C0-99F4-9D012897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43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операция через VTB</a:t>
            </a:r>
          </a:p>
        </p:txBody>
      </p:sp>
      <p:graphicFrame>
        <p:nvGraphicFramePr>
          <p:cNvPr id="48" name=""/>
          <p:cNvGraphicFramePr/>
          <p:nvPr/>
        </p:nvGraphicFramePr>
        <p:xfrm>
          <a:off xmlns:a="http://schemas.openxmlformats.org/drawingml/2006/main" x="609600" y="3905250"/>
          <a:ext xmlns:a="http://schemas.openxmlformats.org/drawingml/2006/main" cx="109728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47875"/>
                <a:gridCol w="2047875"/>
                <a:gridCol w="2876550"/>
              </a:tblGrid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Группа вкладов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Преимущество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Целевые доли count + volume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+1,88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-4,44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Качество и бизнес-факторы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+2,98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+1,74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Штрафы load + latency + cost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-1,39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-0,05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Итоговая взвешенная оценка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6866D"/>
                          </a:solidFill>
                          <a:latin typeface="Noto Sans"/>
                          <a:ea typeface="Noto Sans"/>
                          <a:cs typeface="Noto Sans"/>
                        </a:rPr>
                        <a:t>3,473200</a:t>
                      </a:r>
                    </a:p>
                  </a:txBody>
                  <a:tcPr marL="76200" marR="76200" marT="47625" marB="47625" anchor="ctr">
                    <a:solidFill>
                      <a:srgbClr val="C9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-2,746254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6866D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76200" marR="76200" marT="47625" marB="47625" anchor="ctr">
                    <a:solidFill>
                      <a:srgbClr val="C9F1E4"/>
                    </a:solidFill>
                  </a:tcPr>
                </a:tc>
              </a:tr>
            </a:tbl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0D8E7B-26B4-4B75-B0BF-9D4F347D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Vipay выигрывает с преимуществом 6,2195 балла.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8A4DB0-5D14-4A5A-8819-9633569E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37DDF0-E4B6-4372-98C3-3902A99C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E22E8C-403F-4655-8E73-63E02EAF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0840876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9AEBED-5246-4FCD-86C1-2E384C0A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ОТКАЗОУСТОЙЧИВОСТЬ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EAB36-CDEF-4F11-8267-24508A1A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7EDFF-66A9-4061-B5E0-1C1E31C5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Две попытки завершают op_101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129BF-5874-4489-8D2E-90DBCB04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Первый сбой освобождает ресурсы. Следующий провайдер получает новый расчёт.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B93010-0F92-4D28-9C11-479433C3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0B6E7-2FB6-4687-9F78-86DCA3AE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114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ПОПЫТКА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FF331-3CC5-4631-90C1-ED50745B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81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vipay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A9256-38CD-42B2-877E-27D0C813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241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7912"/>
          </a:solidFill>
          <a:ln xmlns:a="http://schemas.openxmlformats.org/drawingml/2006/main" w="0">
            <a:solidFill>
              <a:srgbClr val="C879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E2FD00-0261-4B11-A9D0-9BFE8EC2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52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expired · 47 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79D31-EFB9-4B35-AA64-B1A3679A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14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ПОПЫТКА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2ACC1E-C497-45F7-BD35-03311318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payflow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9A077-75AC-4416-86AA-8E831E5D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9241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6D"/>
          </a:solidFill>
          <a:ln xmlns:a="http://schemas.openxmlformats.org/drawingml/2006/main" w="0">
            <a:solidFill>
              <a:srgbClr val="1686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BF5245-C057-45F0-822B-FA7884B5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52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approved · 55 с</a:t>
            </a:r>
          </a:p>
        </p:txBody>
      </p:sp>
      <p:cxnSp>
        <p:nvCxnSpPr>
          <p:cNvPr id="39" name=""/>
          <p:cNvCxnSpPr>
            <a:stCxn xmlns:a="http://schemas.openxmlformats.org/drawingml/2006/main" id="8" idx="6"/>
            <a:endCxn xmlns:a="http://schemas.openxmlformats.org/drawingml/2006/main" id="12" idx="2"/>
          </p:cNvCxnSpPr>
          <p:nvPr/>
        </p:nvCxnSpPr>
        <p:spPr>
          <a:xfrm xmlns:a="http://schemas.openxmlformats.org/drawingml/2006/main">
            <a:off x="3105150" y="3076575"/>
            <a:ext cx="5981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7912"/>
            </a:solidFill>
            <a:prstDash val="solid"/>
            <a:tailEnd type="triangle" w="sm" len="sm"/>
          </a:ln>
        </p:spPr>
      </p:cxnSp>
      <p:graphicFrame>
        <p:nvGraphicFramePr>
          <p:cNvPr id="40" name=""/>
          <p:cNvGraphicFramePr/>
          <p:nvPr/>
        </p:nvGraphicFramePr>
        <p:xfrm>
          <a:off xmlns:a="http://schemas.openxmlformats.org/drawingml/2006/main" x="609600" y="3943350"/>
          <a:ext xmlns:a="http://schemas.openxmlformats.org/drawingml/2006/main" cx="7524750" cy="2114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524000"/>
                <a:gridCol w="1524000"/>
                <a:gridCol w="1524000"/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Резерв Vipay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До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Резерв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После сбоя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Незавершённые операции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4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5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4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Незавершённая сумма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380000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395000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380000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Доступные реквизиты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12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11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12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Одобрено за день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D9F4B6-DC82-4334-80C8-27CBA001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43350"/>
            <a:ext cx="0" cy="2114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83C61F-4A1B-4E0E-AB95-3D65B9AA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005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7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67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102 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20144F-7622-4059-A529-A21CA14D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суммарная задержка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627588-4784-4C93-BA6F-E31A0E7D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95875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C5CB93-D111-41BD-B548-0E553624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2197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8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2836B3-F617-4E6D-9A5B-596F17CB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6769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восстановление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33BCB-7EB6-4241-9A2C-B9151608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626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op_102: Quickpay expired  ·  Payflow rejected  ·  SpacePayments approved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BE7E79-5CA1-4C7F-AB36-363ADEB6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120ABC-2DF3-4957-BB1B-9194F2F1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B145DC-65CC-4B1A-872E-934A9937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9554916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2A1066-CD21-4826-9A97-F9EFF55E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F2912-B0C6-4E2E-97A0-AD859474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1F8EC-26D7-4668-841B-8E9B61B4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POLICY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96216-3778-41DD-80A9-567D7197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E7560-E07B-454C-A2A4-D837CD8D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Цена изменения политики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651AD-78C1-42F5-B5D4-F45DF13C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Одинаковая очередь и approve_all изолируют влияние весов. Рекомендация тоже проходит replay.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E2662-2AB0-461B-8BC7-9136005F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400050" y="2076450"/>
          <a:ext xmlns:a="http://schemas.openxmlformats.org/drawingml/2006/main" cx="73342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5b5daf2ed7407b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50324-D06F-4979-A8AB-4C0848D8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0" cy="3790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B7E34B-8FD3-4AED-932E-E0CF379B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145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REPLAY РЕКОМЕНДАЦИИ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CC982-BA2B-4B47-8816-34B7CD05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33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Доли трафика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34B5F6-6EE4-4724-B962-3AD8FBC1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Vipay · Payflow · Quickpay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250CD1-1AA8-4D9F-81E2-C2DF767A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194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40 / 35 / 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F226B-B68C-4636-94C2-2F2597ED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004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40 / 10 / 50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BB2709-FDD9-49BA-B368-C1866CAB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672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53B041-9C94-42DD-AF67-FB6F2875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386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Payflow util.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A63247-351F-4D02-AB58-972AFC28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3865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99.63%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E0276C-134E-4744-A5AC-3A65DE7A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4386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96.69%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529CC-F059-4CF6-8DBB-B55ED8A0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Count, п.п.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9F65E9-543D-46A2-9AE9-30F6774C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9585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9A775-819D-42A4-9710-AB68F188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958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3BD608-861C-4554-8126-C2548025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3530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Volume, п.п.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B2E5E9-8861-45CD-9341-4B1678AB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35305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51.08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E432B1-CA56-483E-8F89-35DEFA00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3530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96.7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6B1485-F14E-4CE2-B455-3DD78830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Риск по ёмкости ниже, баланс объёма хуже. Компромисс виден до применения.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733041-B343-4A8C-8527-C4BDB37F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23F34F-C092-4ED2-9273-3C94839E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3E2220-EBCE-41E9-A094-B89389D9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8330228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2700C0-AADE-4CA9-B8CD-B12FECA7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15531-D3F3-4921-B1ED-963293FD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D2BB1-84F9-4F76-AFDB-FA41FFF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ПРОВЕРКА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BE207-2742-47C5-A43D-262A1EF4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D4751-62B1-4E6B-AB6F-029E795B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Решение проверяется за пять минут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A99FA-045D-4C7C-8444-E3C47C11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Без сервиса, базы данных, API-ключей и сетевого подключения.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AED4E9-482F-4868-9E03-621369FF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E1322-1BE7-423E-96CD-A09489FB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29 / 0 /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B1133-2C59-45E8-B959-BB51589A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валидатор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пройдено · ошибок · предупреждений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BC2770-B065-4A89-83AC-567E066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0" cy="135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F6D4CE-F7B1-46A7-8C69-EEE9DF03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154 / 839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1F5D5-B6F7-489F-945E-283FA793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тесты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запуски · проверки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DB707-310E-4172-9A40-E45ED486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52650"/>
            <a:ext cx="0" cy="135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FE54BF-7309-408E-B0FD-19379A34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10 из 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E8EE6-2382-4154-91D7-60630429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публичная очередь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операции покрыты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29AF7E-EE89-482A-8F9E-6F8BE4AB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52650"/>
            <a:ext cx="0" cy="135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278D9A-4A01-4533-93A4-06F49A4C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C45B7B-3DF6-49AC-B705-3D699D81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resilience demo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восстановление после сбоев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3E94F4-1370-45D4-9490-636D9A0D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957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6575B6-2F2D-461B-895B-DBB787E5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01  ОСНОВНОЙ ПРОГОН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5B75F7-74A4-4E15-A9ED-AF047021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ruby bin/route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27B342-CF80-4E20-BA46-A17575C6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ruby scripts/validate_10.rb routing_decisions.json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9CD545-FD39-4183-A55D-BCD60374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0" cy="1390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57ED04-66B5-4827-9732-D76CF37A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719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02  ДЕМО ОТКАЗОВ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ED5A2E-68E1-497A-B600-1BEEF5A2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62475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ruby bin/build_demo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DB6E4A-AD02-4FD4-9991-16E08CED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9720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открыть demo/resilience_observatory.html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29970F-14BB-45A9-A002-90F365B4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router.rb   ·   eligibility/rules.rb   ·   scoring/policy.rb   ·   provider_state.rb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092976-6340-4391-BAF2-A4181AB3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C30E0A-0B04-4B44-A470-B863E15E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ED0C8D-2791-4BE1-92A7-0B387027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6112893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2026-09-06T09:43:57.3150000Z</dcterms:created>
  <dcterms:modified xsi:type="dcterms:W3CDTF">2026-09-06T09:43:57.3150000Z</dcterms:modified>
</coreProperties>
</file>