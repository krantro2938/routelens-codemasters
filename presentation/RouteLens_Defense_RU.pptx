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2e2343bb664092" /><Relationship Type="http://schemas.openxmlformats.org/officeDocument/2006/relationships/extended-properties" Target="/docProps/app.xml" Id="R4787083d9fb84438" /><Relationship Type="http://schemas.openxmlformats.org/officeDocument/2006/relationships/officeDocument" Target="/ppt/presentation.xml" Id="R1f596584125c43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b7f51f6972450e"/>
  </p:sldMasterIdLst>
  <p:notesMasterIdLst>
    <p:notesMasterId xmlns:r="http://schemas.openxmlformats.org/officeDocument/2006/relationships" r:id="R2ae4576293494e4c"/>
  </p:notesMasterIdLst>
  <p:sldIdLst>
    <p:sldId xmlns:r="http://schemas.openxmlformats.org/officeDocument/2006/relationships" id="256" r:id="R1a335e99252046a5"/>
    <p:sldId xmlns:r="http://schemas.openxmlformats.org/officeDocument/2006/relationships" id="257" r:id="R4f7f08b08eef4284"/>
    <p:sldId xmlns:r="http://schemas.openxmlformats.org/officeDocument/2006/relationships" id="258" r:id="R669cd43b0eab4788"/>
    <p:sldId xmlns:r="http://schemas.openxmlformats.org/officeDocument/2006/relationships" id="259" r:id="Rd893197b050c414f"/>
    <p:sldId xmlns:r="http://schemas.openxmlformats.org/officeDocument/2006/relationships" id="260" r:id="Rb6e790ea6f8648e8"/>
    <p:sldId xmlns:r="http://schemas.openxmlformats.org/officeDocument/2006/relationships" id="261" r:id="R713e130c6e9c4f04"/>
    <p:sldId xmlns:r="http://schemas.openxmlformats.org/officeDocument/2006/relationships" id="262" r:id="R24d3eedebcdf46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d1bc51e5c2405e" /><Relationship Type="http://schemas.openxmlformats.org/officeDocument/2006/relationships/slideMaster" Target="/ppt/slideMasters/slideMaster1.xml" Id="Ra8b7f51f6972450e" /><Relationship Type="http://schemas.openxmlformats.org/officeDocument/2006/relationships/notesMaster" Target="/ppt/notesMasters/notesMaster1.xml" Id="R2ae4576293494e4c" /><Relationship Type="http://schemas.openxmlformats.org/officeDocument/2006/relationships/presProps" Target="/ppt/presProps.xml" Id="Rb050a7486a7a48bc" /><Relationship Type="http://schemas.openxmlformats.org/officeDocument/2006/relationships/tableStyles" Target="/ppt/tableStyles.xml" Id="R90523f6027a74b68" /><Relationship Type="http://schemas.openxmlformats.org/officeDocument/2006/relationships/slide" Target="/ppt/slides/slide1.xml" Id="R1a335e99252046a5" /><Relationship Type="http://schemas.openxmlformats.org/officeDocument/2006/relationships/slide" Target="/ppt/slides/slide2.xml" Id="R4f7f08b08eef4284" /><Relationship Type="http://schemas.openxmlformats.org/officeDocument/2006/relationships/slide" Target="/ppt/slides/slide3.xml" Id="R669cd43b0eab4788" /><Relationship Type="http://schemas.openxmlformats.org/officeDocument/2006/relationships/slide" Target="/ppt/slides/slide4.xml" Id="Rd893197b050c414f" /><Relationship Type="http://schemas.openxmlformats.org/officeDocument/2006/relationships/slide" Target="/ppt/slides/slide5.xml" Id="Rb6e790ea6f8648e8" /><Relationship Type="http://schemas.openxmlformats.org/officeDocument/2006/relationships/slide" Target="/ppt/slides/slide6.xml" Id="R713e130c6e9c4f04" /><Relationship Type="http://schemas.openxmlformats.org/officeDocument/2006/relationships/slide" Target="/ppt/slides/slide7.xml" Id="R24d3eedebcdf46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733a5d1b5347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39d6a952144410" /><Relationship Type="http://schemas.openxmlformats.org/officeDocument/2006/relationships/notesMaster" Target="/ppt/notesMasters/notesMaster1.xml" Id="R941dcf1bbd0940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b4dfd5656a48b1" /><Relationship Type="http://schemas.openxmlformats.org/officeDocument/2006/relationships/notesMaster" Target="/ppt/notesMasters/notesMaster1.xml" Id="Rbf2d5b7a53484c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fb7a635f2df4975" /><Relationship Type="http://schemas.openxmlformats.org/officeDocument/2006/relationships/notesMaster" Target="/ppt/notesMasters/notesMaster1.xml" Id="Rbf719917df464b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41e8197c054438" /><Relationship Type="http://schemas.openxmlformats.org/officeDocument/2006/relationships/notesMaster" Target="/ppt/notesMasters/notesMaster1.xml" Id="R685ab6f63f7940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febe3317f640bb" /><Relationship Type="http://schemas.openxmlformats.org/officeDocument/2006/relationships/notesMaster" Target="/ppt/notesMasters/notesMaster1.xml" Id="Ra7af662a5c3a49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13c99afbfd44c2" /><Relationship Type="http://schemas.openxmlformats.org/officeDocument/2006/relationships/notesMaster" Target="/ppt/notesMasters/notesMaster1.xml" Id="R59e78f8adfac4e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4c3af9907b4a36" /><Relationship Type="http://schemas.openxmlformats.org/officeDocument/2006/relationships/notesMaster" Target="/ppt/notesMasters/notesMaster1.xml" Id="R916f991c3ca844f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README.md</a:t>
            </a:r>
          </a:p>
          <a:p xmlns:a="http://schemas.openxmlformats.org/drawingml/2006/main">
            <a:r>
              <a:t>RouteLens выбирает лучший допустимый маршрут и сохраняет доказательство каждого решения.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lib/route_lens/eligibility/rules.rb, lib/route_lens/scoring/policy.rb, config/routing.yml</a:t>
            </a:r>
          </a:p>
          <a:p xmlns:a="http://schemas.openxmlformats.org/drawingml/2006/main">
            <a:r>
              <a:t>Положительный traffic_percentage является мягкой целью количества. Ноль отключает обычный внешний маршрут.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lib/route_lens/router.rb, lib/route_lens/provider_state.rb</a:t>
            </a:r>
          </a:p>
          <a:p xmlns:a="http://schemas.openxmlformats.org/drawingml/2006/main">
            <a:r>
              <a:t>После rejected или expired рейтинг не переиспользуется. Оставшиеся кандидаты проходят новый eligibility и новый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routing_decisions.json, операция op_109</a:t>
            </a:r>
          </a:p>
          <a:p xmlns:a="http://schemas.openxmlformats.org/drawingml/2006/main">
            <a:r>
              <a:t>Показаны суммы округлённых вкладов из score_breakdown. Итоговые scores берутся из артефакта решения.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demo/resilience_decisions.json, demo/resilience_report.json</a:t>
            </a:r>
          </a:p>
          <a:p xmlns:a="http://schemas.openxmlformats.org/drawingml/2006/main">
            <a:r>
              <a:t>op_101: Vipay rejected 5 c, Payflow expired 20 c, Quickpay approved 25 c. Итого 50 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demo/policy_comparison.json</a:t>
            </a:r>
          </a:p>
          <a:p xmlns:a="http://schemas.openxmlformats.org/drawingml/2006/main">
            <a:r>
              <a:t>Ошибки являются суммой абсолютных отклонений по внешним провайдерам в процентных пунктах.</a:t>
            </a:r>
          </a:p>
          <a:p xmlns:a="http://schemas.openxmlformats.org/drawingml/2006/main">
            <a:r>
              <a:t>Replay рекомендации: Payflow 99,63% → 98,03%, count error 30 → 20, volume error 56,27 → 81,15.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README.md, scripts/validate_10.rb, полный набор test/**/*_test.rb</a:t>
            </a:r>
          </a:p>
          <a:p xmlns:a="http://schemas.openxmlformats.org/drawingml/2006/main">
            <a:r>
              <a:t>Финал: решение воспроизводимо, объяснимо и имеет отдельный релизный путь для скрытой очереди.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82110aa43f40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e0d47d7f3bd40f8" /><Relationship Type="http://schemas.openxmlformats.org/officeDocument/2006/relationships/slideLayout" Target="/ppt/slideLayouts/slideLayout1.xml" Id="Rc5631189d25747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631189d25747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7ef586f6674e08" /><Relationship Type="http://schemas.openxmlformats.org/officeDocument/2006/relationships/notesSlide" Target="/ppt/notesSlides/notesSlide1.xml" Id="Rba3c7cd446b141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8db755be94f66" /><Relationship Type="http://schemas.openxmlformats.org/officeDocument/2006/relationships/notesSlide" Target="/ppt/notesSlides/notesSlide2.xml" Id="Rb57a1e107d1245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c1a32dcbe461d" /><Relationship Type="http://schemas.openxmlformats.org/officeDocument/2006/relationships/notesSlide" Target="/ppt/notesSlides/notesSlide3.xml" Id="R4cd711b0b25a45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17a279bfd841ae" /><Relationship Type="http://schemas.openxmlformats.org/officeDocument/2006/relationships/notesSlide" Target="/ppt/notesSlides/notesSlide4.xml" Id="Rbabe25a82fb04f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6202007df4ad2" /><Relationship Type="http://schemas.openxmlformats.org/officeDocument/2006/relationships/notesSlide" Target="/ppt/notesSlides/notesSlide5.xml" Id="R19cc8b1a7ed74a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8275ea75c4a1e" /><Relationship Type="http://schemas.openxmlformats.org/officeDocument/2006/relationships/chart" Target="/ppt/slides/charts/chart1.xml" Id="Rc21eb383a1944a34" /><Relationship Type="http://schemas.openxmlformats.org/officeDocument/2006/relationships/notesSlide" Target="/ppt/notesSlides/notesSlide6.xml" Id="Re738a42d323145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f958ca44f48df" /><Relationship Type="http://schemas.openxmlformats.org/officeDocument/2006/relationships/notesSlide" Target="/ppt/notesSlides/notesSlide7.xml" Id="R1a02f1ee9c0b437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Ошибка количества</c:v>
          </c:tx>
          <c:spPr>
            <a:solidFill xmlns:a="http://schemas.openxmlformats.org/drawingml/2006/main">
              <a:srgbClr val="16866D"/>
            </a:solidFill>
          </c:spPr>
          <c:cat>
            <c:strRef>
              <c:f>'Chart Data'!$A$2:$A$5</c:f>
              <c:strCache>
                <c:ptCount val="4"/>
                <c:pt idx="0">
                  <c:v>Balanced</c:v>
                </c:pt>
                <c:pt idx="1">
                  <c:v>Conversion</c:v>
                </c:pt>
                <c:pt idx="2">
                  <c:v>Cascade</c:v>
                </c:pt>
                <c:pt idx="3">
                  <c:v>Capacity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30</c:v>
                </c:pt>
                <c:pt idx="1">
                  <c:v>130</c:v>
                </c:pt>
                <c:pt idx="2">
                  <c:v>10</c:v>
                </c:pt>
                <c:pt idx="3">
                  <c:v>130</c:v>
                </c:pt>
              </c:numCache>
            </c:numRef>
          </c:val>
        </c:ser>
        <c:ser>
          <c:idx val="1"/>
          <c:order val="1"/>
          <c:tx>
            <c:v>Ошибка объёма</c:v>
          </c:tx>
          <c:spPr>
            <a:solidFill xmlns:a="http://schemas.openxmlformats.org/drawingml/2006/main">
              <a:srgbClr val="C87912"/>
            </a:solidFill>
          </c:spPr>
          <c:cat>
            <c:strRef>
              <c:f>'Chart Data'!$C$2:$C$5</c:f>
              <c:strCache>
                <c:ptCount val="4"/>
                <c:pt idx="0">
                  <c:v>Balanced</c:v>
                </c:pt>
                <c:pt idx="1">
                  <c:v>Conversion</c:v>
                </c:pt>
                <c:pt idx="2">
                  <c:v>Cascade</c:v>
                </c:pt>
                <c:pt idx="3">
                  <c:v>Capacity</c:v>
                </c:pt>
              </c:strCache>
            </c:strRef>
          </c:cat>
          <c:val>
            <c:numRef>
              <c:f>'Chart Data'!$D$2:$D$5</c:f>
              <c:numCache>
                <c:formatCode>0.0</c:formatCode>
                <c:ptCount val="4"/>
                <c:pt idx="0">
                  <c:v>56.27</c:v>
                </c:pt>
                <c:pt idx="1">
                  <c:v>149.58</c:v>
                </c:pt>
                <c:pt idx="2">
                  <c:v>51.08</c:v>
                </c:pt>
                <c:pt idx="3">
                  <c:v>149.58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4251F"/>
                  </a:solidFill>
                  <a:latin typeface="Noto Sans"/>
                  <a:ea typeface="Noto Sans"/>
                  <a:cs typeface="Noto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4C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</c:catAx>
      <c:valAx>
        <c:axId val="48672768"/>
        <c:scaling>
          <c:orientation val="minMax"/>
          <c:max val="1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5E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BD4C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crossBetween val="between"/>
        <c:majorUnit val="40"/>
      </c:valAx>
      <c:spPr>
        <a:solidFill xmlns:a="http://schemas.openxmlformats.org/drawingml/2006/main">
          <a:srgbClr val="F7F6F1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68766F"/>
              </a:solidFill>
              <a:latin typeface="Noto Sans"/>
              <a:ea typeface="Noto Sans"/>
              <a:cs typeface="Noto Sans"/>
            </a:defRPr>
          </a:pPr>
        </a:p>
      </c:txPr>
    </c:legend>
    <c:plotVisOnly val="1"/>
  </c:chart>
  <c:spPr>
    <a:solidFill xmlns:a="http://schemas.openxmlformats.org/drawingml/2006/main">
      <a:srgbClr val="F7F6F1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2E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ECE2-CA52-49E4-B49F-63EA976A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736A7-53F7-4296-B9E4-42EC0127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6572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510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RouteLens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57030-7D0F-4856-82D4-FAD79E5A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2325" b="0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Объяснимый роутинг выплат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3D9518-1FFA-4E10-B2A0-FF42021E1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Сначала допустимость. Затем оптимизация.</a:t>
            </a:r>
          </a:p>
          <a:p xmlns:a="http://schemas.openxmlformats.org/drawingml/2006/main">
            <a:pPr algn="l">
              <a:defRPr sz="195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95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После сбоя решение строится заново.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58F22-5F5E-4691-9993-2F8E10FE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76400"/>
            <a:ext cx="0" cy="2762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F1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BAB9F-FB2D-4EEC-9DA6-A5F9F66F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63830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1E4"/>
          </a:solidFill>
          <a:ln xmlns:a="http://schemas.openxmlformats.org/drawingml/2006/main" w="0">
            <a:solidFill>
              <a:srgbClr val="082E2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42AD8A-C847-407D-B9DB-A4346003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438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FDC1D0-0DA7-4DB5-8CF5-78CF31C2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335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HARD GATE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6FF153-8C87-4C25-AB16-84CB697D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85975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допустимость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FFE4BC-1895-4593-92FD-E13F631B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194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6D"/>
          </a:solidFill>
          <a:ln xmlns:a="http://schemas.openxmlformats.org/drawingml/2006/main" w="0">
            <a:solidFill>
              <a:srgbClr val="082E2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6AFAE4-E936-4B4A-B25B-E1DC5257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08F7F8-7921-4170-A727-B28594E6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146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POLICY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FC38E-8204-41C7-9A1C-F63B752E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67100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лучший кандидат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525B1-4B8F-41F9-AA50-ADEBB671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00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1E4"/>
          </a:solidFill>
          <a:ln xmlns:a="http://schemas.openxmlformats.org/drawingml/2006/main" w="0">
            <a:solidFill>
              <a:srgbClr val="082E2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757B3E-94BF-480D-828C-883352D1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0052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32B648-1C11-4D35-8797-DD11B344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495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DECISION RECEIPT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B2555-D7FA-4015-96E4-5BA9EBF3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848225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доказательство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9411B2-1BC6-4D36-866F-EF1AD5D7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65B5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A0EB36-C8BA-4265-AA4C-8BD24364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769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Ruby · офлайн · детерминированно · воспроизводимо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AD5241-292A-4493-90DF-EEA4D81B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6076950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Защита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14984014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651C3A-4A76-4969-8CDB-A3CB9FD8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9BF420-A278-4A1F-AD64-F99CD009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9375D1-D1A7-4BB4-89AA-3C11A5D3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ЛОГИКА ВЫБОРА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AA509-6861-4FF9-B41B-7F8214D1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28490-4CA6-4AC7-82C4-BB38DDBF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Два уровня решения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3E9EA-6703-450E-BC87-0ECDD385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Мягкая цель никогда не отменяет ограничение безопасности.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63928F-A1CC-424E-A8C7-33CD425B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BC0A2D-BC5E-4B48-817E-25232A63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0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3375" b="0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00CBED-13C1-431A-A861-4F9A49F4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HARD 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BBEDCA-CC9B-4AD0-B80D-47D63139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Можно ли направить выплату?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466E54-D8EE-4DAE-BD91-F6976114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4191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Статус и роль провайдера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Сумма и дневной лимит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In-progress и RPM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Банк, маржа, реквизиты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639854-545E-419A-8DD7-5126BCF5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428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494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2CDC7C-76A7-4C3D-91D8-68774CFC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4333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Нарушение любого правила исключает кандидата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D383E2-77AE-4F76-BA08-AF0C3BBE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43125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A699A6-0A8D-4128-BF99-98951209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5265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0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3375" b="0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394C37-51D1-450A-B107-78457236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81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SOFT POLICY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AE2C9-C1AD-4F22-A895-02879FB5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71825"/>
            <a:ext cx="485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Кто лучше среди допустимых?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BA5D19-8554-4166-B00B-B55D039E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81425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Σ raw × weight × direction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9CA47-9817-4561-BD54-E13DE45F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38650"/>
            <a:ext cx="457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Доли количества и объёма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Конверсия, priority, сумма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Capacity, оборот, нагрузка</a:t>
            </a:r>
          </a:p>
          <a:p xmlns:a="http://schemas.openxmlformats.org/drawingml/2006/main">
            <a:pPr algn="l">
              <a:def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6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Latency и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3EC7D5-9FAF-4DE5-8483-F498081D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905500"/>
            <a:ext cx="4667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86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1F9C1F-DE5B-4C64-84F9-C2940285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991225"/>
            <a:ext cx="466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Нет одной главной мягкой метрики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6F2E22-9684-4993-87A8-EC60D078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532A40-7C40-46D7-B5C4-9264F10C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1E35C0-5ED1-4CFE-8534-E330E625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4586052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20CA68-EE3A-46A0-8CBC-41AAD239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6A952C-314F-447E-B26C-5F230E8B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F5C24E-50C9-4383-BB52-0D2B7CF2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ИСПОЛНЕНИЕ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DB17CB-981F-4E4E-B2F7-CF42FDA4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3DA1CE-394F-4885-A08E-600DD3B4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Жизненный цикл выплаты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FD0A49-5AA2-4349-B0CB-7DEE07E9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Каждая попытка проверяет актуальное состояние и оставляет проверяемую квитанцию.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B02898-8D63-4FE6-9D90-84323FAB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AF584-B179-48E0-9D7D-9AF6337A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76087-B9DD-465D-A9E3-36696BB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Проверить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D3B4F-4B4E-4824-9038-429469F8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11 hard rules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A45069-E63A-4655-8D96-63B9B068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47E622-AFE2-42CB-BB10-386E692D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F1E5B3-0405-4C99-A11E-1D1CDEEE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Оценить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F794B6-DF07-4530-A0DF-38ACCFC4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10 факторов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D1699E-BFE7-4E53-AC62-FE12BFAB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C6C73-1148-4B1C-999F-16C9B2AD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2BDBF-4A23-48FD-8269-9F49105B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Резерв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CAB6E0-FE69-43C2-B9D1-DABFFBE3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slot · amount</a:t>
            </a:r>
          </a:p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requisite · RPM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A591A8-ED99-427D-91EF-B1B85AF0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6D"/>
          </a:solidFill>
          <a:ln xmlns:a="http://schemas.openxmlformats.org/drawingml/2006/main" w="19050">
            <a:solidFill>
              <a:srgbClr val="16866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812820-D3F9-445A-91F7-9AF897B7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D6BDEA-304D-46A3-A245-CFAF73D6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Вызвать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C0B7C2-47D4-411E-9CC7-8C1271F1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approved</a:t>
            </a:r>
          </a:p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rejected · expired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89CAE9-6AB8-4B85-8F8D-0FA9ED82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29C1BA-EA17-4624-B9DC-8119865F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9700AC-DD2B-40D9-AFCF-62CE6714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Рассчитать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9EFBDF-5654-4331-9C5B-C895FD37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commit · rollback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B0FB2-CBA2-48BD-BB50-8515733B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cxnSp>
        <p:nvCxnSpPr>
          <p:cNvPr id="72" name=""/>
          <p:cNvCxnSpPr>
            <a:stCxn xmlns:a="http://schemas.openxmlformats.org/drawingml/2006/main" id="11" idx="6"/>
            <a:endCxn xmlns:a="http://schemas.openxmlformats.org/drawingml/2006/main" id="15" idx="2"/>
          </p:cNvCxnSpPr>
          <p:nvPr/>
        </p:nvCxnSpPr>
        <p:spPr>
          <a:xfrm xmlns:a="http://schemas.openxmlformats.org/drawingml/2006/main">
            <a:off x="14001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15" idx="6"/>
            <a:endCxn xmlns:a="http://schemas.openxmlformats.org/drawingml/2006/main" id="19" idx="2"/>
          </p:cNvCxnSpPr>
          <p:nvPr/>
        </p:nvCxnSpPr>
        <p:spPr>
          <a:xfrm xmlns:a="http://schemas.openxmlformats.org/drawingml/2006/main">
            <a:off x="38004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19" idx="6"/>
            <a:endCxn xmlns:a="http://schemas.openxmlformats.org/drawingml/2006/main" id="23" idx="2"/>
          </p:cNvCxnSpPr>
          <p:nvPr/>
        </p:nvCxnSpPr>
        <p:spPr>
          <a:xfrm xmlns:a="http://schemas.openxmlformats.org/drawingml/2006/main">
            <a:off x="62007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75" name=""/>
          <p:cNvCxnSpPr>
            <a:stCxn xmlns:a="http://schemas.openxmlformats.org/drawingml/2006/main" id="23" idx="6"/>
            <a:endCxn xmlns:a="http://schemas.openxmlformats.org/drawingml/2006/main" id="27" idx="2"/>
          </p:cNvCxnSpPr>
          <p:nvPr/>
        </p:nvCxnSpPr>
        <p:spPr>
          <a:xfrm xmlns:a="http://schemas.openxmlformats.org/drawingml/2006/main">
            <a:off x="86010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FA3FE8-4E74-446D-A008-28D4076D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004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approved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430D7F6-A21F-4BB0-9B9A-6C2D10C3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14875"/>
            <a:ext cx="4343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4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D65A31-CC19-49D3-831B-CD346F01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57750"/>
            <a:ext cx="2000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REJECTED / EXPIRED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6D3D12-D990-4ABB-9DFF-639D6FAB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1244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Освободить резерв и заново оценить оставшихся</a:t>
            </a:r>
          </a:p>
        </p:txBody>
      </p:sp>
      <p:cxnSp>
        <p:nvCxnSpPr>
          <p:cNvPr id="80" name=""/>
          <p:cNvCxnSpPr>
            <a:stCxn xmlns:a="http://schemas.openxmlformats.org/drawingml/2006/main" id="23" idx="4"/>
            <a:endCxn xmlns:a="http://schemas.openxmlformats.org/drawingml/2006/main" id="33" idx="3"/>
          </p:cNvCxnSpPr>
          <p:nvPr/>
        </p:nvCxnSpPr>
        <p:spPr>
          <a:xfrm xmlns:a="http://schemas.openxmlformats.org/drawingml/2006/main" flipH="1">
            <a:off x="8343900" y="3733800"/>
            <a:ext cx="228600" cy="1419225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B84943"/>
            </a:solidFill>
            <a:prstDash val="solid"/>
            <a:tailEnd type="triangle" w="sm" len="sm"/>
          </a:ln>
        </p:spPr>
      </p:cxnSp>
      <p:cxnSp>
        <p:nvCxnSpPr>
          <p:cNvPr id="81" name=""/>
          <p:cNvCxnSpPr>
            <a:stCxn xmlns:a="http://schemas.openxmlformats.org/drawingml/2006/main" id="33" idx="1"/>
            <a:endCxn xmlns:a="http://schemas.openxmlformats.org/drawingml/2006/main" id="15" idx="4"/>
          </p:cNvCxnSpPr>
          <p:nvPr/>
        </p:nvCxnSpPr>
        <p:spPr>
          <a:xfrm xmlns:a="http://schemas.openxmlformats.org/drawingml/2006/main" flipH="1" flipV="1">
            <a:off x="3600450" y="3733800"/>
            <a:ext cx="400050" cy="1419225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B84943"/>
            </a:solidFill>
            <a:prstDash val="solid"/>
            <a:tailEnd type="triangle" w="sm" len="sm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B48AA06-5B31-4D78-BD9A-FB55E922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67250"/>
            <a:ext cx="2343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Если внешний пул исчерпан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EF65E8-470A-490D-9DCB-727C7A42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81575"/>
            <a:ext cx="234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9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fallback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1FBA770-3E76-4FB4-8DBC-49340DF5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3530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spacepayments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C3A840-4727-415C-8D4A-F24AC8A9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607695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state_before   /   state_reserved   /   state_after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CAFCC7-D121-49E8-A4D9-6E3839FB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3C681FA-8ECD-4466-8120-A0E09999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EE7229-F53D-4AB4-B47B-93ED8893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3165239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7E20B3-1B8E-4559-8116-0940DBA2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92C23D-980F-4A70-9065-0DB1CAEF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FCC66B-22DD-4461-9A09-4CFE9E18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ДОКАЗАТЕЛЬСТВО ВЫБОРА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A6897-632F-4BD4-B6C7-863715EC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86F926-4A89-4621-B0A2-975B53C6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Почему Quickpay выбран для op_109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95AED-A0DE-4FCC-8263-FE037199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Payflow исключён по банку. Quickpay и Vipay сравниваются по всем десяти факторам.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61AA71-D2D9-4F1B-A747-0A5AE450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DAB71-3E20-4121-A7F7-B2CB71C3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ВЫБРАН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8B87C-C00B-41C3-A2C0-2BA662DA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714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Quickpay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17B13-97C1-4D09-B9C0-3F12B2DE4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3150" b="0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1.574225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E96FE5-DA27-4648-9D1F-F0797F66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approved · 20 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2070E-04C2-4917-9B27-0A2A46A9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76450"/>
            <a:ext cx="0" cy="1524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FE19D-3E5C-41E2-BB51-6DEB5926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ДОПУСТИМ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923DE6-9C29-474C-90BA-AF819D96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622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Vipay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DD29DD-1B54-45D0-B551-896051A7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0987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150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1.533247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9E0D31-33EF-4BBD-A80B-57883C13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43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ниже на 0,040978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79B04-2373-44FC-89E9-3A8B33AA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76450"/>
            <a:ext cx="0" cy="1524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B28C30-538D-475E-B6A0-79A35B3B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76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ИСКЛЮЧЁН ДО SCORING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25E681-57B2-4A67-8E08-4EF81994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622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6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Payflow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9967A4-B134-4005-9EBC-BD806011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956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bank_not_in_list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C78DBA-D896-4912-96B0-86D26924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43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операция через VTB</a:t>
            </a:r>
          </a:p>
        </p:txBody>
      </p:sp>
      <p:graphicFrame>
        <p:nvGraphicFramePr>
          <p:cNvPr id="48" name=""/>
          <p:cNvGraphicFramePr/>
          <p:nvPr/>
        </p:nvGraphicFramePr>
        <p:xfrm>
          <a:off xmlns:a="http://schemas.openxmlformats.org/drawingml/2006/main" x="609600" y="3905250"/>
          <a:ext xmlns:a="http://schemas.openxmlformats.org/drawingml/2006/main" cx="109728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47875"/>
                <a:gridCol w="2047875"/>
                <a:gridCol w="2876550"/>
              </a:tblGrid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Группа вкладов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Quickpay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Преимущество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Целевые доли count + volume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−0,19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+0,03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Качество + priority + capacity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+2,08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+2,79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Штрафы load + latency + cost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−0,32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−1,29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Quickpay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Итоговая взвешенная оценка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6866D"/>
                          </a:solidFill>
                          <a:latin typeface="Noto Sans"/>
                          <a:ea typeface="Noto Sans"/>
                          <a:cs typeface="Noto Sans"/>
                        </a:rPr>
                        <a:t>1,574225</a:t>
                      </a:r>
                    </a:p>
                  </a:txBody>
                  <a:tcPr marL="76200" marR="76200" marT="47625" marB="47625" anchor="ctr">
                    <a:solidFill>
                      <a:srgbClr val="C9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1,533247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6866D"/>
                          </a:solidFill>
                          <a:latin typeface="Noto Sans"/>
                          <a:ea typeface="Noto Sans"/>
                          <a:cs typeface="Noto Sans"/>
                        </a:rPr>
                        <a:t>Quickpay</a:t>
                      </a:r>
                    </a:p>
                  </a:txBody>
                  <a:tcPr marL="76200" marR="76200" marT="47625" marB="47625" anchor="ctr">
                    <a:solidFill>
                      <a:srgbClr val="C9F1E4"/>
                    </a:solidFill>
                  </a:tcPr>
                </a:tc>
              </a:tr>
            </a:tbl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5B7453-56E3-405F-82FC-950FA65A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Quickpay выигрывает за счёт более низких операционных штрафов.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71F2AB-69AC-4E16-BADC-36875672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D969ED-0355-49FE-9FD1-0B6ECF50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1FB425-0E09-4DBC-AD5C-8DEC91B0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13766611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B00DA4-82A0-4D22-B22A-03A124F4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792125-2FEB-4256-BD52-78A90688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6D8CDD-0A6F-4560-B87C-58809B3D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ОТКАЗОУСТОЙЧИВОСТЬ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B0DDE-5373-49E7-BBA5-C0C03FD2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77FBC5-B854-4A7F-A1EA-2F291490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Три попытки завершают op_101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AE165-5147-47CF-9040-E532DCD8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Два сбоя освобождают ресурсы. Третий провайдер одобряет выплату.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E6EED-DD22-4546-AD5F-A7905C28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9ECE6-15D8-447C-AC7B-378AD7D8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ПОПЫТКА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F13B7-A8A1-49D2-95A5-DC691A74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vipay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9D26C-53DA-476F-A68B-1215089E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241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4943"/>
          </a:solidFill>
          <a:ln xmlns:a="http://schemas.openxmlformats.org/drawingml/2006/main" w="0">
            <a:solidFill>
              <a:srgbClr val="B849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269B58-5A87-4A9B-80F7-FE5DFA94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rejected · 5 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33AC1-6AEB-45B3-99DC-2CB7ED4E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145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87912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C87912"/>
                </a:solidFill>
                <a:latin typeface="Noto Sans"/>
                <a:ea typeface="Noto Sans"/>
                <a:cs typeface="Noto Sans"/>
              </a:rPr>
              <a:t>ПОПЫТКА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F055A0-ED22-49BC-87F6-3612D7EC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3812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payflow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DBE394-0699-4EC6-8879-CCCAE242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241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7912"/>
          </a:solidFill>
          <a:ln xmlns:a="http://schemas.openxmlformats.org/drawingml/2006/main" w="0">
            <a:solidFill>
              <a:srgbClr val="C8791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477087-FC54-4648-BF71-2B4AA604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52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7912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C87912"/>
                </a:solidFill>
                <a:latin typeface="Noto Sans"/>
                <a:ea typeface="Noto Sans"/>
                <a:cs typeface="Noto Sans"/>
              </a:rPr>
              <a:t>expired · 20 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F9168A-A1BF-4AFA-B3A2-C893A2801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145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ПОПЫТКА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BC2ED5-EC2A-47E4-8E0F-F671F677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812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1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quickpay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A3AF7-3806-4AF3-A1C8-10810036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9241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6D"/>
          </a:solidFill>
          <a:ln xmlns:a="http://schemas.openxmlformats.org/drawingml/2006/main" w="0">
            <a:solidFill>
              <a:srgbClr val="16866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66208B-ADEA-489F-8145-3BCD494E8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52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approved · 25 с</a:t>
            </a:r>
          </a:p>
        </p:txBody>
      </p:sp>
      <p:cxnSp>
        <p:nvCxnSpPr>
          <p:cNvPr id="52" name=""/>
          <p:cNvCxnSpPr>
            <a:stCxn xmlns:a="http://schemas.openxmlformats.org/drawingml/2006/main" id="10" idx="6"/>
            <a:endCxn xmlns:a="http://schemas.openxmlformats.org/drawingml/2006/main" id="14" idx="2"/>
          </p:cNvCxnSpPr>
          <p:nvPr/>
        </p:nvCxnSpPr>
        <p:spPr>
          <a:xfrm xmlns:a="http://schemas.openxmlformats.org/drawingml/2006/main">
            <a:off x="2000250" y="3076575"/>
            <a:ext cx="394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4943"/>
            </a:solidFill>
            <a:prstDash val="solid"/>
            <a:tailEnd type="triangle" w="sm" len="sm"/>
          </a:ln>
        </p:spPr>
      </p:cxnSp>
      <p:cxnSp>
        <p:nvCxnSpPr>
          <p:cNvPr id="53" name=""/>
          <p:cNvCxnSpPr>
            <a:stCxn xmlns:a="http://schemas.openxmlformats.org/drawingml/2006/main" id="14" idx="6"/>
            <a:endCxn xmlns:a="http://schemas.openxmlformats.org/drawingml/2006/main" id="18" idx="2"/>
          </p:cNvCxnSpPr>
          <p:nvPr/>
        </p:nvCxnSpPr>
        <p:spPr>
          <a:xfrm xmlns:a="http://schemas.openxmlformats.org/drawingml/2006/main">
            <a:off x="6248400" y="3076575"/>
            <a:ext cx="394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7912"/>
            </a:solidFill>
            <a:prstDash val="solid"/>
            <a:tailEnd type="triangle" w="sm" len="sm"/>
          </a:ln>
        </p:spPr>
      </p:cxnSp>
      <p:graphicFrame>
        <p:nvGraphicFramePr>
          <p:cNvPr id="54" name=""/>
          <p:cNvGraphicFramePr/>
          <p:nvPr/>
        </p:nvGraphicFramePr>
        <p:xfrm>
          <a:off xmlns:a="http://schemas.openxmlformats.org/drawingml/2006/main" x="609600" y="3943350"/>
          <a:ext xmlns:a="http://schemas.openxmlformats.org/drawingml/2006/main" cx="7524750" cy="2114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524000"/>
                <a:gridCol w="1524000"/>
                <a:gridCol w="1524000"/>
              </a:tblGrid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Резерв Vipay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До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Резерв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После отказа</a:t>
                      </a: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Незавершённые операции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4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5</a:t>
                      </a: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4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Незавершённая сумма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380000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395000</a:t>
                      </a: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380000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Доступные реквизиты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12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11</a:t>
                      </a: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12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Одобрено за день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AC7D7-F7E4-485D-8853-F876DC73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43350"/>
            <a:ext cx="0" cy="2114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48CE15-AF48-45FA-9099-9DC35475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005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7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67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50 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17ACDD-E7FC-440F-B6BB-878D7A26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91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суммарная задержка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22385B-6897-4D8F-93E5-8429B2A5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095875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35C014-B48A-409F-98E8-6CEC2FB3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21970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8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100%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22E16F-4EA6-4296-A50F-1E585BB7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6769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восстановление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F4E8D4-6C77-48C7-AAB9-CA269F6E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626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7912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C87912"/>
                </a:solidFill>
                <a:latin typeface="Noto Sans"/>
                <a:ea typeface="Noto Sans"/>
                <a:cs typeface="Noto Sans"/>
              </a:rPr>
              <a:t>op_103: Quickpay expired   →   SpacePayments approved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9B5FFA-6E6B-46E6-9933-EC09D308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D2FC39-AE16-4C9E-8BC6-2A721D96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671146-4FE5-454B-8C64-FC5CC521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1376311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F1E9F5-2285-4824-9EC3-8EDF49C2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B6ABD-BF97-4C49-8282-8F37E81A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C8C34A-B888-408E-87B5-25334ECB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POLICY 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793943-76A5-46B3-B175-19DD6A62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31791-0A78-416A-98E7-4C81DD3D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Цена изменения политики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75B9A-2E77-4F8B-9C1F-F35E78E5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Одинаковая очередь и approve_all изолируют влияние весов. Рекомендация тоже проходит replay.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E8FD09-2328-4914-A0BA-EB3FD611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400050" y="2076450"/>
          <a:ext xmlns:a="http://schemas.openxmlformats.org/drawingml/2006/main" cx="73342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1eb383a1944a34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8BDF6-681A-4BFF-9139-09DBC812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0" cy="3790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9B154-C320-431C-B216-A2DFF517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145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REPLAY РЕКОМЕНДАЦИИ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65E44A-296F-4E98-BC11-B6B7F229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33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Доли трафика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E8AC6-1D4D-4827-9942-A1E0B624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Vipay · Payflow · Quickpay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B75043-945F-4969-9566-E40AEB741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194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20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40 / 35 / 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3E69A2-C4D7-4FFD-8CE7-1C049AE2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004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40 / 10 / 50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6F64E3-4C24-42E6-9269-1C71E52E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672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4CEAEE-0925-44DB-B3BB-24A1E3FF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386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Payflow util.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3743FF-5DE0-494F-A6F2-2611621D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3865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99.63%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C81034-31D1-454A-B5D6-87391A95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4386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98.03%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90E46A-7E4C-4B32-B1B0-C930713C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Count error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AB4CE4-76B4-4055-99AE-7665A059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9585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FDA686-C682-44DA-8AA8-90F15A3A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958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20 п.п.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E4EAA7-49FD-40C8-AEAB-0C44CBA4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3530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Volume error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FBD412-5903-43B8-B9A8-4F4508C3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353050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56.27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A99B2F-7FB7-4899-96EA-5C2A449A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3530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C87912"/>
                </a:solidFill>
                <a:latin typeface="Noto Sans"/>
                <a:ea typeface="Noto Sans"/>
                <a:cs typeface="Noto Sans"/>
              </a:defRPr>
            </a:pPr>
            <a:r>
              <a:rPr sz="1275" b="1">
                <a:solidFill>
                  <a:srgbClr val="C87912"/>
                </a:solidFill>
                <a:latin typeface="Noto Sans"/>
                <a:ea typeface="Noto Sans"/>
                <a:cs typeface="Noto Sans"/>
              </a:rPr>
              <a:t>81.15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EA3DD7-6214-4A40-946D-A603537D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Риск по ёмкости ниже, баланс объёма хуже. Компромисс виден до применения.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E713F2-2592-433F-AF4B-1D87FBD1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3B8A6-181A-4330-9136-F4595808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0663B4-892B-452B-B824-57BCEF76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17360264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C19AFF-6D38-4CE7-9780-39CD47F9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54D27B-E139-4DD2-A5E0-41FFD6D0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476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BA23F-E196-456C-A8CF-5072D48D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76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ПРОВЕРКА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7BA6B-A3E7-4B2D-8998-6CDFC40C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5C39F8-7D6B-46D0-B564-76AFFB4D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Решение проверяется за пять минут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45AF5E-0C7A-4F8A-A2F1-25A11090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Без сервиса, базы данных, API-ключей и сетевого подключения.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C3CB7-252C-493C-85F7-E0ED32D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785F94-CE68-4037-A96F-E97ED2BB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29 / 0 / 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D4FDED-BDF6-4970-BC6F-006844ED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валидатор</a:t>
            </a:r>
          </a:p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пройдено · ошибок · предупреждений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EA0338-C9AC-4C4D-A4F7-3DD21B67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0" cy="1352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8F7A6-ABF7-4224-A48E-D9D2A8FF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81 / 378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519B1D-3273-4467-856D-3504074D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622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тесты</a:t>
            </a:r>
          </a:p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запуски · проверки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58DD7E-19FF-4B61-BA6E-360546BE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52650"/>
            <a:ext cx="0" cy="1352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E802AB-7A40-4D2A-84DD-AAE64FAD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955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29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10 из 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606BBF-A787-467B-BF96-E3482D67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622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публичная очередь</a:t>
            </a:r>
          </a:p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операции покрыты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24B1D4-DBF5-476B-9610-1EC5915E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52650"/>
            <a:ext cx="0" cy="1352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0CA675-A9F5-42A9-AE08-344C52AB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0955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925" b="0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925" b="0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35DC9B-08F5-4D6D-84AD-991A582D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622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resilience demo</a:t>
            </a:r>
          </a:p>
          <a:p xmlns:a="http://schemas.openxmlformats.org/drawingml/2006/main">
            <a:pPr algn="ctr">
              <a:def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восстановление после сбоев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573489-0EC7-4215-A2C7-6BC83DBD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95725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803D27-FC52-49B4-88DD-EE1CED92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01  ОСНОВНОЙ ПРОГОН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45DDA6-895D-40F2-8A14-001A1197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447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ruby bin/route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B4998C-3397-4052-A6BF-6CA2A6E5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ruby scripts/validate_10.rb routing_decisions.json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240794-E177-4CA4-972B-6F208314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0" cy="1390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F1B0D6-5972-4C1B-9B74-32BC22F9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719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02  ДЕМО ОТКАЗОВ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ED349F-5289-4C9D-890F-65D25C5D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62475"/>
            <a:ext cx="447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87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ruby bin/build_demo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CEBE1B-9A46-4098-8EE8-69AE02F6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9720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открыть demo/resilience_observatory.html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870293-1095-4D19-BAE4-D3512DFA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router.rb   →   eligibility/rules.rb   →   scoring/policy.rb   →   provider_state.rb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DAF3FB-2747-4E2F-934A-32B5C095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1FAF30-6883-46E8-87C6-C330C9B7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63BF68-E138-4484-9CC1-97F28C2E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</p:spTree>
    <p:extLst>
      <p:ext uri="{BB962C8B-B14F-4D97-AF65-F5344CB8AC3E}">
        <p14:creationId xmlns:p14="http://schemas.microsoft.com/office/powerpoint/2010/main" val="687008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2026-09-05T17:11:37.6290000Z</dcterms:created>
  <dcterms:modified xsi:type="dcterms:W3CDTF">2026-09-05T17:11:37.6300000Z</dcterms:modified>
</coreProperties>
</file>